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9064b415c9458d" /><Relationship Type="http://schemas.openxmlformats.org/officeDocument/2006/relationships/extended-properties" Target="/docProps/app.xml" Id="R295cd67724ff489b" /><Relationship Type="http://schemas.openxmlformats.org/officeDocument/2006/relationships/officeDocument" Target="/ppt/presentation.xml" Id="R489974118775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907570fdbe4272"/>
  </p:sldMasterIdLst>
  <p:notesMasterIdLst>
    <p:notesMasterId xmlns:r="http://schemas.openxmlformats.org/officeDocument/2006/relationships" r:id="Rae312d3cfe8c494d"/>
  </p:notesMasterIdLst>
  <p:sldIdLst>
    <p:sldId xmlns:r="http://schemas.openxmlformats.org/officeDocument/2006/relationships" id="256" r:id="R1b4e7d496b5742be"/>
    <p:sldId xmlns:r="http://schemas.openxmlformats.org/officeDocument/2006/relationships" id="257" r:id="R8d2fb3904bb14a14"/>
    <p:sldId xmlns:r="http://schemas.openxmlformats.org/officeDocument/2006/relationships" id="258" r:id="R9e139442b3ed44da"/>
    <p:sldId xmlns:r="http://schemas.openxmlformats.org/officeDocument/2006/relationships" id="259" r:id="R018f5cdfad09449c"/>
    <p:sldId xmlns:r="http://schemas.openxmlformats.org/officeDocument/2006/relationships" id="260" r:id="R76e786f1484b48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fe6c3dd34c4bab" /><Relationship Type="http://schemas.openxmlformats.org/officeDocument/2006/relationships/slideMaster" Target="/ppt/slideMasters/slideMaster1.xml" Id="R76907570fdbe4272" /><Relationship Type="http://schemas.openxmlformats.org/officeDocument/2006/relationships/notesMaster" Target="/ppt/notesMasters/notesMaster1.xml" Id="Rae312d3cfe8c494d" /><Relationship Type="http://schemas.openxmlformats.org/officeDocument/2006/relationships/presProps" Target="/ppt/presProps.xml" Id="Re634561440314c57" /><Relationship Type="http://schemas.openxmlformats.org/officeDocument/2006/relationships/tableStyles" Target="/ppt/tableStyles.xml" Id="Rcd85b01cb0f7465c" /><Relationship Type="http://schemas.openxmlformats.org/officeDocument/2006/relationships/slide" Target="/ppt/slides/slide1.xml" Id="R1b4e7d496b5742be" /><Relationship Type="http://schemas.openxmlformats.org/officeDocument/2006/relationships/slide" Target="/ppt/slides/slide2.xml" Id="R8d2fb3904bb14a14" /><Relationship Type="http://schemas.openxmlformats.org/officeDocument/2006/relationships/slide" Target="/ppt/slides/slide3.xml" Id="R9e139442b3ed44da" /><Relationship Type="http://schemas.openxmlformats.org/officeDocument/2006/relationships/slide" Target="/ppt/slides/slide4.xml" Id="R018f5cdfad09449c" /><Relationship Type="http://schemas.openxmlformats.org/officeDocument/2006/relationships/slide" Target="/ppt/slides/slide5.xml" Id="R76e786f1484b48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781fa2821e44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7161898b3340d6" /><Relationship Type="http://schemas.openxmlformats.org/officeDocument/2006/relationships/notesMaster" Target="/ppt/notesMasters/notesMaster1.xml" Id="R34116390b5204a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e451a161ca48bd" /><Relationship Type="http://schemas.openxmlformats.org/officeDocument/2006/relationships/notesMaster" Target="/ppt/notesMasters/notesMaster1.xml" Id="R8bafe3406e854c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13b1bc3b364d5f" /><Relationship Type="http://schemas.openxmlformats.org/officeDocument/2006/relationships/notesMaster" Target="/ppt/notesMasters/notesMaster1.xml" Id="R7615ceacc8e740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659c88542840ce" /><Relationship Type="http://schemas.openxmlformats.org/officeDocument/2006/relationships/notesMaster" Target="/ppt/notesMasters/notesMaster1.xml" Id="Rd583f18ad88f49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ed49cc33cc4338" /><Relationship Type="http://schemas.openxmlformats.org/officeDocument/2006/relationships/notesMaster" Target="/ppt/notesMasters/notesMaster1.xml" Id="Rfb3aa42ff2444f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这一页请直接指向台上的 Frost Edge Node。它由 Raspberry Pi 5 和 Whisplay HAT 组成，包含 240×280 屏幕、RGB 灯、按键、麦克风和扬声器。公开身份、知识版次和链上见闻可以出现在屏幕上，RGB 表达运行状态，本地 TTS 负责播报，网络不可用时可降级到离线语音，手机镜像让现场观众看清小屏。白天，Frost 以链上身份去公共地球；夜里，它把经过验证的世界带回房间。本页只展示当前实体原型与真实软件能力，不讨论量产、收藏或硬件销售。现场保持静音，明确触发后再播放声音。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事件桥坚持只读和最小权限。服务端先实时读取 Injective 上的公开证据，再按照白名单生成 JSONL 事件；token 控制设备读取 feed，cursor 防止历史事件重播。树莓派适配器只接受 state、display 和 tts 三类动作，speak 内容由服务端模板生成，设备不会把任意链上文本直接念出来。设备端没有私钥、钱包签名、私人画像、照片原图和精确位置。软件、链上与硬件通过事件合同解耦，网络、模型或设备任一侧异常时都能独立回退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端侧启动器把三个项目放在同一级：日落电台、口袋播客和地球答案。手势统一为单击移动、长按一秒二进入、快速双击返回。日落电台包含歌曲目录、日落时刻和随机骰子；口袋播客把当日知识版次组织成可听内容，同时保留文字模式；地球答案每天零点解锁一条经过审阅的行动提示，只能回看过去。静默首页显示时间、日期和连接状态。现场默认静音，只有明确进入播报才触发声音。自动生成长期播客语感仍在持续完善，决赛展示使用已经准备和核验的真实版次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现场演示用五十五秒走完一条公开知识路径：先从公共地球打开真实新闻卡，展开来源与核验路径；读取 recordHash、Merkle proof 和当日 revision；在 Blockscout 核对 DailyKnowledgeChronicle 的成功交易；再读取 Frost 的公开身份并触发受控事件，Edge Node 的屏幕与 RGB 给出反馈，最后用手机镜像放大同一画面。现场网络或设备状态不稳定时，立即切换已经准备的离线证据与备份录像，清楚说明这是同一条端到端路径的录制证据。不要临场宣称尚未完成的实时联调结果。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Pocket Earth 最终形成三层体验：私人地球保存个人空间记忆，公共地球让知识 Agent 和公开身份形成一个可以复核的世界，Frost Edge Node 把公开见闻带回房间。它的价值可以归纳为三个词：Space，让记忆和知识回到真实地点；Trust，让身份、门牌和版次能够在 Injective 上公开复核；Presence，让同一个 Frost 从 App、公共地球和身份卡延伸到实体设备。最后一句请放慢速度：口袋地球装记忆，公共地球住分身。谢谢。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7dfbe414242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2b856e35c54648" /><Relationship Type="http://schemas.openxmlformats.org/officeDocument/2006/relationships/slideLayout" Target="/ppt/slideLayouts/slideLayout1.xml" Id="R52036f4c3be84f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036f4c3be84f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17b698bc04ebb" /><Relationship Type="http://schemas.openxmlformats.org/officeDocument/2006/relationships/image" Target="/ppt/media/image.jpeg" Id="Rafd382fd258c4215" /><Relationship Type="http://schemas.openxmlformats.org/officeDocument/2006/relationships/image" Target="/ppt/media/image.png" Id="R5e8aaaea399348d9" /><Relationship Type="http://schemas.openxmlformats.org/officeDocument/2006/relationships/notesSlide" Target="/ppt/notesSlides/notesSlide1.xml" Id="Re4d01213899a42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3cb961e834f90" /><Relationship Type="http://schemas.openxmlformats.org/officeDocument/2006/relationships/notesSlide" Target="/ppt/notesSlides/notesSlide2.xml" Id="R62c79535ccd5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f025400214920" /><Relationship Type="http://schemas.openxmlformats.org/officeDocument/2006/relationships/image" Target="/ppt/media/image2.jpeg" Id="R6f0866da31324c20" /><Relationship Type="http://schemas.openxmlformats.org/officeDocument/2006/relationships/image" Target="/ppt/media/image2.png" Id="R901f983b13eb4e4d" /><Relationship Type="http://schemas.openxmlformats.org/officeDocument/2006/relationships/image" Target="/ppt/media/image3.jpeg" Id="R10cc42f2787e4cd5" /><Relationship Type="http://schemas.openxmlformats.org/officeDocument/2006/relationships/image" Target="/ppt/media/image3.png" Id="Raa5d70cdb5224595" /><Relationship Type="http://schemas.openxmlformats.org/officeDocument/2006/relationships/notesSlide" Target="/ppt/notesSlides/notesSlide3.xml" Id="R80d473863fda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a254631c943b1" /><Relationship Type="http://schemas.openxmlformats.org/officeDocument/2006/relationships/image" Target="/ppt/media/image4.png" Id="Rf85d5c05fcde4787" /><Relationship Type="http://schemas.openxmlformats.org/officeDocument/2006/relationships/image" Target="/ppt/media/image5.png" Id="Rec8a456fba5d486b" /><Relationship Type="http://schemas.openxmlformats.org/officeDocument/2006/relationships/image" Target="/ppt/media/image6.png" Id="R13c9c0b4904b483c" /><Relationship Type="http://schemas.openxmlformats.org/officeDocument/2006/relationships/image" Target="/ppt/media/image7.png" Id="Rca10e35e73bd4a6e" /><Relationship Type="http://schemas.openxmlformats.org/officeDocument/2006/relationships/image" Target="/ppt/media/image8.png" Id="R6b020b311b404dce" /><Relationship Type="http://schemas.openxmlformats.org/officeDocument/2006/relationships/image" Target="/ppt/media/image9.png" Id="R0111d54fb5ed437f" /><Relationship Type="http://schemas.openxmlformats.org/officeDocument/2006/relationships/notesSlide" Target="/ppt/notesSlides/notesSlide4.xml" Id="Recd838dfed8741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dd851e3854cb3" /><Relationship Type="http://schemas.openxmlformats.org/officeDocument/2006/relationships/image" Target="/ppt/media/image10.png" Id="Rfcdf548af76346d0" /><Relationship Type="http://schemas.openxmlformats.org/officeDocument/2006/relationships/image" Target="/ppt/media/image11.png" Id="Rdf753b707e3a4c3f" /><Relationship Type="http://schemas.openxmlformats.org/officeDocument/2006/relationships/image" Target="/ppt/media/image4.jpeg" Id="R109f799749e74a38" /><Relationship Type="http://schemas.openxmlformats.org/officeDocument/2006/relationships/notesSlide" Target="/ppt/notesSlides/notesSlide5.xml" Id="R506e741fc90a4e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4D296-59E0-4D7F-A803-F7B096E4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FB4B0-D80F-46E9-AB33-DB3FF498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9526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C3AA6-E84F-4F21-9BAB-B5669C7F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685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FROST EDGE NODE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60C34-018A-4A1C-B1BE-C76DE80C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1918"/>
                </a:solidFill>
              </a:defRPr>
            </a:pPr>
            <a:r>
              <a:rPr sz="2400" b="0">
                <a:solidFill>
                  <a:srgbClr val="171918"/>
                </a:solidFill>
              </a:rPr>
              <a:t>链上身份进入房间，</a:t>
            </a:r>
          </a:p>
          <a:p xmlns:a="http://schemas.openxmlformats.org/drawingml/2006/main">
            <a:pPr algn="l">
              <a:defRPr sz="2400" b="0">
                <a:solidFill>
                  <a:srgbClr val="171918"/>
                </a:solidFill>
              </a:defRPr>
            </a:pPr>
            <a:r>
              <a:rPr sz="2400" b="0">
                <a:solidFill>
                  <a:srgbClr val="171918"/>
                </a:solidFill>
              </a:rPr>
              <a:t>公开见闻变成灯光、画面和声音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1C9B9-9B9E-4586-8C19-75F4621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3981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936D"/>
                </a:solidFill>
              </a:defRPr>
            </a:pPr>
            <a:r>
              <a:rPr sz="1200" b="1">
                <a:solidFill>
                  <a:srgbClr val="21936D"/>
                </a:solidFill>
              </a:rPr>
              <a:t>Raspberry Pi 5 + Whisplay HAT · 240×280 · RGB · buttons · mic · speaker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D0BDD-6273-485B-8B7B-57E21EE2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4F6D5-D503-4B70-8410-B828586F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733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屏幕显示公开身份、知识与版次状态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B10CD-0EA1-48E5-8DF8-38F9C196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4230D-2702-4377-B0DC-31595BB1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3733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RGB 用颜色提示空闲、读取、播报与异常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42511-CFB5-4DF9-B24A-1719CD71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2B987-1656-4A31-AF2D-82D1A2BF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733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本地 TTS 具备离线降级；手机镜像放大现场画面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D79F8-1BA4-4746-8930-198D9B24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38481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958D9-254C-4AFD-8BB2-22BAC68F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1BBFD-52AD-4FB5-8839-E2C99DC5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3514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硬件的价值在于身份与在场感。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39467-9718-4358-AD77-8A4DFEFD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同一个 Frost 在 App、公共地球和房间里保持可识别。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14C53-0F7A-431D-A9F5-3564927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0E294-83FC-4311-8D2C-25BE1DE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21 / FROST EDGE NODE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64FA8-3BB9-4137-A282-8F67A22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771525"/>
            <a:ext cx="3524250" cy="521970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382fd258c4215"/>
          <a:srcRect xmlns:a="http://schemas.openxmlformats.org/drawingml/2006/main" l="4979" t="0" r="49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685800"/>
            <a:ext cx="3524250" cy="521970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CA3EB-609B-4A6A-BF99-8A7340B1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85800"/>
            <a:ext cx="3524250" cy="5219700"/>
          </a:xfrm>
          <a:prstGeom xmlns:a="http://schemas.openxmlformats.org/drawingml/2006/main" prst="roundRect">
            <a:avLst>
              <a:gd name="adj" fmla="val 3243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DA22A-6867-45DA-8DAD-C6F38439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aaaea399348d9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97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87E34-9546-4617-9998-6619AE68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73B0A0-ECA4-4755-8952-95EDE671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E7BFA-0A4B-4897-BD67-DEB04322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0674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真机 · Whisplay 屏幕与 RGB 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80998-D164-4028-8FEB-A88F1380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F8974-B689-44C3-8B1C-A8411C34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674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软件镜像 · 同一知识版次可读可听</a:t>
            </a:r>
          </a:p>
        </p:txBody>
      </p:sp>
    </p:spTree>
    <p:extLst>
      <p:ext uri="{BB962C8B-B14F-4D97-AF65-F5344CB8AC3E}">
        <p14:creationId xmlns:p14="http://schemas.microsoft.com/office/powerpoint/2010/main" val="13960354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5A6D6C-74C1-4374-A4BB-D96ACD41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CF165-3C87-41AC-9EBD-C0C47C24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2266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104BC-4692-41A9-B550-43550AC5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EVENT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C2863-002A-422F-90A7-8D49FB39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918"/>
                </a:solidFill>
              </a:defRPr>
            </a:pPr>
            <a:r>
              <a:rPr sz="2700" b="0">
                <a:solidFill>
                  <a:srgbClr val="171918"/>
                </a:solidFill>
              </a:rPr>
              <a:t>只读公开证据，白名单动作驱动物理反馈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FEE63-F8B0-45CF-93A3-13320BAE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936D"/>
                </a:solidFill>
              </a:defRPr>
            </a:pPr>
            <a:r>
              <a:rPr sz="1200" b="1">
                <a:solidFill>
                  <a:srgbClr val="21936D"/>
                </a:solidFill>
              </a:rPr>
              <a:t>Injective → JSONL envelope → token feed → replay cursor → event adapter → Whisplay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07111-7B1B-4B2C-BC6E-E0C82680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1638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9A261-A8A2-4CC4-BED1-BE24F943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80306-46E5-49E1-8140-0BE2C966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85975"/>
            <a:ext cx="342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088B1-032F-4994-9EE1-CD018433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859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INJECTIVE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9DC6E-83A0-45E7-A0AD-B5690FFB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实时读取公开身份、门牌与版次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F4361-BC25-4219-ADF0-8FBD6D5C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0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B6CD9-687B-40E1-AC73-FB3CB298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D62DD"/>
                </a:solidFill>
              </a:defRPr>
            </a:pPr>
            <a:r>
              <a:rPr sz="750" b="1">
                <a:solidFill>
                  <a:srgbClr val="2D62DD"/>
                </a:solidFill>
              </a:rPr>
              <a:t>PUBLIC 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DFC5E-87B3-469A-8114-75E6EC7A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956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3243E-3DEE-487A-AC78-DF83727E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81200"/>
            <a:ext cx="1638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FFFC3-46C7-45EF-BC15-98EA8C0A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812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13BA3-4801-4A0F-BF60-93440FC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085975"/>
            <a:ext cx="342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5D7F2-9742-4C1D-8D63-83892628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859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ALLOWLIST ENVELOPE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18E1C-E0F2-4288-8664-9AE33A34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76525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服务端生成受控 JSONL 事件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0144E-147A-4728-98F4-F2DFF54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766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0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84D7C-AF30-4105-B92A-86733E53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957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1936D"/>
                </a:solidFill>
              </a:defRPr>
            </a:pPr>
            <a:r>
              <a:rPr sz="750" b="1">
                <a:solidFill>
                  <a:srgbClr val="21936D"/>
                </a:solidFill>
              </a:rPr>
              <a:t>SERVER TEMPLATE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1F301-C8C1-4303-84E6-333EA0ED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956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516625-EF74-46CB-A2E1-C79D2E77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81200"/>
            <a:ext cx="1638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0BA21-A64A-4E91-9C59-0FE46AA0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812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59EC3-E495-4D72-A9D4-61A40D69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42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2D91E-9AFD-4B9F-B2AB-A20AFFCA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859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TOKEN FEED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7990F6-6218-4E2F-AE86-3814752D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76525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设备令牌限制读取入口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7602AC-493B-45A0-9811-2DBEF5B6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0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F6123-B9A5-41A5-B577-CE4954F4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28A4B"/>
                </a:solidFill>
              </a:defRPr>
            </a:pPr>
            <a:r>
              <a:rPr sz="750" b="1">
                <a:solidFill>
                  <a:srgbClr val="F28A4B"/>
                </a:solidFill>
              </a:rPr>
              <a:t>BEARER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0E7A03-694E-4D18-9EEE-99E3406B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D9C6D-2A2C-4FA4-B231-6DC93D31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81200"/>
            <a:ext cx="1638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A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684234-6196-4E0B-A13A-3D3A0A88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812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2DC456-C7AF-4364-B714-E4986B6A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85975"/>
            <a:ext cx="342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D7EFA4-17D9-4CB3-8275-4414D9ED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859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REPLAY CURSOR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D3B43F-6C32-431F-AD63-2BD708F8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76525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游标阻止同一事件重复播放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3D3EAB-F898-4F1B-B867-F1292E23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0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1B1B45-38CD-492A-BE25-BEBB8CA7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F70DC"/>
                </a:solidFill>
              </a:defRPr>
            </a:pPr>
            <a:r>
              <a:rPr sz="750" b="1">
                <a:solidFill>
                  <a:srgbClr val="8F70DC"/>
                </a:solidFill>
              </a:rPr>
              <a:t>NO REPLAY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55480D-A353-4169-B32F-52398F8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956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ABA20C-1363-4A8C-9074-4E441828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638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DE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9AEC50-B32A-4C9D-8C46-4614FEC5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1BE879-F2AD-47C4-BEE0-3E2FA0C5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42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6CA562-4F37-46FC-9962-83CBD6F9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859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PI ADAPTER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CD3715-6F50-4E8B-A1CF-04B2F300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76525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只接受 state / display / tts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5D8610-5C4D-49A3-8F40-BAF9B2CD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0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0B3631-1666-4645-8A1E-2F6E85C3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F766D"/>
                </a:solidFill>
              </a:defRPr>
            </a:pPr>
            <a:r>
              <a:rPr sz="750" b="1">
                <a:solidFill>
                  <a:srgbClr val="EF766D"/>
                </a:solidFill>
              </a:rPr>
              <a:t>NO RAW TEXT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4C64C2-581F-42DE-8681-121916F0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956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3EC50E-B98C-4EF1-953F-3E994BA9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81200"/>
            <a:ext cx="1638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11430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351303-DE84-405E-9E8C-9FE3769A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812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9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B9A10E-61E8-4C00-A797-563EC280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342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56A99B-8C9D-4C3B-856D-A5C1A433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0859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WHISPLAY OUTPUT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B8B9B5-9BF3-46CE-9884-91927917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76525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屏幕、RGB、TTS 与手机镜像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399B82-C3CF-4FFF-BC40-BABE9EB8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766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0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5C26D3-4888-4771-9E44-26299B5E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957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9B9AD"/>
                </a:solidFill>
              </a:defRPr>
            </a:pPr>
            <a:r>
              <a:rPr sz="750" b="1">
                <a:solidFill>
                  <a:srgbClr val="39B9AD"/>
                </a:solidFill>
              </a:rPr>
              <a:t>PHYSICAL FEEDBACK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BDD553-FF74-4DA2-A7FC-C3AD1F0B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14850"/>
            <a:ext cx="112395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18D081-D6B9-446A-A95D-568EA508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FFB0"/>
                </a:solidFill>
              </a:defRPr>
            </a:pPr>
            <a:r>
              <a:rPr sz="1275" b="1">
                <a:solidFill>
                  <a:srgbClr val="7CFFB0"/>
                </a:solidFill>
              </a:rPr>
              <a:t>DEVICE BOUNDARY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ECFB88-CBDC-440B-B925-36592409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95825"/>
            <a:ext cx="868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设备不持有私钥 · 不发起钱包签名 · 不接收私人画像 · 不保存精确位置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E69F00-F247-4CCB-BEB8-D2027096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98538B-003C-4AC7-9366-DEB00597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61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D6D0"/>
                </a:solidFill>
              </a:defRPr>
            </a:pPr>
            <a:r>
              <a:rPr sz="1050" b="0">
                <a:solidFill>
                  <a:srgbClr val="C9D6D0"/>
                </a:solidFill>
              </a:rPr>
              <a:t>speak 文本由服务端模板生成；任意链上文本不会直接送入扬声器。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F6F73F-96D1-4265-A740-F61A2EF7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0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604F"/>
                </a:solidFill>
              </a:defRPr>
            </a:pPr>
            <a:r>
              <a:rPr sz="1350" b="1">
                <a:solidFill>
                  <a:srgbClr val="2A604F"/>
                </a:solidFill>
              </a:rPr>
              <a:t>软件、链上与硬件通过事件合同解耦；任何一侧都能独立回退。</a:t>
            </a:r>
          </a:p>
        </p:txBody>
      </p:sp>
    </p:spTree>
    <p:extLst>
      <p:ext uri="{BB962C8B-B14F-4D97-AF65-F5344CB8AC3E}">
        <p14:creationId xmlns:p14="http://schemas.microsoft.com/office/powerpoint/2010/main" val="288056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C68830-9CF9-4258-AC21-43D8B07B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D347B-041C-4E27-BAF5-C8749857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2400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AD961-ED0B-4E65-B778-8DA78D63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POCKET EARTH LAUNCHER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62493-174E-431F-A253-9E83CC83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1918"/>
                </a:solidFill>
              </a:defRPr>
            </a:pPr>
            <a:r>
              <a:rPr sz="2475" b="0">
                <a:solidFill>
                  <a:srgbClr val="171918"/>
                </a:solidFill>
              </a:rPr>
              <a:t>音乐、知识与行动提示，</a:t>
            </a:r>
          </a:p>
          <a:p xmlns:a="http://schemas.openxmlformats.org/drawingml/2006/main">
            <a:pPr algn="l">
              <a:defRPr sz="2475" b="0">
                <a:solidFill>
                  <a:srgbClr val="171918"/>
                </a:solidFill>
              </a:defRPr>
            </a:pPr>
            <a:r>
              <a:rPr sz="2475" b="0">
                <a:solidFill>
                  <a:srgbClr val="171918"/>
                </a:solidFill>
              </a:rPr>
              <a:t>共用一套清楚的桌面交互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B7AB5-CB4C-46F3-87A1-2EAC22B0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单击移动 · 长按 1.2 秒进入 · 快速双击返回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7B1A8-346E-441A-B2B1-573808BA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33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96E95-EAB2-46C8-A83A-4CE4F419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638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日落电台：歌曲目录、日落时刻、随机骰子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45EDC-141C-4EB6-A45D-DB3B3C34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0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E7C84-5772-4674-BCE9-F6F287EF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3638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口袋播客：每日版次可听，也保留文字阅读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9D126-B117-4759-BC30-FB8F79B5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5F0B7-6BB3-47BB-97BF-FD3F763B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3638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地球答案：00:00 解锁，可回看过去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C316A-1DC9-4FE6-B6A6-8E6E779B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E2A34-E27C-456F-8276-2F566F01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3638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静默首页：时间、日期、连接状态与今日一页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2F27D-AF96-438D-87F2-5D803BF0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38481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27DF1-2EBB-4A9A-8C7E-34B3BF7F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A261A-D13E-4036-861E-E920BCB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3514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统一手势，减少现场记忆成本。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34B17-A5E1-46A7-97B0-2456F8D6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默认静音；声音只在用户明确进入播报时触发。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DBE4E-443B-4310-B449-D04E26BD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ABEDE-CE03-4F4E-81CF-407C0CFB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23 / POCKET EARTH LAUNCHER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3E2B0-2412-439C-A751-7117F340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962025"/>
            <a:ext cx="2762250" cy="50101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866da31324c20"/>
          <a:srcRect xmlns:a="http://schemas.openxmlformats.org/drawingml/2006/main" l="13237" t="0" r="132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876300"/>
            <a:ext cx="2762250" cy="5010150"/>
          </a:xfrm>
          <a:prstGeom xmlns:a="http://schemas.openxmlformats.org/drawingml/2006/main" prst="roundRect">
            <a:avLst>
              <a:gd name="adj" fmla="val 4138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8CF917-BD37-496B-AD62-39AA79CC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2762250" cy="5010150"/>
          </a:xfrm>
          <a:prstGeom xmlns:a="http://schemas.openxmlformats.org/drawingml/2006/main" prst="roundRect">
            <a:avLst>
              <a:gd name="adj" fmla="val 4138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F72F8-3EAA-4125-ABB1-29574F5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000125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3255B-E94D-44AC-8918-38E2C4F1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038225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/home/pi · 三个平行入口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D32A38-FBD6-4E83-AC67-F6D7ABDE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7630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f983b13eb4e4d"/>
          <a:srcRect xmlns:a="http://schemas.openxmlformats.org/drawingml/2006/main" l="0" t="8147" r="0" b="8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971550"/>
            <a:ext cx="1219200" cy="119062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FD821-60AE-423F-BA57-3D48DF26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6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54A28-4873-4966-87D8-97FB24F9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990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口袋播客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E1518-AF80-4F0A-93EE-8F6BA114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35255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播客模式 / 文字模式</a:t>
            </a:r>
          </a:p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知识版次共用一套入口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798CDB-7265-4F72-A750-B1AD40E4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9077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c42f2787e4cd5"/>
          <a:srcRect xmlns:a="http://schemas.openxmlformats.org/drawingml/2006/main" l="0" t="13386" r="0" b="13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486025"/>
            <a:ext cx="1219200" cy="11906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2F9C28-3015-4F8A-BC3D-EC9C5E4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4D0FC7-2FD7-4EF9-A8DE-9AB1432E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050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随机骰子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9703A2-85EC-4B5A-951E-AB9317D1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670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轻触滚动选择</a:t>
            </a:r>
          </a:p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长按进入歌曲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C98C7C-77FF-4A4D-A396-190089AE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d70cdb5224595"/>
          <a:srcRect xmlns:a="http://schemas.openxmlformats.org/drawingml/2006/main" l="0" t="8147" r="0" b="8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000500"/>
            <a:ext cx="1219200" cy="119062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BE2DF9-8650-4FE7-ADE9-BB2B0DA5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F69BDC-F27F-4109-A065-DE84BE57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0195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地球答案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5D07AC-842C-477C-94B1-13C4062F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3815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今日行动提示</a:t>
            </a:r>
          </a:p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未来日期保持锁定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2EED2F-25DB-45FA-BAE3-E675E57A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0483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843698-5D85-4A11-9E9B-B79797BB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388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真机启动器 · 日落电台 / 口袋播客 / 地球答案</a:t>
            </a:r>
          </a:p>
        </p:txBody>
      </p:sp>
    </p:spTree>
    <p:extLst>
      <p:ext uri="{BB962C8B-B14F-4D97-AF65-F5344CB8AC3E}">
        <p14:creationId xmlns:p14="http://schemas.microsoft.com/office/powerpoint/2010/main" val="2123538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43722C-B3FC-4BFD-BDAD-531A2FC1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701F7-0C1C-436D-9E9F-41F52BF3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12192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17741-E3BB-4880-97DD-A8B843A8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52509-FFD5-4DE6-ABFE-891A422E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918"/>
                </a:solidFill>
              </a:defRPr>
            </a:pPr>
            <a:r>
              <a:rPr sz="2625" b="0">
                <a:solidFill>
                  <a:srgbClr val="171918"/>
                </a:solidFill>
              </a:rPr>
              <a:t>一条公开知识，走完整条证据与物理反馈路径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2E850-6900-4B95-B7CE-51467FBC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936D"/>
                </a:solidFill>
              </a:defRPr>
            </a:pPr>
            <a:r>
              <a:rPr sz="1200" b="1">
                <a:solidFill>
                  <a:srgbClr val="21936D"/>
                </a:solidFill>
              </a:rPr>
              <a:t>Discover → Verify → Approve / Commit → Read → Echo / Mirror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1D10C-5E45-401C-B28A-2B96622F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6677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035CE-B50C-4A2C-80E0-FD5FB1FB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904875"/>
            <a:ext cx="1914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4C84A"/>
                </a:solidFill>
              </a:defRPr>
            </a:pPr>
            <a:r>
              <a:rPr sz="750" b="1">
                <a:solidFill>
                  <a:srgbClr val="F4C84A"/>
                </a:solidFill>
              </a:rPr>
              <a:t>OFFLINE EVIDENCE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F032C-6C0A-4D77-AB12-CE975033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9725"/>
            <a:ext cx="16573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49619-1440-4031-97C5-B7EBABC8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97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750C1-C239-4E58-9705-7E29B015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00–10s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B570C-545B-4990-B7D5-E15E8757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DISCOVER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d5c05fcde4787"/>
          <a:srcRect xmlns:a="http://schemas.openxmlformats.org/drawingml/2006/main" l="0" t="12850" r="0" b="12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57400"/>
            <a:ext cx="1466850" cy="2362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BE742-4BA2-4C24-A9B7-47E6B792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624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918"/>
                </a:solidFill>
              </a:defRPr>
            </a:pPr>
            <a:r>
              <a:rPr sz="1050" b="1">
                <a:solidFill>
                  <a:srgbClr val="171918"/>
                </a:solidFill>
              </a:rPr>
              <a:t>公开信号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4026C-F9EA-4649-8BDF-F29710B0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真实地点与来源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B626C-0204-4ED7-BE30-5B27CC6A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7185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99738-AFB6-48AF-8ED6-6E25A96D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609725"/>
            <a:ext cx="16573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072D3-0162-42E4-A48A-2CE13FFD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6097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50958-4AAE-4384-B6BF-D7C1A4A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6954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10–20s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7EA31-1D59-480B-B9BE-720C86C0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6954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VERIFY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a456fba5d486b"/>
          <a:srcRect xmlns:a="http://schemas.openxmlformats.org/drawingml/2006/main" l="0" t="12850" r="0" b="12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66975" y="2057400"/>
            <a:ext cx="1466850" cy="23622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E33B8-8368-4EA0-B107-E3EAE3BA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624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918"/>
                </a:solidFill>
              </a:defRPr>
            </a:pPr>
            <a:r>
              <a:rPr sz="1050" b="1">
                <a:solidFill>
                  <a:srgbClr val="171918"/>
                </a:solidFill>
              </a:rPr>
              <a:t>交叉核验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47F6A-D15B-4F41-B4BF-9E172762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863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全文与核验路径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830F3-70A0-446E-8DE0-246CA7C7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7185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CC6DA-6DAF-4F4F-906C-1B851069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9725"/>
            <a:ext cx="16573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68ED5B-63C4-48E7-A236-E3F8F1C0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97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7A781-0B37-476A-8DCF-7C3A218F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954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20–30s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8373EA-B4B6-479F-B8D1-21D56214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APPROVE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9c0b4904b483c"/>
          <a:srcRect xmlns:a="http://schemas.openxmlformats.org/drawingml/2006/main" l="0" t="12850" r="0" b="12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2450" y="2057400"/>
            <a:ext cx="1466850" cy="23622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1B8E40-1B1B-4AE7-AD33-B2C96A23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624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918"/>
                </a:solidFill>
              </a:defRPr>
            </a:pPr>
            <a:r>
              <a:rPr sz="1050" b="1">
                <a:solidFill>
                  <a:srgbClr val="171918"/>
                </a:solidFill>
              </a:rPr>
              <a:t>批准并提交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1A14D4-6C79-422C-90D8-D781DA19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863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revision / root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60287E-E19D-400A-8DA1-A8CE54F0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7185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877FF-568D-4059-BF47-03265283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09725"/>
            <a:ext cx="16573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953126-86A3-4271-A5EE-06D732B9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097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1E6791-350A-4EFB-824F-D056E51D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30–40s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F5E922-93CD-4C9F-9FBC-7B6632EF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6954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READ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0e35e73bd4a6e"/>
          <a:srcRect xmlns:a="http://schemas.openxmlformats.org/drawingml/2006/main" l="0" t="12850" r="0" b="12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7925" y="2057400"/>
            <a:ext cx="1466850" cy="23622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C1F0B5-A74B-4A06-ABF2-43E8BEDC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624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918"/>
                </a:solidFill>
              </a:defRPr>
            </a:pPr>
            <a:r>
              <a:rPr sz="1050" b="1">
                <a:solidFill>
                  <a:srgbClr val="171918"/>
                </a:solidFill>
              </a:rPr>
              <a:t>公开身份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8F2EED-FFF7-452D-9D52-369A2A02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863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Frost #47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885173-384B-4ECD-86A8-A57050C5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7185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1306E3-1CD5-401D-8DB0-148086F8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09725"/>
            <a:ext cx="16573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901064-4067-4245-A9F8-AA636649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097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9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3A0DCC-B2D5-45B4-8189-6AF04859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954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40–50s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000A16-6A0E-48C8-84EF-8D191AB9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ECHO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D301FF-862D-48F3-83DF-049D852B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57400"/>
            <a:ext cx="14668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20b311b404dce"/>
          <a:stretch xmlns:a="http://schemas.openxmlformats.org/drawingml/2006/main"/>
        </p:blipFill>
        <p:spPr>
          <a:xfrm xmlns:a="http://schemas.openxmlformats.org/drawingml/2006/main">
            <a:off x="8181975" y="2416175"/>
            <a:ext cx="1409700" cy="16446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F845E5-526F-4BB9-8E0B-11BEEEF3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918"/>
                </a:solidFill>
              </a:defRPr>
            </a:pPr>
            <a:r>
              <a:rPr sz="1050" b="1">
                <a:solidFill>
                  <a:srgbClr val="171918"/>
                </a:solidFill>
              </a:rPr>
              <a:t>端侧反馈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33D587-CF83-4542-B094-42C76168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863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屏幕 / RGB / TTS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644835-6E45-4777-92B3-BF5693DF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7185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8988E1-D791-43BB-A64F-CA427BA5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09725"/>
            <a:ext cx="16573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57ABD4-0CE6-4671-B480-71004B62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097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B53F31-7D56-4786-9343-735689AE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6954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50–55s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C08ADF-2400-4C7E-AA13-FE5984EC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6954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MIRROR</a:t>
            </a:r>
          </a:p>
        </p:txBody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1d54fb5ed437f"/>
          <a:srcRect xmlns:a="http://schemas.openxmlformats.org/drawingml/2006/main" l="0" t="12850" r="0" b="12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2057400"/>
            <a:ext cx="1466850" cy="236220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EEA47C-65E1-4178-845A-83BD0527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624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918"/>
                </a:solidFill>
              </a:defRPr>
            </a:pPr>
            <a:r>
              <a:rPr sz="1050" b="1">
                <a:solidFill>
                  <a:srgbClr val="171918"/>
                </a:solidFill>
              </a:rPr>
              <a:t>软件镜像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843049-25D9-4A4C-9428-1D5C5509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8863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同一版次文字页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88F387-C9E9-4CCE-9578-9C0D4735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14975"/>
            <a:ext cx="11239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D285FA-C179-48B6-9757-A5827034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FFB0"/>
                </a:solidFill>
              </a:defRPr>
            </a:pPr>
            <a:r>
              <a:rPr sz="900" b="1">
                <a:solidFill>
                  <a:srgbClr val="7CFFB0"/>
                </a:solidFill>
              </a:rPr>
              <a:t>SOURCE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78F16C-740D-488E-A31F-2FC888EA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959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→ RESOURCE PACK → INJECTIVE ROOT → PUBLIC EVENT → FROST EDGE NODE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804988-F4CE-4A99-98A4-939ACF30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6769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04F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D0FC93-51BC-4B66-AF5B-F315E3F6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1500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BACKUP VIDEO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BA4BDE-6011-4A70-8F48-BE2A28B0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00775"/>
            <a:ext cx="1123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604F"/>
                </a:solidFill>
              </a:defRPr>
            </a:pPr>
            <a:r>
              <a:rPr sz="1350" b="1">
                <a:solidFill>
                  <a:srgbClr val="2A604F"/>
                </a:solidFill>
              </a:rPr>
              <a:t>同一条事实，从来源、资源包、Injective 一直走到现实房间。</a:t>
            </a:r>
          </a:p>
        </p:txBody>
      </p:sp>
    </p:spTree>
    <p:extLst>
      <p:ext uri="{BB962C8B-B14F-4D97-AF65-F5344CB8AC3E}">
        <p14:creationId xmlns:p14="http://schemas.microsoft.com/office/powerpoint/2010/main" val="1055930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96FF8A-4AD7-414C-95AD-E8527827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F5E71-38C7-4002-81BA-02B42F8D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"/>
            <a:ext cx="27146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95743-3B3E-4483-B7E0-876DE072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"/>
            <a:ext cx="2447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POCKET EARTH ON INJECTIVE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0933C-69EB-41D3-A41A-1CDD7AE6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1918"/>
                </a:solidFill>
              </a:defRPr>
            </a:pPr>
            <a:r>
              <a:rPr sz="2550" b="0">
                <a:solidFill>
                  <a:srgbClr val="171918"/>
                </a:solidFill>
              </a:rPr>
              <a:t>把人生放回空间，</a:t>
            </a:r>
          </a:p>
          <a:p xmlns:a="http://schemas.openxmlformats.org/drawingml/2006/main">
            <a:pPr algn="l">
              <a:defRPr sz="2550" b="0">
                <a:solidFill>
                  <a:srgbClr val="171918"/>
                </a:solidFill>
              </a:defRPr>
            </a:pPr>
            <a:r>
              <a:rPr sz="2550" b="0">
                <a:solidFill>
                  <a:srgbClr val="171918"/>
                </a:solidFill>
              </a:rPr>
              <a:t>把公共知识交给时间证明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B3910-804C-41EB-B8CA-AA3812E0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一颗私人地球 · 一个公开 Agent 世界 · 一台房间里的 Frost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C5AEF-F08C-43CA-9F0E-04FA0D5B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971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57537-FBB5-4C91-A865-2086DE11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2CEA0-78C3-47AB-8D41-3F6D8F40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670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空间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CF236-F23D-439A-913C-9DCAA42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670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记忆与知识回到真实地点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09195-CD25-47D0-ABD0-99F51177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24300"/>
            <a:ext cx="971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CA22A-C4FA-4587-8B0B-D4AD59E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671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TRUST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5BC15-6017-47A7-BF5C-5CD0154B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528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信任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EF909-5F9C-4EC3-BDC3-23F06466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528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身份、门牌和版次可公开复核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C8153-3580-47CE-80D9-1FBFEC6C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10100"/>
            <a:ext cx="971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25B50-FD7E-4D25-81EC-F7093E43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529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PRESENCE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F9CC2-7B3A-40AC-99CD-D7087001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在场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08241-F6BA-44FB-9AD6-779F396A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386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同一个 Frost 从软件走进房间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544C4-D4BE-40F2-A483-E58F1716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864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DD8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AB5C4-A25F-485A-8DC5-EE944C1F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483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A604F"/>
                </a:solidFill>
              </a:defRPr>
            </a:pPr>
            <a:r>
              <a:rPr sz="975" b="1">
                <a:solidFill>
                  <a:srgbClr val="2A604F"/>
                </a:solidFill>
              </a:rPr>
              <a:t>pocketearth-injective.throughtheglass.art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41EA3-8A9A-440F-8BDD-ACE74382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A680E-D507-4ABC-9818-D3F38908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25 / POCKET EARTH ON INJECTIVE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EF10E-E844-43D9-8406-65062A37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962025"/>
            <a:ext cx="2038350" cy="4429125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f548af76346d0"/>
          <a:srcRect xmlns:a="http://schemas.openxmlformats.org/drawingml/2006/main" l="126" t="0" r="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25" y="876300"/>
            <a:ext cx="2038350" cy="4429125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80A69-1879-4056-81CC-9BD88F8F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76300"/>
            <a:ext cx="2038350" cy="4429125"/>
          </a:xfrm>
          <a:prstGeom xmlns:a="http://schemas.openxmlformats.org/drawingml/2006/main" prst="roundRect">
            <a:avLst>
              <a:gd name="adj" fmla="val 560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72DBA7-09B8-49BA-A7F8-F7536B71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62025"/>
            <a:ext cx="2038350" cy="4429125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53b707e3a4c3f"/>
          <a:srcRect xmlns:a="http://schemas.openxmlformats.org/drawingml/2006/main" l="126" t="0" r="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7575" y="876300"/>
            <a:ext cx="2038350" cy="4429125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8930A3-7FF1-43AD-B6CC-B92E5494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876300"/>
            <a:ext cx="2038350" cy="4429125"/>
          </a:xfrm>
          <a:prstGeom xmlns:a="http://schemas.openxmlformats.org/drawingml/2006/main" prst="roundRect">
            <a:avLst>
              <a:gd name="adj" fmla="val 560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411DB-6C60-4093-AC37-C7C8973A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876300"/>
            <a:ext cx="1981200" cy="4429125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4F57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EB8A1D-1D3F-412B-B301-F30A9163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0763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40279-7D6B-430D-ABE2-AEAEF049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1144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FROST EDGE NODE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f799749e74a38"/>
          <a:srcRect xmlns:a="http://schemas.openxmlformats.org/drawingml/2006/main" l="59" t="0" r="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48850" y="1457325"/>
            <a:ext cx="1733550" cy="2314575"/>
          </a:xfrm>
          <a:prstGeom xmlns:a="http://schemas.openxmlformats.org/drawingml/2006/main" prst="roundRect">
            <a:avLst>
              <a:gd name="adj" fmla="val 4396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97C894-B35B-4CDA-A6BA-CB15D5B7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57325"/>
            <a:ext cx="1733550" cy="2314575"/>
          </a:xfrm>
          <a:prstGeom xmlns:a="http://schemas.openxmlformats.org/drawingml/2006/main" prst="roundRect">
            <a:avLst>
              <a:gd name="adj" fmla="val 439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24C30-8381-4A58-A241-52AD678A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2907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918"/>
                </a:solidFill>
              </a:defRPr>
            </a:pPr>
            <a:r>
              <a:rPr sz="1050" b="1">
                <a:solidFill>
                  <a:srgbClr val="171918"/>
                </a:solidFill>
              </a:rPr>
              <a:t>公开身份与知识菜单</a:t>
            </a:r>
          </a:p>
          <a:p xmlns:a="http://schemas.openxmlformats.org/drawingml/2006/main">
            <a:pPr algn="ctr">
              <a:defRPr sz="1050" b="1">
                <a:solidFill>
                  <a:srgbClr val="171918"/>
                </a:solidFill>
              </a:defRPr>
            </a:pPr>
            <a:r>
              <a:rPr sz="1050" b="1">
                <a:solidFill>
                  <a:srgbClr val="171918"/>
                </a:solidFill>
              </a:rPr>
              <a:t>在房间里保持可见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089E39-0CD6-4F8F-88C7-585ACD02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6577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28A4B"/>
                </a:solidFill>
              </a:defRPr>
            </a:pPr>
            <a:r>
              <a:rPr sz="750" b="1">
                <a:solidFill>
                  <a:srgbClr val="F28A4B"/>
                </a:solidFill>
              </a:rPr>
              <a:t>DISPLAY · RGB · BUTTONS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62C3E0-80E6-4F86-B6E0-C94EA401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86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095B07-2A47-46EA-A5C7-B559A598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76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公共地球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862822-E967-49C5-A264-D102DDD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486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AADFAD-46B7-4E8E-A18A-10E158F2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768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Injective 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8B19D8-580E-479B-9ED9-1D6CC75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86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8A4B"/>
                </a:solidFill>
              </a:defRPr>
            </a:pPr>
            <a:r>
              <a:rPr sz="1050" b="1">
                <a:solidFill>
                  <a:srgbClr val="F28A4B"/>
                </a:solidFill>
              </a:rPr>
              <a:t>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4B9032-7095-4531-91E4-CDAB8040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768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Frost Edge Node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0FB6E8-14DA-4704-A3EB-D0DCA69F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53125"/>
            <a:ext cx="6896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CA219A-158E-43FD-82E1-0F10E156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038850"/>
            <a:ext cx="670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口袋地球装记忆，公共地球住分身。谢谢。</a:t>
            </a:r>
          </a:p>
        </p:txBody>
      </p:sp>
    </p:spTree>
    <p:extLst>
      <p:ext uri="{BB962C8B-B14F-4D97-AF65-F5344CB8AC3E}">
        <p14:creationId xmlns:p14="http://schemas.microsoft.com/office/powerpoint/2010/main" val="302638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2026-07-19T15:18:11.2600000Z</dcterms:created>
  <dcterms:modified xsi:type="dcterms:W3CDTF">2026-07-19T15:18:11.2600000Z</dcterms:modified>
</coreProperties>
</file>