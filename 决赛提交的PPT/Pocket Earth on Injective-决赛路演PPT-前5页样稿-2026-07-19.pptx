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b31c62fa88e4efc" /><Relationship Type="http://schemas.openxmlformats.org/officeDocument/2006/relationships/extended-properties" Target="/docProps/app.xml" Id="Ra5ac7a2161d84b0c" /><Relationship Type="http://schemas.openxmlformats.org/officeDocument/2006/relationships/officeDocument" Target="/ppt/presentation.xml" Id="R9e0c96eb2f6f408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7d0e1ce263647b0"/>
  </p:sldMasterIdLst>
  <p:notesMasterIdLst>
    <p:notesMasterId xmlns:r="http://schemas.openxmlformats.org/officeDocument/2006/relationships" r:id="Rab7fa95558c247d8"/>
  </p:notesMasterIdLst>
  <p:sldIdLst>
    <p:sldId xmlns:r="http://schemas.openxmlformats.org/officeDocument/2006/relationships" id="256" r:id="R28b38f1f02884f41"/>
    <p:sldId xmlns:r="http://schemas.openxmlformats.org/officeDocument/2006/relationships" id="257" r:id="R3c594c7c06814140"/>
    <p:sldId xmlns:r="http://schemas.openxmlformats.org/officeDocument/2006/relationships" id="258" r:id="Rbd182b35b07f4cbb"/>
    <p:sldId xmlns:r="http://schemas.openxmlformats.org/officeDocument/2006/relationships" id="259" r:id="R61f759c9cb00439b"/>
    <p:sldId xmlns:r="http://schemas.openxmlformats.org/officeDocument/2006/relationships" id="260" r:id="R43e764b1836e4e27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7583dfb53c747da" /><Relationship Type="http://schemas.openxmlformats.org/officeDocument/2006/relationships/slideMaster" Target="/ppt/slideMasters/slideMaster1.xml" Id="R67d0e1ce263647b0" /><Relationship Type="http://schemas.openxmlformats.org/officeDocument/2006/relationships/notesMaster" Target="/ppt/notesMasters/notesMaster1.xml" Id="Rab7fa95558c247d8" /><Relationship Type="http://schemas.openxmlformats.org/officeDocument/2006/relationships/presProps" Target="/ppt/presProps.xml" Id="R7c9ca0763c6c4ae8" /><Relationship Type="http://schemas.openxmlformats.org/officeDocument/2006/relationships/tableStyles" Target="/ppt/tableStyles.xml" Id="R78843b1ad03b4a31" /><Relationship Type="http://schemas.openxmlformats.org/officeDocument/2006/relationships/slide" Target="/ppt/slides/slide1.xml" Id="R28b38f1f02884f41" /><Relationship Type="http://schemas.openxmlformats.org/officeDocument/2006/relationships/slide" Target="/ppt/slides/slide2.xml" Id="R3c594c7c06814140" /><Relationship Type="http://schemas.openxmlformats.org/officeDocument/2006/relationships/slide" Target="/ppt/slides/slide3.xml" Id="Rbd182b35b07f4cbb" /><Relationship Type="http://schemas.openxmlformats.org/officeDocument/2006/relationships/slide" Target="/ppt/slides/slide4.xml" Id="R61f759c9cb00439b" /><Relationship Type="http://schemas.openxmlformats.org/officeDocument/2006/relationships/slide" Target="/ppt/slides/slide5.xml" Id="R43e764b1836e4e2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56b76bec3c644b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d29a6858b3348e0" /><Relationship Type="http://schemas.openxmlformats.org/officeDocument/2006/relationships/notesMaster" Target="/ppt/notesMasters/notesMaster1.xml" Id="Rad2144b062ec45d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d95c0399fc74a06" /><Relationship Type="http://schemas.openxmlformats.org/officeDocument/2006/relationships/notesMaster" Target="/ppt/notesMasters/notesMaster1.xml" Id="R781fd8210cf94c5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6798004763c4e65" /><Relationship Type="http://schemas.openxmlformats.org/officeDocument/2006/relationships/notesMaster" Target="/ppt/notesMasters/notesMaster1.xml" Id="R4f79288448d541d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ea1f2675e3f4aa8" /><Relationship Type="http://schemas.openxmlformats.org/officeDocument/2006/relationships/notesMaster" Target="/ppt/notesMasters/notesMaster1.xml" Id="Rceb0d32928064c6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102a593bd2146ca" /><Relationship Type="http://schemas.openxmlformats.org/officeDocument/2006/relationships/notesMaster" Target="/ppt/notesMasters/notesMaster1.xml" Id="Rd38fe3569b804ce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22a4eb5b42240a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a66afb058954faa" /><Relationship Type="http://schemas.openxmlformats.org/officeDocument/2006/relationships/slideLayout" Target="/ppt/slideLayouts/slideLayout1.xml" Id="R44ccc6a852cd4c7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4ccc6a852cd4c7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0ad45dff764bab" /><Relationship Type="http://schemas.openxmlformats.org/officeDocument/2006/relationships/image" Target="/ppt/media/image.jpeg" Id="R4814c069d12744c8" /><Relationship Type="http://schemas.openxmlformats.org/officeDocument/2006/relationships/image" Target="/ppt/media/image2.jpeg" Id="R87d115616cf2437f" /><Relationship Type="http://schemas.openxmlformats.org/officeDocument/2006/relationships/notesSlide" Target="/ppt/notesSlides/notesSlide1.xml" Id="R74e45bf76bd1422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b42ddf8e5b4e99" /><Relationship Type="http://schemas.openxmlformats.org/officeDocument/2006/relationships/image" Target="/ppt/media/image3.jpeg" Id="Ra496e739f744414a" /><Relationship Type="http://schemas.openxmlformats.org/officeDocument/2006/relationships/image" Target="/ppt/media/image4.jpeg" Id="R7be68e0f3d594e00" /><Relationship Type="http://schemas.openxmlformats.org/officeDocument/2006/relationships/notesSlide" Target="/ppt/notesSlides/notesSlide2.xml" Id="Rd81b9569f4c0426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e6951f20594c20" /><Relationship Type="http://schemas.openxmlformats.org/officeDocument/2006/relationships/notesSlide" Target="/ppt/notesSlides/notesSlide3.xml" Id="R7fd077160e264d9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659148912c4f16" /><Relationship Type="http://schemas.openxmlformats.org/officeDocument/2006/relationships/image" Target="/ppt/media/image5.jpeg" Id="Re0ff785d1f5347e1" /><Relationship Type="http://schemas.openxmlformats.org/officeDocument/2006/relationships/image" Target="/ppt/media/image6.jpeg" Id="R0b8cc799375b446b" /><Relationship Type="http://schemas.openxmlformats.org/officeDocument/2006/relationships/notesSlide" Target="/ppt/notesSlides/notesSlide4.xml" Id="Rcc2730f58b074db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cb382bb09343fc" /><Relationship Type="http://schemas.openxmlformats.org/officeDocument/2006/relationships/image" Target="/ppt/media/image7.jpeg" Id="R842dc439be02416f" /><Relationship Type="http://schemas.openxmlformats.org/officeDocument/2006/relationships/image" Target="/ppt/media/image8.jpeg" Id="Rc958860af2244301" /><Relationship Type="http://schemas.openxmlformats.org/officeDocument/2006/relationships/notesSlide" Target="/ppt/notesSlides/notesSlide5.xml" Id="Rd583ba44fc7d442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3F4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A0A824AB-F26F-4D14-B00E-B358EECCD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CD7816-DAAE-465E-A933-E1C162D57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C28DA5-8597-477D-B644-717CE9742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242866-3195-4604-B5EA-FFB6F5B54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92F686-F0F8-4545-AE9B-F3A943062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0C1C13-D1AF-4A7F-B74F-D072D5CEF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A6700CE-C346-4D60-BA7D-E09C455E9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CF8F8EF-A573-4F54-ABD8-7EFFB9DC2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2584481-6EE9-4D57-93A1-0BB9A5F30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737CD52-00BA-407C-9BD5-11266009D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0702117-148D-409D-8E87-8646EEADF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F3EE450-BC2A-4C0C-96DC-64B7211B4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4448AE5-D40C-452F-A0B8-07D3C18CC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4C68B9E-E75C-4CC4-BA95-E1C59E159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1F50F4F-B0A0-4F60-B374-310149171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2D67239-90F6-4E38-B2D8-2FD697FC7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118A51B-EC9E-45EE-85D6-B9280C301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0653078-7ACB-4422-A265-A6B615886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4197CF5-096E-4CF3-B4A2-6A16D6883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3D43DEA-F57D-47D2-BD77-FCB45BEC1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C2FD46F-73BA-4E60-BC73-BDF53D26B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09A8D6D-3D5C-4EE6-A5E7-56BDE7863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B5E4E45-BA2C-4F1C-8F87-6D005F4B3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6CD6260-D2EB-4CBE-AEB3-A0404C0D1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F0F67D4-3D97-4560-B98C-51DA686FA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23751CF-3D65-4B96-82EE-029E1699B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26D0A93-D154-4132-968B-C7B01E1BC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CF19401-2915-4932-B5F8-23820028A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C42E753-8A29-44B2-B92F-AB2D0C94A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C16775C-5F6C-48AB-9C74-3D0402B5E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54411FE-2A7C-44B3-9C24-A27AA927B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F4AADA3-85A8-4322-88DD-F3B7F576F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77C47DE-9CF3-4E9E-ABC8-D5042E560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BBE9AD6-1134-4CFE-8063-AFE510BF5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0F31E73-63AC-4AEB-A8E3-8E6ECA09E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CBC8A23-E70C-4061-BD85-91DA2B2BC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A3C9052-C673-4417-97F4-C3CE8DCC7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4698DA9-2D2A-4E4F-BDB5-C17235E8C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1923279-211B-46C5-9CF1-C212308BF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82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FBFC2F5-52FE-434E-B3DA-3F5512C72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630D911-8F56-4732-A0C4-00EF2FB0A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9052EB9-AD6F-4A5F-958C-31FC86576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1C4A4E0-F4C0-432E-9D00-9994D8AFF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04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BF5C90C-8092-426A-9ED0-E6BE5BB00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2F3CD11A-1375-4657-BD21-8516697E2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14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E19F26FC-5819-4547-BB05-A4209BDE2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219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1B38147A-5C6B-4EF4-8237-AA61C176B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24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1C74A951-A5D0-4303-8CD0-6EB623679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828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EB1C0F47-C4F2-418F-B512-902643E35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133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CCFF4B40-845B-4C6E-AB2A-2EA93CDD7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438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45B70596-A324-449E-A1A0-8621F8B75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743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C4B1DB4F-25A7-447B-A74E-E37B3BACE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048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0AB15A06-8A5A-4B00-A2C6-752625E57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352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99A8EE81-0960-4AEC-92F1-76E41FB59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657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A89FC1C8-091F-4744-A631-26EA4961C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962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926F4A7E-5097-469F-8D58-E32D593CE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267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2861F53A-EE9E-45EC-9125-C67B7DC5F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572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87444EF7-119A-4061-B21A-F670B8E9B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876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FA535C11-BA3E-4371-BEFE-962C465B2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181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E49EE51E-C9D7-40AE-A102-CFD2F56FB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486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B253B8AF-FF4D-49D6-B330-E7E10AB19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791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1BC1F6EF-7DBB-4DCE-B372-723E580C2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58FA88A6-8024-4B35-B680-9BDB47F57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00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3FABCE7E-5F05-4EF3-B1B5-84759FFAA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05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261A3A06-6AAD-46FE-8004-CBEAC72C8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9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453B4E00-2E25-4D7F-B46A-BBD9FF5BE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781050"/>
            <a:ext cx="2238375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26916F"/>
          </a:solidFill>
          <a:ln xmlns:a="http://schemas.openxmlformats.org/drawingml/2006/main" w="0">
            <a:solidFill>
              <a:srgbClr val="26916F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B34CA26B-8453-4537-9E66-48A813B4A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9716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FINAL · POCKET EARTH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CF97F444-86E7-4FA9-9CAD-339C7FF08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409700"/>
            <a:ext cx="3714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171918"/>
                </a:solidFill>
              </a:defRPr>
            </a:pPr>
            <a:r>
              <a:rPr sz="3750" b="1">
                <a:solidFill>
                  <a:srgbClr val="171918"/>
                </a:solidFill>
              </a:rPr>
              <a:t>Pocket Earth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156CBDE8-4B9C-4BB9-84FC-C7C7C388A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52625"/>
            <a:ext cx="3714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285E4E"/>
                </a:solidFill>
              </a:defRPr>
            </a:pPr>
            <a:r>
              <a:rPr sz="3600" b="1">
                <a:solidFill>
                  <a:srgbClr val="285E4E"/>
                </a:solidFill>
              </a:rPr>
              <a:t>on Injective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89D48511-A5E4-4C19-879B-B7A221BBD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800350"/>
            <a:ext cx="3762375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1918"/>
                </a:solidFill>
              </a:defRPr>
            </a:pPr>
            <a:r>
              <a:rPr sz="2025" b="0">
                <a:solidFill>
                  <a:srgbClr val="171918"/>
                </a:solidFill>
              </a:rPr>
              <a:t>让私人空间长出可信公共知识</a:t>
            </a:r>
          </a:p>
          <a:p xmlns:a="http://schemas.openxmlformats.org/drawingml/2006/main">
            <a:pPr>
              <a:defRPr sz="2025" b="0">
                <a:solidFill>
                  <a:srgbClr val="171918"/>
                </a:solidFill>
              </a:defRPr>
            </a:pPr>
            <a:r>
              <a:rPr sz="2025" b="0">
                <a:solidFill>
                  <a:srgbClr val="171918"/>
                </a:solidFill>
              </a:rPr>
              <a:t>与实体 Frost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564DEA31-504D-4774-9707-485BE01A0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829050"/>
            <a:ext cx="342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686D6A"/>
                </a:solidFill>
              </a:defRPr>
            </a:pPr>
            <a:r>
              <a:rPr sz="1425" b="0">
                <a:solidFill>
                  <a:srgbClr val="686D6A"/>
                </a:solidFill>
              </a:rPr>
              <a:t>空间留在 Pocket Earth</a:t>
            </a:r>
          </a:p>
          <a:p xmlns:a="http://schemas.openxmlformats.org/drawingml/2006/main">
            <a:pPr>
              <a:defRPr sz="1425" b="0">
                <a:solidFill>
                  <a:srgbClr val="686D6A"/>
                </a:solidFill>
              </a:defRPr>
            </a:pPr>
            <a:r>
              <a:rPr sz="1425" b="0">
                <a:solidFill>
                  <a:srgbClr val="686D6A"/>
                </a:solidFill>
              </a:rPr>
              <a:t>时间由 Injective 见证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22C588C4-9EDC-43C8-975B-57B391197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905375"/>
            <a:ext cx="3762375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F2EC"/>
          </a:solidFill>
          <a:ln xmlns:a="http://schemas.openxmlformats.org/drawingml/2006/main" w="9525">
            <a:solidFill>
              <a:srgbClr val="C8DCD3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AFF7AD21-2F92-434F-B7C9-0C42CF48C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905375"/>
            <a:ext cx="47625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91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E2DC9002-749F-4485-B427-DEE8D88FE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057775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85E4E"/>
                </a:solidFill>
              </a:defRPr>
            </a:pPr>
            <a:r>
              <a:rPr sz="1275" b="1">
                <a:solidFill>
                  <a:srgbClr val="285E4E"/>
                </a:solidFill>
              </a:rPr>
              <a:t>身份与版次今天已在链上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BC116CF2-7F4D-471A-9AB2-6AD3452F0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391150"/>
            <a:ext cx="3429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86D6A"/>
                </a:solidFill>
              </a:defRPr>
            </a:pPr>
            <a:r>
              <a:rPr sz="975" b="0">
                <a:solidFill>
                  <a:srgbClr val="686D6A"/>
                </a:solidFill>
              </a:rPr>
              <a:t>私人记忆留在端侧；公开知识与 Agent 身份可以独立验真。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B8004DA9-79C6-4112-AB35-68694034C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324600"/>
            <a:ext cx="3571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D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F89CD59B-30F2-4F79-8916-B739E3D73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4198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8B908D"/>
                </a:solidFill>
              </a:defRPr>
            </a:pPr>
            <a:r>
              <a:rPr sz="825" b="0">
                <a:solidFill>
                  <a:srgbClr val="8B908D"/>
                </a:solidFill>
              </a:rPr>
              <a:t>01 / OPENING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70737113-57B9-44AD-BE64-E23330CA1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742950"/>
            <a:ext cx="2381250" cy="51625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59605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pic>
        <p:nvPicPr>
          <p:cNvPr id="16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814c069d12744c8"/>
          <a:srcRect xmlns:a="http://schemas.openxmlformats.org/drawingml/2006/main" l="1863" t="0" r="186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857750" y="819150"/>
            <a:ext cx="2228850" cy="5010150"/>
          </a:xfrm>
          <a:prstGeom xmlns:a="http://schemas.openxmlformats.org/drawingml/2006/main" prst="roundRect">
            <a:avLst>
              <a:gd name="adj" fmla="val 3419"/>
            </a:avLst>
          </a:prstGeom>
        </p:spPr>
      </p:pic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92FF167F-7610-4D56-A21B-D93BFA37C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742950"/>
            <a:ext cx="2381250" cy="51625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59605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pic>
        <p:nvPicPr>
          <p:cNvPr id="16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7d115616cf2437f"/>
          <a:srcRect xmlns:a="http://schemas.openxmlformats.org/drawingml/2006/main" l="1863" t="0" r="186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877300" y="819150"/>
            <a:ext cx="2228850" cy="5010150"/>
          </a:xfrm>
          <a:prstGeom xmlns:a="http://schemas.openxmlformats.org/drawingml/2006/main" prst="roundRect">
            <a:avLst>
              <a:gd name="adj" fmla="val 3419"/>
            </a:avLst>
          </a:prstGeom>
        </p:spPr>
      </p:pic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36244E9B-9902-4687-A314-15DF1ABDE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6076950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E5BDB"/>
                </a:solidFill>
              </a:defRPr>
            </a:pPr>
            <a:r>
              <a:rPr sz="1050" b="1">
                <a:solidFill>
                  <a:srgbClr val="2E5BDB"/>
                </a:solidFill>
              </a:rPr>
              <a:t>▲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FBC5B703-E48C-4EFB-B985-0004FF0D1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6067425"/>
            <a:ext cx="28098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86D6A"/>
                </a:solidFill>
              </a:defRPr>
            </a:pPr>
            <a:r>
              <a:rPr sz="1050" b="0">
                <a:solidFill>
                  <a:srgbClr val="686D6A"/>
                </a:solidFill>
              </a:rPr>
              <a:t>公共地球 · 全球知识信号回到地点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12282474-8D28-4BC4-B8B3-947CA3E33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6076950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6916F"/>
                </a:solidFill>
              </a:defRPr>
            </a:pPr>
            <a:r>
              <a:rPr sz="1050" b="1">
                <a:solidFill>
                  <a:srgbClr val="26916F"/>
                </a:solidFill>
              </a:rPr>
              <a:t>▲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5F99F9FE-37BA-4890-8081-D3A2D2DEA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6067425"/>
            <a:ext cx="2762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86D6A"/>
                </a:solidFill>
              </a:defRPr>
            </a:pPr>
            <a:r>
              <a:rPr sz="1050" b="0">
                <a:solidFill>
                  <a:srgbClr val="686D6A"/>
                </a:solidFill>
              </a:rPr>
              <a:t>身份卡牌 · Frost 的链上公开身份</a:t>
            </a:r>
          </a:p>
        </p:txBody>
      </p:sp>
    </p:spTree>
    <p:extLst>
      <p:ext uri="{BB962C8B-B14F-4D97-AF65-F5344CB8AC3E}">
        <p14:creationId xmlns:p14="http://schemas.microsoft.com/office/powerpoint/2010/main" val="111333548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3F4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BD16B248-33C5-45A6-8675-07FBB4394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555FF5-484E-4CE9-8C90-AF16368C4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1F2A43-0C1A-421C-AE9F-AEB351FCA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406964-15FE-46E9-8A7D-3F5B84442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6C5458-F031-49D6-9FA7-E13A72CC7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A28B434-AE1A-4E30-8B5B-7F4629A05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ED5ED8E-70C3-4656-B1C4-561D3D3C3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C30602E-C9AA-47A6-9F53-0B402D880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A736E92-1152-41A4-971F-DA685C503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8BB44AD-C2C0-4A77-A613-760BEC3DB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3533442-2897-4336-9110-FFB6D9DE5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B0CF883-F4F4-448F-A410-8F0AA1D62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6F53722-9590-440C-8EEB-1140700DD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1A12BB7-6E53-4776-8280-D7E7F58C3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5190635-0F7F-4D1F-A196-F0881AD00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D7ED909-5341-4B48-B2C1-FC7B36361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C28EBA7-470A-4510-AFE6-385C0E652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CBF4E45-8CE2-4991-B5B0-A4EB7384B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BCC7998-5F61-4257-82F6-46A0414F5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E1A7BC0-AD96-4CB7-BF77-AF608E7DE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D46AABF-25CE-4F92-BD26-83C567BF6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AF83E7C-B36C-41E0-82B7-9B1C1AD40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71065C7-EE48-469C-9378-7A05B6C45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A8C1DA0-DE90-41AB-AD9C-09C431D94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643B60C-2012-4F71-946C-081817709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3198879-0C31-4859-A5B5-47B9995B9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566AF28-1E1C-4C07-ACC7-E061D12C8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B927596-53D3-4FBA-B17F-92EB1156A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3C9DDB5-8B7A-4417-9B57-4CF6A71BD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A269E05-6D63-4D01-9CE6-DAD710BF8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9964480-582D-442D-A64A-09159993B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7ECB93A-02B3-4BE2-8EB5-A92465DDC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E181D99-26B1-4251-8D84-0D7DB9CC8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64537BD-E6A6-46A6-8997-5F77BB164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C149FC2-1832-4344-B965-3D14015AF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97CF8B3-91F2-4AA9-8751-F7748048A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E0CBEAA-8127-4846-92EB-72B2C5D05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2C678B8-9BA9-4314-96C3-219C00F59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6AE93E8-EE70-4D78-AAD1-E82DDD23B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82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8F4FA7F-7ABE-4BE9-9289-A17E6565B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090945B-952B-477C-9667-02EE7270F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C991268-37B2-4C1C-8532-BBE0D5F7C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4B761BB-4847-400E-B589-27EDDDCD5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04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D746CB6-6A3D-4111-A9EB-797C003EB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892C7A23-FC12-4809-8341-8AC2934DE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14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7C473477-A7CA-41C2-8CBA-4C7E9DFA9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219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DF8A7219-F1E6-44B0-8611-ED72F05CC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24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2FB027F9-3F5D-44D5-B31F-E71CBDFAC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828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53DB554E-CDAD-40AC-81A7-827514E67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133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A6EE6C90-E4CE-4AA9-9B44-960ED8968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438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817F2188-632E-4395-86AE-3C5CB727B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743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92763885-BE46-4E5F-BB92-64BB143E4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048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F8A6659C-CFC9-4716-8C78-2A0911EB6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352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4FFCAEB1-2A79-4C53-B5FF-B5B235779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657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0E92A1EF-1421-4918-A0CF-66F2777DE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962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F39FDC30-B42D-4DCC-9901-8F419D2B6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267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0B759262-72D4-4E97-93B1-C2334B8AC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572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0708FB7D-CEE6-4D45-AD4E-7D8DCD98C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876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FE5702BB-4566-474F-8D24-078C1DD7D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181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D890E221-C20C-4B6E-8109-D5E49961C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486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D2B59CF2-E479-4A47-9766-84BAD323D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791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618CD138-EDD9-461D-9EB6-6FC698ECD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36F5A00A-4975-4B17-98D6-94CE2E83D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00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AE48C7BB-FA05-4EC0-988E-89DFD66E7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05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76BBB158-DD2E-4B6A-BBFF-D4ED43CA8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9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7C36EE3E-CD90-400A-9290-F0B3EFA00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781050"/>
            <a:ext cx="169545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26916F"/>
          </a:solidFill>
          <a:ln xmlns:a="http://schemas.openxmlformats.org/drawingml/2006/main" w="0">
            <a:solidFill>
              <a:srgbClr val="26916F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16A2734E-DC48-4DCD-9369-A59D4D3D1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WHY NOW · 问题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6014D042-624D-4C2E-82EA-8074FD9A4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428750"/>
            <a:ext cx="39052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925" b="0">
                <a:solidFill>
                  <a:srgbClr val="171918"/>
                </a:solidFill>
              </a:defRPr>
            </a:pPr>
            <a:r>
              <a:rPr sz="2925" b="0">
                <a:solidFill>
                  <a:srgbClr val="171918"/>
                </a:solidFill>
              </a:rPr>
              <a:t>AI 时代，同时丢失了</a:t>
            </a:r>
          </a:p>
          <a:p xmlns:a="http://schemas.openxmlformats.org/drawingml/2006/main">
            <a:pPr>
              <a:defRPr sz="2925" b="0">
                <a:solidFill>
                  <a:srgbClr val="171918"/>
                </a:solidFill>
              </a:defRPr>
            </a:pPr>
            <a:r>
              <a:rPr sz="2925" b="0">
                <a:solidFill>
                  <a:srgbClr val="171918"/>
                </a:solidFill>
              </a:rPr>
              <a:t>两件东西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FB768456-A6EF-4D42-A4CD-579C1CC29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800350"/>
            <a:ext cx="3857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6916F"/>
                </a:solidFill>
              </a:defRPr>
            </a:pPr>
            <a:r>
              <a:rPr sz="1500" b="1">
                <a:solidFill>
                  <a:srgbClr val="26916F"/>
                </a:solidFill>
              </a:rPr>
              <a:t>个人上下文，以及公共信息的可信度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6335A049-96C5-4291-A039-00B7B8BDC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58140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91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1D6D730D-4FC1-4FA9-B564-0018CB9E1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505200"/>
            <a:ext cx="3543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86D6A"/>
                </a:solidFill>
              </a:defRPr>
            </a:pPr>
            <a:r>
              <a:rPr sz="1200" b="0">
                <a:solidFill>
                  <a:srgbClr val="686D6A"/>
                </a:solidFill>
              </a:rPr>
              <a:t>个人知识散落在相册、地点与对话里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58A91171-AE4B-4A37-8DEB-BE9BAD4B6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03860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AFA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8B34F74D-C6F5-4B41-9034-84FCCB24B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962400"/>
            <a:ext cx="3543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86D6A"/>
                </a:solidFill>
              </a:defRPr>
            </a:pPr>
            <a:r>
              <a:rPr sz="1200" b="0">
                <a:solidFill>
                  <a:srgbClr val="686D6A"/>
                </a:solidFill>
              </a:rPr>
              <a:t>公共信息高速增长，出处与版本难以复核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8EA507C1-F595-4157-A013-F0E686D15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49580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AFA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14299114-52B1-46D3-8BC7-B48BD1F14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419600"/>
            <a:ext cx="3543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86D6A"/>
                </a:solidFill>
              </a:defRPr>
            </a:pPr>
            <a:r>
              <a:rPr sz="1200" b="0">
                <a:solidFill>
                  <a:srgbClr val="686D6A"/>
                </a:solidFill>
              </a:rPr>
              <a:t>Agent 需要可追溯的输入、时间与边界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B52380F2-7AD6-43BC-B560-ABA0C1BA3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095875"/>
            <a:ext cx="3762375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F2EC"/>
          </a:solidFill>
          <a:ln xmlns:a="http://schemas.openxmlformats.org/drawingml/2006/main" w="9525">
            <a:solidFill>
              <a:srgbClr val="C8DCD3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651BED0C-E313-4E13-B9A5-C9A6943D2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095875"/>
            <a:ext cx="47625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91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D708B21F-6709-4A30-9A01-7A63C4380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248275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85E4E"/>
                </a:solidFill>
              </a:defRPr>
            </a:pPr>
            <a:r>
              <a:rPr sz="1275" b="1">
                <a:solidFill>
                  <a:srgbClr val="285E4E"/>
                </a:solidFill>
              </a:rPr>
              <a:t>真正稀缺的，是可靠知识。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D1FE251D-7F5C-490D-A399-5F43CC7CD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81650"/>
            <a:ext cx="3429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86D6A"/>
                </a:solidFill>
              </a:defRPr>
            </a:pPr>
            <a:r>
              <a:rPr sz="975" b="0">
                <a:solidFill>
                  <a:srgbClr val="686D6A"/>
                </a:solidFill>
              </a:rPr>
              <a:t>信息可以大量生成；可信来源、核验过程与可复核版本必须被保留下来。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84F29A90-EFDD-407C-8FD8-8D527FABD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324600"/>
            <a:ext cx="3571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D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8DC735FD-FC8C-400B-99E8-31BB6781B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4198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8B908D"/>
                </a:solidFill>
              </a:defRPr>
            </a:pPr>
            <a:r>
              <a:rPr sz="825" b="0">
                <a:solidFill>
                  <a:srgbClr val="8B908D"/>
                </a:solidFill>
              </a:rPr>
              <a:t>02 / WHY NOW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D5CD4196-51EB-45CA-AFFA-A232823ED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742950"/>
            <a:ext cx="2381250" cy="51625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59605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pic>
        <p:nvPicPr>
          <p:cNvPr id="17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496e739f744414a"/>
          <a:srcRect xmlns:a="http://schemas.openxmlformats.org/drawingml/2006/main" l="1863" t="0" r="186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857750" y="819150"/>
            <a:ext cx="2228850" cy="5010150"/>
          </a:xfrm>
          <a:prstGeom xmlns:a="http://schemas.openxmlformats.org/drawingml/2006/main" prst="roundRect">
            <a:avLst>
              <a:gd name="adj" fmla="val 3419"/>
            </a:avLst>
          </a:prstGeom>
        </p:spPr>
      </p:pic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076EEF83-02D1-4050-A50F-422938F0D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742950"/>
            <a:ext cx="2381250" cy="51625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59605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pic>
        <p:nvPicPr>
          <p:cNvPr id="17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be68e0f3d594e00"/>
          <a:srcRect xmlns:a="http://schemas.openxmlformats.org/drawingml/2006/main" l="1863" t="0" r="186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877300" y="819150"/>
            <a:ext cx="2228850" cy="5010150"/>
          </a:xfrm>
          <a:prstGeom xmlns:a="http://schemas.openxmlformats.org/drawingml/2006/main" prst="roundRect">
            <a:avLst>
              <a:gd name="adj" fmla="val 3419"/>
            </a:avLst>
          </a:prstGeom>
        </p:spPr>
      </p:pic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B94F8B90-0406-4E44-B6C3-21557B77E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6076950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E5BDB"/>
                </a:solidFill>
              </a:defRPr>
            </a:pPr>
            <a:r>
              <a:rPr sz="1050" b="1">
                <a:solidFill>
                  <a:srgbClr val="2E5BDB"/>
                </a:solidFill>
              </a:rPr>
              <a:t>▲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EB889CA0-95C1-4AC6-8749-4951D5511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6067425"/>
            <a:ext cx="28098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86D6A"/>
                </a:solidFill>
              </a:defRPr>
            </a:pPr>
            <a:r>
              <a:rPr sz="1050" b="0">
                <a:solidFill>
                  <a:srgbClr val="686D6A"/>
                </a:solidFill>
              </a:rPr>
              <a:t>私人上下文 · 人生经验重新回到地点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276E3779-AEE1-423D-B3E7-9F1D90413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6076950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6916F"/>
                </a:solidFill>
              </a:defRPr>
            </a:pPr>
            <a:r>
              <a:rPr sz="1050" b="1">
                <a:solidFill>
                  <a:srgbClr val="26916F"/>
                </a:solidFill>
              </a:rPr>
              <a:t>▲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80DD518C-22CC-482A-A8FE-CFAEBAAFD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6067425"/>
            <a:ext cx="2762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86D6A"/>
                </a:solidFill>
              </a:defRPr>
            </a:pPr>
            <a:r>
              <a:rPr sz="1050" b="0">
                <a:solidFill>
                  <a:srgbClr val="686D6A"/>
                </a:solidFill>
              </a:rPr>
              <a:t>公共可信度 · 新闻展开为来源与证据</a:t>
            </a:r>
          </a:p>
        </p:txBody>
      </p:sp>
    </p:spTree>
    <p:extLst>
      <p:ext uri="{BB962C8B-B14F-4D97-AF65-F5344CB8AC3E}">
        <p14:creationId xmlns:p14="http://schemas.microsoft.com/office/powerpoint/2010/main" val="200245986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3F4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7B2B774B-AC8F-4A08-AEFB-D5913CD50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3F6DD6-E554-4494-BD1F-65EA35F9B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ECC6E9-3FCB-4FF4-8FAD-72DA69A3B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07BD7C-9290-4849-A477-43CBD82EA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AD0D83-4636-4099-ACD5-F4B38BD34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5420362-27D6-46C7-AC43-AA0C77FC1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1DAD5A5-C81A-4072-AC3F-4D8AA9CF6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51DBC90-584D-4ABE-8F0E-B129AB743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F5ECF55-5AFE-4E3E-B0F8-17936DA80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86E82F1-5B26-45D1-80B3-B3400CC2B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97B557C-B583-4BF0-98C9-5BDFF5487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CB0342B-04B8-476F-8215-8F1F0ADF7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00C042E-10A3-4E8B-AA54-646B9E843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8343968-4C14-41B1-A980-96EE69517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28EAC86-6DAD-4C43-948F-86D1CAD1B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1ED3307-66D2-4824-A69C-87D7EC3CE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7707287-4FDF-4CE9-B2FE-944FEFDCA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F9C6FA3-08B0-4CEA-9ED0-22E0AB017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951CAB3-3079-44EB-807A-AEEFA0E5F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C9445F2-9C5F-4F10-8977-92CAE2764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96D972B-BB5D-40E9-9B39-D894E17E2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EED964B-2842-43DE-93A4-F8EECA94B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8EC4B44-B1EC-42D9-B33B-96DF6A7F0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3E67EED-B9F4-4D50-AE20-05453A67D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880B154-D0F7-46C3-A4D5-9FD83846D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42AE491-4B2C-4E0B-965D-9E6F1D9B9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CD790DA-EC6A-4292-ABD7-9D29C5376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B2BA971-E6C0-44A6-B255-092EFD1E4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25BC3D3-A17A-4C7A-AA0A-59D2B918C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532058A-DDE2-4522-BB2D-2A557ED28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6090CA8-7E78-424F-A2BD-D9086535B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836654A-00F2-4C72-87A4-587A648DC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ADCAA10-9D94-4EDB-A728-70E0BD5F4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6AA0B1E-F784-4883-9960-6790B5798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03EF83E-B989-488B-8E29-4303DB1A9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F479AF5-9653-48C7-8FC7-A090E0E78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6F0FBA8-2E05-4710-9EAE-4242DFF47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24812AE-FB8E-4072-8AB6-21C671DF1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A80729E-6C60-46B5-BA0B-9F5A5DA28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82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DEAE9D0-5CA3-42E3-8A62-A97E3455B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923088F-CE3F-408D-8E6E-505EC261E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0B3F7C3-ACE6-41ED-8B02-728A47EDF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1B94FE5-EE9C-4904-831F-5306D7E0E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04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10B91B5-6228-4785-AAD2-7AEA543AA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02DA00C4-3888-4807-9615-278901BA8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14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FEC6A30C-F113-41A0-BF3D-6D17E9723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219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48BFE2DB-8ABB-4C7E-A407-2175E20FF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24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9FB265FE-7026-462F-9D51-1F4D5203E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828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35B37B0F-729D-422E-944D-8BBAE111A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133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FEDEAFA3-8616-4345-91D0-66E8103D7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438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28AFDA93-9EEC-487D-9784-3988E13CD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743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EF73F922-1D35-445A-8D65-043F52ECD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048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350673AB-8DF9-4919-805E-D4890E105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352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19FD4C41-340B-449B-B124-6EE6D3345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657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69825162-7AD7-48BA-BDE8-EC85E1A2B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962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40DF2A41-3DC6-4036-A269-B3F49576A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267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3B87A3EF-D5CD-428E-9CDB-EE0CB530B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572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A015F790-E17F-4D6C-ACCE-F7CD9C293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876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1D94E0F0-E6A8-4036-BAA9-6402EB6D7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181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C6835C9E-E5CB-434C-9E2D-A32BE5397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486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476ACC4E-C061-4789-987C-FE35FBD93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791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9F043DA8-251F-4460-AD50-354334920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7DE83B1A-A122-46B9-9C84-25E240881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00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1DA4BA97-D686-461A-9818-105C1D82E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05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26DA8C8A-180F-4ED2-B2E1-38836A784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9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DE32BB65-6DD3-4298-ABB5-D8F0DA61F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14350"/>
            <a:ext cx="302895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26916F"/>
          </a:solidFill>
          <a:ln xmlns:a="http://schemas.openxmlformats.org/drawingml/2006/main" w="0">
            <a:solidFill>
              <a:srgbClr val="26916F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6B0D332E-B7A1-4BAB-A852-1848A7B5A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2762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KNOWLEDGE REFINERY · 知识炼油厂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8A04B304-5FBD-4309-8115-640F7784E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000125"/>
            <a:ext cx="619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75" b="0">
                <a:solidFill>
                  <a:srgbClr val="171918"/>
                </a:solidFill>
              </a:defRPr>
            </a:pPr>
            <a:r>
              <a:rPr sz="3075" b="0">
                <a:solidFill>
                  <a:srgbClr val="171918"/>
                </a:solidFill>
              </a:rPr>
              <a:t>把信息炼成可验证知识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77AE1488-7F87-416C-8F0C-7193E73B8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581150"/>
            <a:ext cx="666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86D6A"/>
                </a:solidFill>
              </a:defRPr>
            </a:pPr>
            <a:r>
              <a:rPr sz="1350" b="0">
                <a:solidFill>
                  <a:srgbClr val="686D6A"/>
                </a:solidFill>
              </a:rPr>
              <a:t>从全球信号到每日版次，每一步都可检查、可复核。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AAE35B15-DC9C-43C9-94CE-372EFC8BE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152650"/>
            <a:ext cx="3286125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7"/>
          </a:solidFill>
          <a:ln xmlns:a="http://schemas.openxmlformats.org/drawingml/2006/main" w="13335">
            <a:solidFill>
              <a:srgbClr val="17191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B7E0314A-2AD8-472F-847D-6844F9B48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57450"/>
            <a:ext cx="280987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1918"/>
                </a:solidFill>
              </a:defRPr>
            </a:pPr>
            <a:r>
              <a:rPr sz="1875" b="0">
                <a:solidFill>
                  <a:srgbClr val="171918"/>
                </a:solidFill>
              </a:rPr>
              <a:t>“数据是新石油。数据有价值，</a:t>
            </a:r>
          </a:p>
          <a:p xmlns:a="http://schemas.openxmlformats.org/drawingml/2006/main">
            <a:pPr>
              <a:defRPr sz="1875" b="0">
                <a:solidFill>
                  <a:srgbClr val="171918"/>
                </a:solidFill>
              </a:defRPr>
            </a:pPr>
            <a:r>
              <a:rPr sz="1875" b="0">
                <a:solidFill>
                  <a:srgbClr val="171918"/>
                </a:solidFill>
              </a:rPr>
              <a:t>但未经提炼就不能使用。”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77057798-6154-4507-9CDE-69278D6CD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81400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85E4E"/>
                </a:solidFill>
              </a:defRPr>
            </a:pPr>
            <a:r>
              <a:rPr sz="1125" b="1">
                <a:solidFill>
                  <a:srgbClr val="285E4E"/>
                </a:solidFill>
              </a:rPr>
              <a:t>— Clive Humby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AF56EC1D-3992-4D33-874D-9E1EF6F3C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48125"/>
            <a:ext cx="2686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C2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A29E86A2-399C-4CD7-A62D-B6DCA9272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48150"/>
            <a:ext cx="266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86D6A"/>
                </a:solidFill>
              </a:defRPr>
            </a:pPr>
            <a:r>
              <a:rPr sz="1200" b="0">
                <a:solidFill>
                  <a:srgbClr val="686D6A"/>
                </a:solidFill>
              </a:rPr>
              <a:t>Pocket Earth 记录的对象，</a:t>
            </a:r>
          </a:p>
          <a:p xmlns:a="http://schemas.openxmlformats.org/drawingml/2006/main">
            <a:pPr>
              <a:defRPr sz="1200" b="0">
                <a:solidFill>
                  <a:srgbClr val="686D6A"/>
                </a:solidFill>
              </a:defRPr>
            </a:pPr>
            <a:r>
              <a:rPr sz="1200" b="0">
                <a:solidFill>
                  <a:srgbClr val="686D6A"/>
                </a:solidFill>
              </a:rPr>
              <a:t>是经过筛选与核验的知识版次。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40F60163-18A6-4F1A-BF8F-6FB5B8923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152650"/>
            <a:ext cx="167640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171918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9A1715C7-F1D4-4C33-A305-762905150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152650"/>
            <a:ext cx="16764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5B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C3E6369F-3DE0-44C7-B57F-D2E8F7F5A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3431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2E5BDB"/>
                </a:solidFill>
              </a:defRPr>
            </a:pPr>
            <a:r>
              <a:rPr sz="1200" b="1">
                <a:solidFill>
                  <a:srgbClr val="2E5BDB"/>
                </a:solidFill>
              </a:rPr>
              <a:t>01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51C50C49-3264-4086-B4A5-D233254F9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333625"/>
            <a:ext cx="971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71918"/>
                </a:solidFill>
              </a:defRPr>
            </a:pPr>
            <a:r>
              <a:rPr sz="1275" b="1">
                <a:solidFill>
                  <a:srgbClr val="171918"/>
                </a:solidFill>
              </a:rPr>
              <a:t>全球公开信号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4CF39536-68D5-4E99-90AE-C0B4606A1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686050"/>
            <a:ext cx="1390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86D6A"/>
                </a:solidFill>
              </a:defRPr>
            </a:pPr>
            <a:r>
              <a:rPr sz="975" b="0">
                <a:solidFill>
                  <a:srgbClr val="686D6A"/>
                </a:solidFill>
              </a:rPr>
              <a:t>8 个领域 Agent 每日收集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1A5D007C-500E-4D04-8AC0-91C98C8C6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5975" y="2447925"/>
            <a:ext cx="285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6916F"/>
                </a:solidFill>
              </a:defRPr>
            </a:pPr>
            <a:r>
              <a:rPr sz="1800" b="1">
                <a:solidFill>
                  <a:srgbClr val="26916F"/>
                </a:solidFill>
              </a:rPr>
              <a:t>→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2C18AB49-F416-493F-AEBB-26D3158D8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152650"/>
            <a:ext cx="167640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171918"/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32D00A8B-AE0F-4C85-ADA5-A5D671B14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152650"/>
            <a:ext cx="16764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91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C617CFF5-CF8F-4986-B624-BA9DF4439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3431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26916F"/>
                </a:solidFill>
              </a:defRPr>
            </a:pPr>
            <a:r>
              <a:rPr sz="1200" b="1">
                <a:solidFill>
                  <a:srgbClr val="26916F"/>
                </a:solidFill>
              </a:rPr>
              <a:t>02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035CB7B3-F4C6-48FC-A04A-8173FA170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333625"/>
            <a:ext cx="971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71918"/>
                </a:solidFill>
              </a:defRPr>
            </a:pPr>
            <a:r>
              <a:rPr sz="1275" b="1">
                <a:solidFill>
                  <a:srgbClr val="171918"/>
                </a:solidFill>
              </a:rPr>
              <a:t>领域筛选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CBE81FFE-F430-4250-93D8-E0B880130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686050"/>
            <a:ext cx="1390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86D6A"/>
                </a:solidFill>
              </a:defRPr>
            </a:pPr>
            <a:r>
              <a:rPr sz="975" b="0">
                <a:solidFill>
                  <a:srgbClr val="686D6A"/>
                </a:solidFill>
              </a:rPr>
              <a:t>去重、分类、压缩上下文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4EA75BB1-39EB-4CCE-9269-93C242088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6225" y="2447925"/>
            <a:ext cx="285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6916F"/>
                </a:solidFill>
              </a:defRPr>
            </a:pPr>
            <a:r>
              <a:rPr sz="1800" b="1">
                <a:solidFill>
                  <a:srgbClr val="26916F"/>
                </a:solidFill>
              </a:rPr>
              <a:t>→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7208917F-A30D-444E-B347-B39974E54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152650"/>
            <a:ext cx="167640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171918"/>
            </a:solidFill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8DBBC17F-B3F2-4817-912B-457E52157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152650"/>
            <a:ext cx="16764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C8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316EE80D-EA33-4DBB-B231-9EFC60D15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3431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5C84A"/>
                </a:solidFill>
              </a:defRPr>
            </a:pPr>
            <a:r>
              <a:rPr sz="1200" b="1">
                <a:solidFill>
                  <a:srgbClr val="F5C84A"/>
                </a:solidFill>
              </a:rPr>
              <a:t>03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1555DE1D-D60A-40C3-B16B-8F3A6D7FE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333625"/>
            <a:ext cx="971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71918"/>
                </a:solidFill>
              </a:defRPr>
            </a:pPr>
            <a:r>
              <a:rPr sz="1275" b="1">
                <a:solidFill>
                  <a:srgbClr val="171918"/>
                </a:solidFill>
              </a:rPr>
              <a:t>交叉核验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227BB333-5392-4BD9-A79B-9F335A9D0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686050"/>
            <a:ext cx="1390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86D6A"/>
                </a:solidFill>
              </a:defRPr>
            </a:pPr>
            <a:r>
              <a:rPr sz="975" b="0">
                <a:solidFill>
                  <a:srgbClr val="686D6A"/>
                </a:solidFill>
              </a:rPr>
              <a:t>来源约束 + 人工发布闸门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31BB0E8B-0829-4134-9159-02069B48A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96475" y="2447925"/>
            <a:ext cx="285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6916F"/>
                </a:solidFill>
              </a:defRPr>
            </a:pPr>
            <a:r>
              <a:rPr sz="1800" b="1">
                <a:solidFill>
                  <a:srgbClr val="26916F"/>
                </a:solidFill>
              </a:rPr>
              <a:t>→</a:t>
            </a:r>
          </a:p>
        </p:txBody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B75E192E-02DE-4CD6-A657-2D9EEDE19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2152650"/>
            <a:ext cx="156210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171918"/>
            </a:solidFill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2C1DAE31-C5A8-462F-8B49-2CF3777A2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2152650"/>
            <a:ext cx="15621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5E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78B56712-6EFA-4C03-BDC2-A583A27AA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23431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285E4E"/>
                </a:solidFill>
              </a:defRPr>
            </a:pPr>
            <a:r>
              <a:rPr sz="1200" b="1">
                <a:solidFill>
                  <a:srgbClr val="285E4E"/>
                </a:solidFill>
              </a:rPr>
              <a:t>04</a:t>
            </a:r>
          </a:p>
        </p:txBody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696843A1-79AA-46F6-B9BB-0941ADED5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2333625"/>
            <a:ext cx="857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71918"/>
                </a:solidFill>
              </a:defRPr>
            </a:pPr>
            <a:r>
              <a:rPr sz="1275" b="1">
                <a:solidFill>
                  <a:srgbClr val="171918"/>
                </a:solidFill>
              </a:rPr>
              <a:t>每日版次</a:t>
            </a:r>
          </a:p>
        </p:txBody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10FDF5FB-6757-4458-8D56-3942BE317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2686050"/>
            <a:ext cx="1276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86D6A"/>
                </a:solidFill>
              </a:defRPr>
            </a:pPr>
            <a:r>
              <a:rPr sz="975" b="0">
                <a:solidFill>
                  <a:srgbClr val="686D6A"/>
                </a:solidFill>
              </a:rPr>
              <a:t>Merkle 根锚定 Injective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869540CC-2852-43D7-9D9E-2D85681EA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486150"/>
            <a:ext cx="75628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171918"/>
            </a:solidFill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067E5B1A-E325-4302-8671-36BE122D3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705225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71918"/>
                </a:solidFill>
              </a:defRPr>
            </a:pPr>
            <a:r>
              <a:rPr sz="1500" b="1">
                <a:solidFill>
                  <a:srgbClr val="171918"/>
                </a:solidFill>
              </a:rPr>
              <a:t>知识冷热分层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4F6F9BC1-E5F4-491C-9E4D-AE62BE6B6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143375"/>
            <a:ext cx="2190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1FF"/>
          </a:solidFill>
          <a:ln xmlns:a="http://schemas.openxmlformats.org/drawingml/2006/main" w="9525">
            <a:solidFill>
              <a:srgbClr val="BDD1F2"/>
            </a:solidFill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AA41BA45-1F6A-45AD-A4FB-7C1BF3C77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28625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2E5BDB"/>
                </a:solidFill>
              </a:defRPr>
            </a:pPr>
            <a:r>
              <a:rPr sz="1200" b="1">
                <a:solidFill>
                  <a:srgbClr val="2E5BDB"/>
                </a:solidFill>
              </a:rPr>
              <a:t>热区 · 7 天</a:t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D773D38A-C4DB-464F-B51C-EC750BE93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543425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86D6A"/>
                </a:solidFill>
              </a:defRPr>
            </a:pPr>
            <a:r>
              <a:rPr sz="975" b="0">
                <a:solidFill>
                  <a:srgbClr val="686D6A"/>
                </a:solidFill>
              </a:rPr>
              <a:t>完整新闻与运行上下文</a:t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0768127E-557A-438D-999B-BA4745539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2275" y="4324350"/>
            <a:ext cx="28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26916F"/>
                </a:solidFill>
              </a:defRPr>
            </a:pPr>
            <a:r>
              <a:rPr sz="1725" b="1">
                <a:solidFill>
                  <a:srgbClr val="26916F"/>
                </a:solidFill>
              </a:rPr>
              <a:t>→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38019AFE-8CD2-4B97-B610-6A945A900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4143375"/>
            <a:ext cx="233362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F2EC"/>
          </a:solidFill>
          <a:ln xmlns:a="http://schemas.openxmlformats.org/drawingml/2006/main" w="9525">
            <a:solidFill>
              <a:srgbClr val="BCD9CD"/>
            </a:solidFill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48CC488E-FBD3-40C4-A2B3-A2F8D34BA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42862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285E4E"/>
                </a:solidFill>
              </a:defRPr>
            </a:pPr>
            <a:r>
              <a:rPr sz="1200" b="1">
                <a:solidFill>
                  <a:srgbClr val="285E4E"/>
                </a:solidFill>
              </a:rPr>
              <a:t>长期层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F754FA9B-C779-46EA-AF7C-0905DFC19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4543425"/>
            <a:ext cx="190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86D6A"/>
                </a:solidFill>
              </a:defRPr>
            </a:pPr>
            <a:r>
              <a:rPr sz="975" b="0">
                <a:solidFill>
                  <a:srgbClr val="686D6A"/>
                </a:solidFill>
              </a:rPr>
              <a:t>核验条目、证明与版次</a:t>
            </a:r>
          </a:p>
        </p:txBody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B1952A73-D269-40D3-A63E-7CFF37B37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6925" y="4324350"/>
            <a:ext cx="28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26916F"/>
                </a:solidFill>
              </a:defRPr>
            </a:pPr>
            <a:r>
              <a:rPr sz="1725" b="1">
                <a:solidFill>
                  <a:srgbClr val="26916F"/>
                </a:solidFill>
              </a:rPr>
              <a:t>→</a:t>
            </a:r>
          </a:p>
        </p:txBody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9A1D1F04-D267-419A-8894-888456968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143375"/>
            <a:ext cx="14097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AFE"/>
          </a:solidFill>
          <a:ln xmlns:a="http://schemas.openxmlformats.org/drawingml/2006/main" w="9525">
            <a:solidFill>
              <a:srgbClr val="CFC1E9"/>
            </a:solidFill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6F32850C-1BC2-4B9E-B186-B1F17B6C1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4286250"/>
            <a:ext cx="1028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7251A3"/>
                </a:solidFill>
              </a:defRPr>
            </a:pPr>
            <a:r>
              <a:rPr sz="1200" b="1">
                <a:solidFill>
                  <a:srgbClr val="7251A3"/>
                </a:solidFill>
              </a:rPr>
              <a:t>端侧私域</a:t>
            </a:r>
          </a:p>
        </p:txBody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879FC3D4-17B4-4886-9505-AD7FAFC35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4543425"/>
            <a:ext cx="1047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86D6A"/>
                </a:solidFill>
              </a:defRPr>
            </a:pPr>
            <a:r>
              <a:rPr sz="975" b="0">
                <a:solidFill>
                  <a:srgbClr val="686D6A"/>
                </a:solidFill>
              </a:rPr>
              <a:t>私人记忆不上链</a:t>
            </a:r>
          </a:p>
        </p:txBody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5ACCB979-93A9-4780-A2E1-9D389A1E7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495925"/>
            <a:ext cx="112585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00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32A0F7DB-B348-4EF8-882D-85687E821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676900"/>
            <a:ext cx="962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AI 时代不缺数据，缺的是可复核、可携带、可长期保存的知识。</a:t>
            </a:r>
          </a:p>
        </p:txBody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458E5D07-5FA3-4F3C-9F43-EB60FD1D6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324600"/>
            <a:ext cx="3571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D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D23AF54E-197B-41DD-ADCB-6536180C9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4198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8B908D"/>
                </a:solidFill>
              </a:defRPr>
            </a:pPr>
            <a:r>
              <a:rPr sz="825" b="0">
                <a:solidFill>
                  <a:srgbClr val="8B908D"/>
                </a:solidFill>
              </a:rPr>
              <a:t>03 / KNOWLEDGE REFINERY</a:t>
            </a:r>
          </a:p>
        </p:txBody>
      </p:sp>
    </p:spTree>
    <p:extLst>
      <p:ext uri="{BB962C8B-B14F-4D97-AF65-F5344CB8AC3E}">
        <p14:creationId xmlns:p14="http://schemas.microsoft.com/office/powerpoint/2010/main" val="179796549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3F4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7E10FC2E-3CA1-4724-9903-B6E5AA3DB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E878CC-D64A-4588-A9A1-6D6566C00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5A41DA-6F66-4C4C-8FAB-690B337F8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BC8F41-417D-4966-92E0-630828462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48DA70-4183-4E13-9EDC-9715CBE64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C18CC0-359E-43A4-9FE6-081B7BC04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E773DF-D167-4BD3-B802-F71C64B19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EF813B1-5A25-4BC5-B128-54239E9CF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633CE2D-1B5D-44FE-B3EC-C38E967DD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A6E01E8-F136-46B9-B06A-16ED6D69C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B4DA853-30EC-4843-ADDA-059BC8F5D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2662451-1A7A-40A7-9647-A54FB1635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832FE5E-9835-4116-B4D1-914CE37D1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94E3F62-EB7C-4900-8282-836578532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B9CE613-E9FE-48C2-B42F-AEAA8BB3B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F207B51-EFAB-4E08-8180-BF0AE7E12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A8D7AC9-E273-4138-90AF-817D00683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92C1265-25F2-46C3-8D0B-DCC665DA9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C41A061-14F3-4C5A-AA02-195EEABFA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CAE4491-5AF1-4E17-AD3F-28C80B3A1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E89CCA6-EE89-4580-9813-0B1592F53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25E2E1E-38B1-4A6D-B90C-212ED5671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68A8C48-A0B3-4D4D-B5CA-536F8B772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6872DEC-15C2-471E-BD39-E9626F28B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7025DAE-E9E3-449C-BEF2-0C1332AD6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349BDB5-B34F-4888-8977-F744B1683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CCC6B85-79E0-4535-8A4D-5D6A314B5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9159C5C-8548-4818-9660-D474F95C6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854941E-D5FE-4606-ABA8-7046B3FAD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1E97BA2-B2B2-4733-99D7-9ED8DF2EE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B1E851D-8F95-41BE-834D-88EF944A1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1685181-10F6-408F-9E30-1090E3BFC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9F698B4-8A27-4C33-A428-B7316E1A4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ACBE03E-2B54-4400-A681-1886C62D4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B54D537-ED80-4574-B38A-D3F3B2ECF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DAB2175-047B-4FB7-81EB-5F07304CC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77EBDC4-FC7C-432B-832D-F5AC69030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EAD45A4-C38D-42C1-B717-7ABD3D2A6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B2C6099-B2B1-41E4-A436-039099264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82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8F762ED-48D8-4B5F-BE85-3523CDE96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13A9632-5372-4EBE-A320-52E4D478E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F615203-F0A8-4693-924C-C3DD38A72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B257CD7-BBF2-43CB-BCA2-7C66EA9CA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04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D13BDAA6-29E4-4A2F-8E1E-312C081A1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31FC14F4-78DA-441A-B567-EF6239B2F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14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6F6C97BC-B695-4E69-B481-EF550FE5E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219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612A2962-E1AC-4107-941B-F8128AF8C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24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61104EF3-8325-4C95-9F37-A471596DE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828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11DE1C8B-9691-4730-B463-C64C3AECB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133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B10ACFAF-6AA5-47DB-80C5-FA3DFFF1F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438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97585544-62E3-4D57-A728-60B68CAA8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743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11993991-DC50-48BB-AA91-28A33D095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048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42917DBC-9A66-4B84-8DFD-4443A02EE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352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183D1B7C-D224-4F51-BBC1-59691086A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657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123E2A67-78CD-43E8-9082-A033602D0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962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EB4164B2-0B7E-4B00-A380-033640319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267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AC421257-8F03-4FF7-8BD1-39B8BB1D8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572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DD358B07-B996-4D0F-8517-D9BA77F00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876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373D48EF-B9D2-4183-A512-19ADE1B56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181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748699F8-E0F3-4D80-9A43-4EEC32BDB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486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6C0AEFAC-A00A-4E79-A94D-41743520E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791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D631082E-5F92-4945-BD50-5E103E607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967F4142-BBE7-4AC4-B4F2-7181F1821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00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FCA393DA-8181-44F8-B018-B808A6B5E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05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D43A8898-4BAE-4EDA-BDF6-269D1DF7D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9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8FFC946C-28AD-46EC-9E28-AEEAAA1CE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781050"/>
            <a:ext cx="222885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26916F"/>
          </a:solidFill>
          <a:ln xmlns:a="http://schemas.openxmlformats.org/drawingml/2006/main" w="0">
            <a:solidFill>
              <a:srgbClr val="26916F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4280DF99-F562-4B9A-BCB9-0C8517AAD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962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SPATIAL INDEX · 空间索引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C21F4FF2-5E2F-485C-AD99-90BDC4FA0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428750"/>
            <a:ext cx="39052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925" b="0">
                <a:solidFill>
                  <a:srgbClr val="171918"/>
                </a:solidFill>
              </a:defRPr>
            </a:pPr>
            <a:r>
              <a:rPr sz="2925" b="0">
                <a:solidFill>
                  <a:srgbClr val="171918"/>
                </a:solidFill>
              </a:rPr>
              <a:t>换一根轴：</a:t>
            </a:r>
          </a:p>
          <a:p xmlns:a="http://schemas.openxmlformats.org/drawingml/2006/main">
            <a:pPr>
              <a:defRPr sz="2925" b="0">
                <a:solidFill>
                  <a:srgbClr val="171918"/>
                </a:solidFill>
              </a:defRPr>
            </a:pPr>
            <a:r>
              <a:rPr sz="2925" b="0">
                <a:solidFill>
                  <a:srgbClr val="171918"/>
                </a:solidFill>
              </a:rPr>
              <a:t>用地理坐标索引记忆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0F548B66-A1CF-4D73-AB4D-873738D36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857500"/>
            <a:ext cx="4000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26916F"/>
                </a:solidFill>
              </a:defRPr>
            </a:pPr>
            <a:r>
              <a:rPr sz="1425" b="1">
                <a:solidFill>
                  <a:srgbClr val="26916F"/>
                </a:solidFill>
              </a:rPr>
              <a:t>私人地球保存人生；公共地球承载可信知识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5739A073-84CD-4A3A-BBAC-C0D884B7C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562350"/>
            <a:ext cx="371475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86D6A"/>
                </a:solidFill>
              </a:defRPr>
            </a:pPr>
            <a:r>
              <a:rPr sz="1200" b="0">
                <a:solidFill>
                  <a:srgbClr val="686D6A"/>
                </a:solidFill>
              </a:rPr>
              <a:t>Pocket Earth 把时间、内容与地点重新组织为一张可旋转的地图。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00" b="0">
                <a:solidFill>
                  <a:srgbClr val="686D6A"/>
                </a:solidFill>
              </a:defRPr>
            </a:pPr>
            <a:r>
              <a:rPr sz="1200" b="0">
                <a:solidFill>
                  <a:srgbClr val="686D6A"/>
                </a:solidFill>
              </a:rPr>
              <a:t>同一套空间语言承载私人记忆与公共知识；两层在界面中相邻，在数据与权限上分离。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5A2E279A-378F-4D89-881D-5D91985B3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095875"/>
            <a:ext cx="3762375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F2EC"/>
          </a:solidFill>
          <a:ln xmlns:a="http://schemas.openxmlformats.org/drawingml/2006/main" w="9525">
            <a:solidFill>
              <a:srgbClr val="C8DCD3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D941A298-AE01-4DFE-9EC1-979B8EAEC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095875"/>
            <a:ext cx="47625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91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A030A86C-D05B-4353-83EB-0C45900B4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248275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85E4E"/>
                </a:solidFill>
              </a:defRPr>
            </a:pPr>
            <a:r>
              <a:rPr sz="1275" b="1">
                <a:solidFill>
                  <a:srgbClr val="285E4E"/>
                </a:solidFill>
              </a:rPr>
              <a:t>坐标成为知识的主键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0CD5F2FA-DBC8-4B9B-AEF9-1FDB01803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81650"/>
            <a:ext cx="3429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86D6A"/>
                </a:solidFill>
              </a:defRPr>
            </a:pPr>
            <a:r>
              <a:rPr sz="975" b="0">
                <a:solidFill>
                  <a:srgbClr val="686D6A"/>
                </a:solidFill>
              </a:rPr>
              <a:t>从“我记得什么”到“世界在哪发生什么”，空间让记忆与知识拥有共同入口。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CA9DD830-11FC-42FF-9697-011D69408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324600"/>
            <a:ext cx="3571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D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47FF964B-1C48-4717-AF4A-4574ECBF9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4198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8B908D"/>
                </a:solidFill>
              </a:defRPr>
            </a:pPr>
            <a:r>
              <a:rPr sz="825" b="0">
                <a:solidFill>
                  <a:srgbClr val="8B908D"/>
                </a:solidFill>
              </a:rPr>
              <a:t>04 / SPATIAL INDEX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65CADF38-D41A-41D0-87BE-DDE0CE5C3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742950"/>
            <a:ext cx="2381250" cy="51625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59605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pic>
        <p:nvPicPr>
          <p:cNvPr id="16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0ff785d1f5347e1"/>
          <a:srcRect xmlns:a="http://schemas.openxmlformats.org/drawingml/2006/main" l="1863" t="0" r="186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857750" y="819150"/>
            <a:ext cx="2228850" cy="5010150"/>
          </a:xfrm>
          <a:prstGeom xmlns:a="http://schemas.openxmlformats.org/drawingml/2006/main" prst="roundRect">
            <a:avLst>
              <a:gd name="adj" fmla="val 3419"/>
            </a:avLst>
          </a:prstGeom>
        </p:spPr>
      </p:pic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A4C5E4D2-9216-4B92-8369-F18011B22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742950"/>
            <a:ext cx="2381250" cy="51625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59605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pic>
        <p:nvPicPr>
          <p:cNvPr id="16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b8cc799375b446b"/>
          <a:srcRect xmlns:a="http://schemas.openxmlformats.org/drawingml/2006/main" l="1863" t="0" r="186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877300" y="819150"/>
            <a:ext cx="2228850" cy="5010150"/>
          </a:xfrm>
          <a:prstGeom xmlns:a="http://schemas.openxmlformats.org/drawingml/2006/main" prst="roundRect">
            <a:avLst>
              <a:gd name="adj" fmla="val 3419"/>
            </a:avLst>
          </a:prstGeom>
        </p:spPr>
      </p:pic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F6316890-37AB-4B9B-9CBA-D83E1387A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6076950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E5BDB"/>
                </a:solidFill>
              </a:defRPr>
            </a:pPr>
            <a:r>
              <a:rPr sz="1050" b="1">
                <a:solidFill>
                  <a:srgbClr val="2E5BDB"/>
                </a:solidFill>
              </a:rPr>
              <a:t>▲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2E4DC961-7D8E-42FA-9BDE-13F9BAF8A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6067425"/>
            <a:ext cx="28098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86D6A"/>
                </a:solidFill>
              </a:defRPr>
            </a:pPr>
            <a:r>
              <a:rPr sz="1050" b="0">
                <a:solidFill>
                  <a:srgbClr val="686D6A"/>
                </a:solidFill>
              </a:rPr>
              <a:t>PRIVATE MAP · 地点成为个人记忆索引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CCF4C405-8FD7-4A18-85C7-CB4C8450E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6076950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6916F"/>
                </a:solidFill>
              </a:defRPr>
            </a:pPr>
            <a:r>
              <a:rPr sz="1050" b="1">
                <a:solidFill>
                  <a:srgbClr val="26916F"/>
                </a:solidFill>
              </a:rPr>
              <a:t>▲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859F668B-D2AD-4A6C-A373-11CC78676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6067425"/>
            <a:ext cx="2762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86D6A"/>
                </a:solidFill>
              </a:defRPr>
            </a:pPr>
            <a:r>
              <a:rPr sz="1050" b="0">
                <a:solidFill>
                  <a:srgbClr val="686D6A"/>
                </a:solidFill>
              </a:rPr>
              <a:t>PUBLIC EARTH · 信号回到真实发生地</a:t>
            </a:r>
          </a:p>
        </p:txBody>
      </p:sp>
    </p:spTree>
    <p:extLst>
      <p:ext uri="{BB962C8B-B14F-4D97-AF65-F5344CB8AC3E}">
        <p14:creationId xmlns:p14="http://schemas.microsoft.com/office/powerpoint/2010/main" val="208142201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3F4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21915016-233E-40C6-B270-A2ADCA77D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CE389C-6752-4331-B278-93F903F13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0738B4-2DB7-49CF-94D4-E42241BA3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B3ACF3-2D79-435D-9D53-2C23120C0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08B328-DEF8-4CBD-9469-2BEEE4F0A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D2B502-91CB-4CDD-80D3-2F7990100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2996FB6-8039-4270-AC69-FC40BBE7A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EF444C3-06B4-45B9-A16D-9887361AE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4B7F4E9-8B09-4E9A-AA19-DFBD9DCE1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973E89F-5C52-4177-9E9B-77EF4A144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2C95D51-3024-4E1C-BB71-8A2D13028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E8F9BCB-D67E-4FBD-9591-8C6D18046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46591E1-5E68-406F-8B6E-99600A519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487BE5E-BBD3-4B2D-B520-ADCFEE605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7313AC6-0147-4E49-977A-F65309A1A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29DFDD5-2C48-437A-B99C-8384D7E9E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E6DA276-C9F1-410A-B3F0-6BF1AEA29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CFC9C35-503D-4690-8038-DF30DC836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A11C566-6D08-40D2-B859-4B3A6572B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259B0FC-2587-4D30-8B4C-2CA760FA0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59FE2D4-22F2-4942-A19C-B6388E7B1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7327314-F0F5-4C83-86C2-ADA427F1D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EE54BC4-78F7-4A06-B927-136E27607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BA02BF7-9E14-45AF-B8DA-3A585B733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58730B5-8C55-4F64-960B-43AEEA714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E15A82E-0D0C-461A-A212-D48B777E1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83C842E-11F6-4782-849D-69648CDC6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C7912FE-16E9-4FE6-BFF6-3CB66638B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6E06653-677C-443D-A45B-A64465919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5D9EA97-3D39-4F86-8882-8D344DC84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21FE277-186C-47AC-B4B9-0E49B2ADF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F63BF4E-E111-4FFA-AEFC-E1FA80D41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5666DB8-E870-4432-8EA5-50C7C5839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A643A66-AF37-4CA6-804A-3A7687A35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3658C3B-0119-444A-99FD-F7AAD527A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307544A-1619-4E74-ADAA-69CE20F49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9B5CA0A-9B97-4842-814A-02EFE0F5D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1C12C50-C975-442A-B145-9FBED09C6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9A8A51B-B178-422B-BF2B-7BF8F4C38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82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65DA822-22B6-4A13-B342-4EA9E9117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F231610-27B1-4CBE-B626-BA8D72A5B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678DD65-AD2D-4F0B-938D-BFA6474FF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21E68841-1113-4A4E-AB62-22DC4F8B8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04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863BB22-DF3A-43A4-94C1-D536F5EDD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4096C829-F6D3-4D74-B44C-DA1EA715C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14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BA20BE03-D736-419F-A39C-6919E0399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219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B2BF4132-3DD6-4F97-B3C0-C4F1C756D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24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21A9D053-6723-42FA-A175-4134E6C4B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828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26C0ED21-40FE-4842-8349-BB5386735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133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C5A38339-0E34-4386-B0D2-F8CE68A72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438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E42FA9BF-402D-474B-87F5-2BD10B9EC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743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D1925945-F6B7-4203-887D-78DB03181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048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A061D0D3-4029-4391-B2D4-141D5A3B9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352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6BFCEA11-6539-4925-9FFE-9B72127CF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657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29DC6021-F5CF-4F26-9467-46E871D07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962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0A9BFF08-0DDE-4DD8-BE63-F7124149A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267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99DAB9F9-9A95-46D1-84CD-003E7A98C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572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3090C7AE-3233-44B0-996E-625854D6A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876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196977B6-BC11-4BAE-BFC8-45938E489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181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7F48256D-D3F6-43B8-8745-072606565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486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CE01D258-D820-4B35-B849-1E577F2FC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791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5A72C882-68AD-4F0D-87A9-5D2D5399B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165CD397-B586-4B35-B622-5FF43E9FB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00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FC9EBAFE-F649-4786-82A0-FD43B4337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05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E78DADD1-E0EA-4271-8B6E-6BD2BACA5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9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51ECFF2E-6D4A-41B8-B56E-7EFAC0265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781050"/>
            <a:ext cx="224790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26916F"/>
          </a:solidFill>
          <a:ln xmlns:a="http://schemas.openxmlformats.org/drawingml/2006/main" w="0">
            <a:solidFill>
              <a:srgbClr val="26916F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43C1772B-5AF8-47CD-9AFF-2186894BC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981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FROST · AGENT IDENTITY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249C03D3-8FFB-44EA-B9A9-C2AB9A193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428750"/>
            <a:ext cx="4000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0">
                <a:solidFill>
                  <a:srgbClr val="171918"/>
                </a:solidFill>
              </a:defRPr>
            </a:pPr>
            <a:r>
              <a:rPr sz="2850" b="0">
                <a:solidFill>
                  <a:srgbClr val="171918"/>
                </a:solidFill>
              </a:rPr>
              <a:t>Frost：一台努力理解</a:t>
            </a:r>
          </a:p>
          <a:p xmlns:a="http://schemas.openxmlformats.org/drawingml/2006/main">
            <a:pPr>
              <a:defRPr sz="2850" b="0">
                <a:solidFill>
                  <a:srgbClr val="171918"/>
                </a:solidFill>
              </a:defRPr>
            </a:pPr>
            <a:r>
              <a:rPr sz="2850" b="0">
                <a:solidFill>
                  <a:srgbClr val="171918"/>
                </a:solidFill>
              </a:rPr>
              <a:t>人类的机器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ECECBE0E-7F75-4860-B447-53C796A6C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724150"/>
            <a:ext cx="39528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26916F"/>
                </a:solidFill>
              </a:defRPr>
            </a:pPr>
            <a:r>
              <a:rPr sz="1425" b="1">
                <a:solidFill>
                  <a:srgbClr val="26916F"/>
                </a:solidFill>
              </a:rPr>
              <a:t>从文学角色，到 App、链上身份卡与实体设备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29EAB29E-302C-4E82-AE72-E4BE2BE69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476625"/>
            <a:ext cx="3762375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86D6A"/>
                </a:solidFill>
              </a:defRPr>
            </a:pPr>
            <a:r>
              <a:rPr sz="1200" b="0">
                <a:solidFill>
                  <a:srgbClr val="686D6A"/>
                </a:solidFill>
              </a:rPr>
              <a:t>Frost 的灵感来自《趁生命气息逗留》。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00" b="0">
                <a:solidFill>
                  <a:srgbClr val="686D6A"/>
                </a:solidFill>
              </a:defRPr>
            </a:pPr>
            <a:r>
              <a:rPr sz="1200" b="0">
                <a:solidFill>
                  <a:srgbClr val="686D6A"/>
                </a:solidFill>
              </a:rPr>
              <a:t>统一的方形轮廓带来识别度；每个人的长期记忆生成不同细节。它在 App 中整理知识，在公共地球携带身份，也会回到实体设备播报当天见闻。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0625E9CD-7D20-4FE6-9970-D7AA31BF4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095875"/>
            <a:ext cx="3762375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F2EC"/>
          </a:solidFill>
          <a:ln xmlns:a="http://schemas.openxmlformats.org/drawingml/2006/main" w="9525">
            <a:solidFill>
              <a:srgbClr val="C8DCD3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E6EE66C2-77C6-49A2-B296-42D42699A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095875"/>
            <a:ext cx="47625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91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C9687E66-BD9E-4E42-87E1-AE4C799C3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248275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85E4E"/>
                </a:solidFill>
              </a:defRPr>
            </a:pPr>
            <a:r>
              <a:rPr sz="1275" b="1">
                <a:solidFill>
                  <a:srgbClr val="285E4E"/>
                </a:solidFill>
              </a:rPr>
              <a:t>Frost 是产品本身。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B242C244-532C-45ED-904F-35785D9C5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81650"/>
            <a:ext cx="3429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86D6A"/>
                </a:solidFill>
              </a:defRPr>
            </a:pPr>
            <a:r>
              <a:rPr sz="975" b="0">
                <a:solidFill>
                  <a:srgbClr val="686D6A"/>
                </a:solidFill>
              </a:rPr>
              <a:t>同一角色贯穿软件、公共地球、身份卡与硬件，同时保留每个人的独特记忆。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3DDDD184-7B7F-482A-AA0F-E7AEC288E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324600"/>
            <a:ext cx="3571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D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8E847D10-710D-4DBD-8C43-82F29E32F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4198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8B908D"/>
                </a:solidFill>
              </a:defRPr>
            </a:pPr>
            <a:r>
              <a:rPr sz="825" b="0">
                <a:solidFill>
                  <a:srgbClr val="8B908D"/>
                </a:solidFill>
              </a:rPr>
              <a:t>05 / FROST IDENTITY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BAB0DAB9-5556-4F15-BCCA-D8EB3AAF7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742950"/>
            <a:ext cx="2381250" cy="51625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59605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pic>
        <p:nvPicPr>
          <p:cNvPr id="16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42dc439be02416f"/>
          <a:srcRect xmlns:a="http://schemas.openxmlformats.org/drawingml/2006/main" l="1863" t="0" r="186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857750" y="819150"/>
            <a:ext cx="2228850" cy="5010150"/>
          </a:xfrm>
          <a:prstGeom xmlns:a="http://schemas.openxmlformats.org/drawingml/2006/main" prst="roundRect">
            <a:avLst>
              <a:gd name="adj" fmla="val 3419"/>
            </a:avLst>
          </a:prstGeom>
        </p:spPr>
      </p:pic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6488596E-259B-438F-A61F-738099A5D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742950"/>
            <a:ext cx="2381250" cy="51625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59605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pic>
        <p:nvPicPr>
          <p:cNvPr id="16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958860af2244301"/>
          <a:srcRect xmlns:a="http://schemas.openxmlformats.org/drawingml/2006/main" l="20336" t="0" r="2033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877300" y="819150"/>
            <a:ext cx="2228850" cy="5010150"/>
          </a:xfrm>
          <a:prstGeom xmlns:a="http://schemas.openxmlformats.org/drawingml/2006/main" prst="roundRect">
            <a:avLst>
              <a:gd name="adj" fmla="val 3419"/>
            </a:avLst>
          </a:prstGeom>
        </p:spPr>
      </p:pic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629F7BD6-152B-47C1-89C1-2F970246E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6076950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E5BDB"/>
                </a:solidFill>
              </a:defRPr>
            </a:pPr>
            <a:r>
              <a:rPr sz="1050" b="1">
                <a:solidFill>
                  <a:srgbClr val="2E5BDB"/>
                </a:solidFill>
              </a:rPr>
              <a:t>▲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4B4E3BDB-C84E-426E-8A07-0E51A8E09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6067425"/>
            <a:ext cx="28098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86D6A"/>
                </a:solidFill>
              </a:defRPr>
            </a:pPr>
            <a:r>
              <a:rPr sz="1050" b="0">
                <a:solidFill>
                  <a:srgbClr val="686D6A"/>
                </a:solidFill>
              </a:rPr>
              <a:t>链上身份卡 · 统一轮廓与个体差异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AC22DA5C-E006-44C1-90A0-E4ECE00E6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6076950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6916F"/>
                </a:solidFill>
              </a:defRPr>
            </a:pPr>
            <a:r>
              <a:rPr sz="1050" b="1">
                <a:solidFill>
                  <a:srgbClr val="26916F"/>
                </a:solidFill>
              </a:rPr>
              <a:t>▲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99FE5897-8BEB-4E46-8AC9-A531480C4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6067425"/>
            <a:ext cx="2762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86D6A"/>
                </a:solidFill>
              </a:defRPr>
            </a:pPr>
            <a:r>
              <a:rPr sz="1050" b="0">
                <a:solidFill>
                  <a:srgbClr val="686D6A"/>
                </a:solidFill>
              </a:rPr>
              <a:t>实体终端 · Frost 把当天知识带回房间</a:t>
            </a:r>
          </a:p>
        </p:txBody>
      </p:sp>
    </p:spTree>
    <p:extLst>
      <p:ext uri="{BB962C8B-B14F-4D97-AF65-F5344CB8AC3E}">
        <p14:creationId xmlns:p14="http://schemas.microsoft.com/office/powerpoint/2010/main" val="98491503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2026-07-19T07:54:10.9950000Z</dcterms:created>
  <dcterms:modified xsi:type="dcterms:W3CDTF">2026-07-19T07:54:10.9950000Z</dcterms:modified>
</coreProperties>
</file>