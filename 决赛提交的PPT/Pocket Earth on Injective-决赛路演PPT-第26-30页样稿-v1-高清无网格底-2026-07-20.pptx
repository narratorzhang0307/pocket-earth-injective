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3ecae816d14745" /><Relationship Type="http://schemas.openxmlformats.org/officeDocument/2006/relationships/extended-properties" Target="/docProps/app.xml" Id="Re080f18ae1df4cdf" /><Relationship Type="http://schemas.openxmlformats.org/officeDocument/2006/relationships/officeDocument" Target="/ppt/presentation.xml" Id="Rcd7af3997a0d4e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589b7e82784708"/>
  </p:sldMasterIdLst>
  <p:notesMasterIdLst>
    <p:notesMasterId xmlns:r="http://schemas.openxmlformats.org/officeDocument/2006/relationships" r:id="R5de318368b9a4588"/>
  </p:notesMasterIdLst>
  <p:sldIdLst>
    <p:sldId xmlns:r="http://schemas.openxmlformats.org/officeDocument/2006/relationships" id="256" r:id="Rba34d091570344eb"/>
    <p:sldId xmlns:r="http://schemas.openxmlformats.org/officeDocument/2006/relationships" id="257" r:id="R6cf7c56ca33e4f53"/>
    <p:sldId xmlns:r="http://schemas.openxmlformats.org/officeDocument/2006/relationships" id="258" r:id="R2866b0a815594a61"/>
    <p:sldId xmlns:r="http://schemas.openxmlformats.org/officeDocument/2006/relationships" id="259" r:id="R1fd1935c10eb40c6"/>
    <p:sldId xmlns:r="http://schemas.openxmlformats.org/officeDocument/2006/relationships" id="260" r:id="R7c5186691a4d40f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89f7cec4a44c78" /><Relationship Type="http://schemas.openxmlformats.org/officeDocument/2006/relationships/slideMaster" Target="/ppt/slideMasters/slideMaster1.xml" Id="Rdb589b7e82784708" /><Relationship Type="http://schemas.openxmlformats.org/officeDocument/2006/relationships/notesMaster" Target="/ppt/notesMasters/notesMaster1.xml" Id="R5de318368b9a4588" /><Relationship Type="http://schemas.openxmlformats.org/officeDocument/2006/relationships/presProps" Target="/ppt/presProps.xml" Id="R4496ae84721448da" /><Relationship Type="http://schemas.openxmlformats.org/officeDocument/2006/relationships/tableStyles" Target="/ppt/tableStyles.xml" Id="Rffb2c9c717a24444" /><Relationship Type="http://schemas.openxmlformats.org/officeDocument/2006/relationships/slide" Target="/ppt/slides/slide1.xml" Id="Rba34d091570344eb" /><Relationship Type="http://schemas.openxmlformats.org/officeDocument/2006/relationships/slide" Target="/ppt/slides/slide2.xml" Id="R6cf7c56ca33e4f53" /><Relationship Type="http://schemas.openxmlformats.org/officeDocument/2006/relationships/slide" Target="/ppt/slides/slide3.xml" Id="R2866b0a815594a61" /><Relationship Type="http://schemas.openxmlformats.org/officeDocument/2006/relationships/slide" Target="/ppt/slides/slide4.xml" Id="R1fd1935c10eb40c6" /><Relationship Type="http://schemas.openxmlformats.org/officeDocument/2006/relationships/slide" Target="/ppt/slides/slide5.xml" Id="R7c5186691a4d40f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9afa7021e345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394224cab64926" /><Relationship Type="http://schemas.openxmlformats.org/officeDocument/2006/relationships/notesMaster" Target="/ppt/notesMasters/notesMaster1.xml" Id="R27598339ece44e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83ff03b9c14a18" /><Relationship Type="http://schemas.openxmlformats.org/officeDocument/2006/relationships/notesMaster" Target="/ppt/notesMasters/notesMaster1.xml" Id="Re20907d00f0e4e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73d66508a94739" /><Relationship Type="http://schemas.openxmlformats.org/officeDocument/2006/relationships/notesMaster" Target="/ppt/notesMasters/notesMaster1.xml" Id="Ra625a57e24df47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b489b2c64445d" /><Relationship Type="http://schemas.openxmlformats.org/officeDocument/2006/relationships/notesMaster" Target="/ppt/notesMasters/notesMaster1.xml" Id="R313b209b5dcc49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0f96cf5544069" /><Relationship Type="http://schemas.openxmlformats.org/officeDocument/2006/relationships/notesMaster" Target="/ppt/notesMasters/notesMaster1.xml" Id="R77326735893746b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这一页讲 Microsoft Azure 的接入边界。Pocket Earth 已经完成统一 provider adapter 和离线合同测试，Model Router 可以作为单一模型部署入口，按任务、时延预算和质量要求选择合适模型。真正上线时，我们用严格证据门验收：必须获得真实 HTTP 2xx、实际 deployment 和 model 信息、真实返回内容，以及可追踪的 Azure request ID。RunTrace 记录 provider、deployment、model、latency、retry 与 fallback。当前账号的 endpoint、deployment 和 key 仍需配置，因此现场只展示已经完成的适配器和合同测试，不把尚未发生的真实 Azure 请求写成完成。配置账号后，我们会立刻跑同一套 strict live verify。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请在这一页把 Frost Edge Node 举起来。左侧是真机照片，右侧是软件端地球答案；它们采用同一套每日仪式与界面语言。Frost 的统一轮廓和个人细节会同时出现在 App、公共地球、身份卡和实体设备中；这让形象承担产品入口，而不只承担装饰。设备使用 Raspberry Pi 5 与 Whisplay HAT，包含屏幕、RGB、按键、麦克风和扬声器，本地 TTS、离线回退与手机镜像已经纳入演示链路。硬件的价值来自身份和访问权：同一个 Frost 可以把公开知识、每日答案和夜间见闻带回房间。本周展示实体原型与真实界面，现场保持静音，不承诺量产、限量或收藏属性。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Launcher 把日落电台、口袋播客和地球答案放在 home pi 下的三个平行目录里，用户不会落入厂商 Bluetooth、Wi-Fi 或示例 App。按键规则统一为单击移动、长按一秒二进入、快速双击返回。日落电台提供歌曲目录、日落时刻和随机骰子；口袋播客支持播客模式、文字模式与最后有效缓存；地球答案每天零点解锁，只允许回看过去。软件端提供对应入口：公共 Agents 可以进入口袋播客，私人 Agent 可以进入地球答案。三个应用结构解耦，一个应用退出或异常不会影响其他应用。现场默认静音。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口袋播客的软件端与树莓派读取同一份每日数据。服务器每天编排 podcast v1，端侧 timer 在八点二十分拉取；validator 检查 schema、ready 状态、标题、段落以及每段至少两个来源，通过后使用 atomic write 更新缓存。同步失败时继续使用最后一份有效缓存，不会用半份文件覆盖可用版本。文字模式保留来源、Truth Score 与 recordHash，播客模式负责顺序收听和前后切换，树莓派只负责同步与呈现，不在端侧重新总结。完整新闻保留七天，入选记录与版次根进入长期精选层。现场使用 FROST_DISABLE_TTS 等于一做静默验收，不会播放声音。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事件桥的安全边界由事件合同固定。设备只接收 state、display 和 tts 三类动作，以及必要的公开链接。可以显示的字段包括公开 agentId、revision 与 edition root；可以播报的 speak 文本必须由服务端模板生成。设备永远接收不到钱包私钥、签名权限、私人画像、照片原图、完整对话、现实住址和精确个人坐标，也不会把任意链上文本直接送入扬声器。Bearer token 控制 feed 读取，cursor 防止同一事件重复播报。这样，软件、Injective 与硬件保持解耦，服务器、网络或设备任何一侧异常时都能独立回退。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335b32043148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3a9f3033a41c7" /><Relationship Type="http://schemas.openxmlformats.org/officeDocument/2006/relationships/slideLayout" Target="/ppt/slideLayouts/slideLayout1.xml" Id="Rc4e9b70ce47f48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e9b70ce47f48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7135b75d64221" /><Relationship Type="http://schemas.openxmlformats.org/officeDocument/2006/relationships/notesSlide" Target="/ppt/notesSlides/notesSlide1.xml" Id="R204db638aeee48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e5a8aa5314dfb" /><Relationship Type="http://schemas.openxmlformats.org/officeDocument/2006/relationships/image" Target="/ppt/media/image.jpeg" Id="Rb9aa6980af9d4000" /><Relationship Type="http://schemas.openxmlformats.org/officeDocument/2006/relationships/image" Target="/ppt/media/image.png" Id="R4652559eaa064034" /><Relationship Type="http://schemas.openxmlformats.org/officeDocument/2006/relationships/notesSlide" Target="/ppt/notesSlides/notesSlide2.xml" Id="Rd03514da5ab14f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a7f897a2094837" /><Relationship Type="http://schemas.openxmlformats.org/officeDocument/2006/relationships/image" Target="/ppt/media/image2.png" Id="R4f4d4fbb2ced4a9d" /><Relationship Type="http://schemas.openxmlformats.org/officeDocument/2006/relationships/image" Target="/ppt/media/image3.png" Id="R16097510c02c4b2e" /><Relationship Type="http://schemas.openxmlformats.org/officeDocument/2006/relationships/image" Target="/ppt/media/image4.png" Id="R11d76258df5f4b1d" /><Relationship Type="http://schemas.openxmlformats.org/officeDocument/2006/relationships/notesSlide" Target="/ppt/notesSlides/notesSlide3.xml" Id="R1703e88f75904ef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2b0d7d4bb466d" /><Relationship Type="http://schemas.openxmlformats.org/officeDocument/2006/relationships/image" Target="/ppt/media/image5.png" Id="R75d6353e2b2f434e" /><Relationship Type="http://schemas.openxmlformats.org/officeDocument/2006/relationships/image" Target="/ppt/media/image6.png" Id="Rdd4f331b0f4f426a" /><Relationship Type="http://schemas.openxmlformats.org/officeDocument/2006/relationships/notesSlide" Target="/ppt/notesSlides/notesSlide4.xml" Id="R2c3507b4b29141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d89449ce343b7" /><Relationship Type="http://schemas.openxmlformats.org/officeDocument/2006/relationships/notesSlide" Target="/ppt/notesSlides/notesSlide5.xml" Id="R72bb9976f1a341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2A25BD8-EF81-4707-907F-C429324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5AA95-7960-4D52-888B-63268FDB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34290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78D4"/>
          </a:solidFill>
          <a:ln xmlns:a="http://schemas.openxmlformats.org/drawingml/2006/main" w="0">
            <a:solidFill>
              <a:srgbClr val="0078D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2272E-1C02-49E3-A206-296389C8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MICROSOFT AZURE · STRICT LIVE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762BE5-09E0-474C-9FE1-F25706AF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918"/>
                </a:solidFill>
              </a:defRPr>
            </a:pPr>
            <a:r>
              <a:rPr sz="2625" b="0">
                <a:solidFill>
                  <a:srgbClr val="171918"/>
                </a:solidFill>
              </a:rPr>
              <a:t>Azure 接入以真实请求为准，留下可复核的模型路由证据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26752-84AA-4F83-9A5C-15CA95A8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076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78D4"/>
                </a:solidFill>
              </a:defRPr>
            </a:pPr>
            <a:r>
              <a:rPr sz="1125" b="1">
                <a:solidFill>
                  <a:srgbClr val="0078D4"/>
                </a:solidFill>
              </a:rPr>
              <a:t>Provider contract → Model Router → HTTP 2xx → actual deployment → Azure request 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F92AC9-7F83-4B6D-8DCE-FD95C745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9526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AFD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06A08-203B-4A41-A8EA-46C60A2A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526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6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0C386-34BE-48E4-8560-DFC17D2A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71393A-D4BA-4E6B-9A23-0BE81D23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80A4B-79DF-4ADC-9845-B20ED8F8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24125"/>
            <a:ext cx="16097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task + locale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latency budget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quality level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9293D-3B70-4C35-A8F6-4963383E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8860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1ADCA-F459-4435-AAF1-0DD2FACD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19526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D2FB65-780B-4FE6-A85E-6E4B3F82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FF7C8-3475-4194-945D-30623CB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38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4C354-20E4-4D21-9E2E-6B3B5720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0383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PROVIDER ADAPTER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93A0C4-9D98-4BFA-8220-28E63289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24125"/>
            <a:ext cx="16097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统一请求格式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密钥只在服务端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超时与重试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D03D29-2395-4190-8E88-74816F7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860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B1FB26-75F9-4B1E-83F3-6AEB2976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19526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6D99CE-1418-4EF2-A9F8-3E42BFB3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526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5E6A5-01E1-428C-B0FC-66C5A0D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38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1DC70-950C-415B-888F-A5C05F44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383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MODEL ROUTER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012FB3-66D2-4D75-A48A-91875175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24125"/>
            <a:ext cx="16097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单一部署入口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按任务路由模型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成本 / 质量策略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665EB-6540-43D0-ABE1-2696C83D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860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B4281-6C4F-4169-8855-AE3EF0A5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52625"/>
            <a:ext cx="19526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8FA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742D6-7ACB-4CB7-A774-C038DD70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526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70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64B5D-183A-4516-B4C0-9888523A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38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D42D1F-4698-4D67-9B7D-8AA127624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0383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STRICT RESPONSE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E4C46-28F0-4043-B164-191FF6EE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24125"/>
            <a:ext cx="16097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HTTP 2xx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实际模型与部署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真实响应内容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3A4E79-13DB-45A8-891C-A3B010C4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86075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6D92F-7E12-4E27-9820-79EA4E00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952625" cy="216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7D8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330537-5CFE-488C-A6EE-A11EEBA8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952625"/>
            <a:ext cx="1952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590E3B-E0DC-4544-9B83-385D4083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BB6536-7F41-4B1E-95E2-93BB0CF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38350"/>
            <a:ext cx="14001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09A5A6-5D76-4976-B357-2951050A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524125"/>
            <a:ext cx="16097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Azure request ID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latency / fallback</a:t>
            </a:r>
          </a:p>
          <a:p xmlns:a="http://schemas.openxmlformats.org/drawingml/2006/main">
            <a:pPr algn="ctr">
              <a:defRPr sz="1125" b="1">
                <a:solidFill>
                  <a:srgbClr val="171918"/>
                </a:solidFill>
              </a:defRPr>
            </a:pPr>
            <a:r>
              <a:rPr sz="1125" b="1">
                <a:solidFill>
                  <a:srgbClr val="171918"/>
                </a:solidFill>
              </a:rPr>
              <a:t>RunTrace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A1BB14-CFAC-408D-A158-0E7E03901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11239500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568580-2DA6-4103-B5B2-63810A23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48200"/>
            <a:ext cx="1190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CFFB0"/>
                </a:solidFill>
              </a:defRPr>
            </a:pPr>
            <a:r>
              <a:rPr sz="1050" b="1">
                <a:solidFill>
                  <a:srgbClr val="7CFFB0"/>
                </a:solidFill>
              </a:rPr>
              <a:t>RUNTRACE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42D3D9F-9178-4F29-B208-C4D1B61D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48200"/>
            <a:ext cx="676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provider · deployment · model · latency · retry · fallback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ED19C0-45DD-4DEB-B210-EE928D65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29150"/>
            <a:ext cx="2362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21D11C-A1FF-4668-A423-E104033B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67250"/>
            <a:ext cx="2228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CONTRACT TESTS 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88E866-6A2E-43C2-8EC9-08E3FCEA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00625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1948F10-24FB-4A44-86D3-74688EB7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53025"/>
            <a:ext cx="466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BD7D1"/>
                </a:solidFill>
              </a:defRPr>
            </a:pPr>
            <a:r>
              <a:rPr sz="1050" b="0">
                <a:solidFill>
                  <a:srgbClr val="CBD7D1"/>
                </a:solidFill>
              </a:rPr>
              <a:t>当前完成：Azure adapter + 离线合同测试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1DE850-5CAF-474C-901A-0FF35B10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53025"/>
            <a:ext cx="5781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4C84A"/>
                </a:solidFill>
              </a:defRPr>
            </a:pPr>
            <a:r>
              <a:rPr sz="1050" b="1">
                <a:solidFill>
                  <a:srgbClr val="F4C84A"/>
                </a:solidFill>
              </a:rPr>
              <a:t>待账号配置后验收：真实 endpoint / deployment / key / request 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EB17BDF-4505-4E53-8F1C-F5EC4DE5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753100"/>
            <a:ext cx="1123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3FF"/>
          </a:solidFill>
          <a:ln xmlns:a="http://schemas.openxmlformats.org/drawingml/2006/main" w="9525">
            <a:solidFill>
              <a:srgbClr val="B9DD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BBB164-1041-4D8F-AD67-3EFD395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57875"/>
            <a:ext cx="1091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5D91"/>
                </a:solidFill>
              </a:defRPr>
            </a:pPr>
            <a:r>
              <a:rPr sz="1125" b="1">
                <a:solidFill>
                  <a:srgbClr val="185D91"/>
                </a:solidFill>
              </a:rPr>
              <a:t>决赛口径：展示已经完成的适配器与合同测试；真实 Azure 请求通过严格证据门后再标记完成。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63E7B5-5AC2-4D68-B06E-8FE811D1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F3DF72-8C2B-4777-8036-16884057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26 / MICROSOFT AZURE MODEL INFRASTRUCTURE</a:t>
            </a:r>
          </a:p>
        </p:txBody>
      </p:sp>
    </p:spTree>
    <p:extLst>
      <p:ext uri="{BB962C8B-B14F-4D97-AF65-F5344CB8AC3E}">
        <p14:creationId xmlns:p14="http://schemas.microsoft.com/office/powerpoint/2010/main" val="4188682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9A8C03-41B1-4A9D-8141-51F81FAD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55249A-5B94-484B-8764-8253D25D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5800"/>
            <a:ext cx="3238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0B6A2-6F71-411F-BF82-D65905C4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FROST EDGE NODE · HARDWARE HERO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D94C2-85BF-4A5F-909D-4F1C69DA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</a:defRPr>
            </a:pPr>
            <a:r>
              <a:rPr sz="2325" b="0">
                <a:solidFill>
                  <a:srgbClr val="171918"/>
                </a:solidFill>
              </a:rPr>
              <a:t>Frost 已经有一具</a:t>
            </a:r>
          </a:p>
          <a:p xmlns:a="http://schemas.openxmlformats.org/drawingml/2006/main">
            <a:pPr algn="l">
              <a:defRPr sz="2325" b="0">
                <a:solidFill>
                  <a:srgbClr val="171918"/>
                </a:solidFill>
              </a:defRPr>
            </a:pPr>
            <a:r>
              <a:rPr sz="2325" b="0">
                <a:solidFill>
                  <a:srgbClr val="171918"/>
                </a:solidFill>
              </a:rPr>
              <a:t>能工作的身体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2F51CC-80B1-4A75-95AA-B056600F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38375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同一个角色，在 App、公共地球、身份卡和实体设备里保持可识别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47DEE-8A52-4906-87E9-8C37DD9B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9D0B8C-5D29-4545-982D-700F9ABF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3686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Raspberry Pi 5 + Whisplay HAT · 240×280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F54FF8-B03E-45D7-A0CF-9A0F759C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48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E66B5-4E41-4AB9-BDE0-98DD12CB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71875"/>
            <a:ext cx="3686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屏幕、RGB、按钮、麦克风与扬声器已经接入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C5C97-9B36-4243-ABD5-A378C73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F7076-5B7F-429F-B971-96A91A36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3686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本地 TTS / 离线回退 / 手机镜像支持现场演示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39FA0D-33BD-48F7-AA7B-B145F7C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385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CD8BB-5208-4BD5-B7F3-9AEB3892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911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7E5D6A-9148-4A9F-86E4-23B867E8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244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硬件的价值在于身份与访问权。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50D195-C8DB-4147-B173-19104E81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买到的体验来自盒子里住着谁，以及它能带回什么。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335137-5122-4538-8C94-818920C9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37A346-62F4-4D73-8984-9E842BB8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27 / FROST EDGE 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E2C19C-DED9-4C42-8BB1-6DBA840D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714375"/>
            <a:ext cx="3790950" cy="53911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a6980af9d4000"/>
          <a:srcRect xmlns:a="http://schemas.openxmlformats.org/drawingml/2006/main" l="3112" t="0" r="31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628650"/>
            <a:ext cx="3790950" cy="5391150"/>
          </a:xfrm>
          <a:prstGeom xmlns:a="http://schemas.openxmlformats.org/drawingml/2006/main" prst="roundRect">
            <a:avLst>
              <a:gd name="adj" fmla="val 3015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AC47A-4AC6-46B2-94FF-3D7CEE1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28650"/>
            <a:ext cx="3790950" cy="5391150"/>
          </a:xfrm>
          <a:prstGeom xmlns:a="http://schemas.openxmlformats.org/drawingml/2006/main" prst="roundRect">
            <a:avLst>
              <a:gd name="adj" fmla="val 3015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3460A-3AD7-41E8-9689-7F2B22CB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800100"/>
            <a:ext cx="3333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2BABA7-0C98-4718-A2DE-9F79D885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838200"/>
            <a:ext cx="3200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REAL PROTOTYPE · SILENT MODE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C0D550-9ACF-4416-B735-AB6C169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14375"/>
            <a:ext cx="2276475" cy="5391150"/>
          </a:xfrm>
          <a:prstGeom xmlns:a="http://schemas.openxmlformats.org/drawingml/2006/main" prst="roundRect">
            <a:avLst>
              <a:gd name="adj" fmla="val 5021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2559eaa064034"/>
          <a:srcRect xmlns:a="http://schemas.openxmlformats.org/drawingml/2006/main" l="4239" t="0" r="423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53525" y="628650"/>
            <a:ext cx="2276475" cy="5391150"/>
          </a:xfrm>
          <a:prstGeom xmlns:a="http://schemas.openxmlformats.org/drawingml/2006/main" prst="roundRect">
            <a:avLst>
              <a:gd name="adj" fmla="val 5021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D3C663-B49E-4869-BF6F-F6DAFC06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628650"/>
            <a:ext cx="2276475" cy="5391150"/>
          </a:xfrm>
          <a:prstGeom xmlns:a="http://schemas.openxmlformats.org/drawingml/2006/main" prst="roundRect">
            <a:avLst>
              <a:gd name="adj" fmla="val 5021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0BF47C-CBB2-4486-BAAE-C0A5108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14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A4B"/>
                </a:solidFill>
              </a:defRPr>
            </a:pPr>
            <a:r>
              <a:rPr sz="1050" b="1">
                <a:solidFill>
                  <a:srgbClr val="F28A4B"/>
                </a:solidFill>
              </a:rPr>
              <a:t>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288CE-419C-480D-B05E-29C15901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34100"/>
            <a:ext cx="3524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真机 · 地球答案与 RGB 状态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4E102D-7D00-4D51-BE4F-FB2CB05C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1436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084162-5BE5-4A2F-8903-6D8A8AD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3410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软件 · 同一套每日仪式与界面语言</a:t>
            </a:r>
          </a:p>
        </p:txBody>
      </p:sp>
    </p:spTree>
    <p:extLst>
      <p:ext uri="{BB962C8B-B14F-4D97-AF65-F5344CB8AC3E}">
        <p14:creationId xmlns:p14="http://schemas.microsoft.com/office/powerpoint/2010/main" val="119632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2BEE0C-9D0C-404A-858E-E3E6E9A6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C68FE-5427-43E0-9369-4A6D007FD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09600"/>
            <a:ext cx="2381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8E697-A02F-42F6-B453-4A27954A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POCKET EARTH LAUNCHER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0C4ED-3BE6-4C22-B0A7-35020679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811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1918"/>
                </a:solidFill>
              </a:defRPr>
            </a:pPr>
            <a:r>
              <a:rPr sz="2325" b="0">
                <a:solidFill>
                  <a:srgbClr val="171918"/>
                </a:solidFill>
              </a:rPr>
              <a:t>一个 Launcher，收纳</a:t>
            </a:r>
          </a:p>
          <a:p xmlns:a="http://schemas.openxmlformats.org/drawingml/2006/main">
            <a:pPr algn="l">
              <a:defRPr sz="2325" b="0">
                <a:solidFill>
                  <a:srgbClr val="171918"/>
                </a:solidFill>
              </a:defRPr>
            </a:pPr>
            <a:r>
              <a:rPr sz="2325" b="0">
                <a:solidFill>
                  <a:srgbClr val="171918"/>
                </a:solidFill>
              </a:rPr>
              <a:t>音乐、知识与行动提示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C8314-9592-4C59-944C-9F50A933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09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单击移动 · 长按 1.2 秒进入 · 快速双击返回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0AB08-54BA-4114-8CC2-09B658B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622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9FD1B-A761-49AB-9864-9442E809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860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日落电台：歌曲目录 / 日落时刻 / 随机骰子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B56C0-76DB-4FE9-BA39-D64BB532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194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84E0D-E9FB-4CEE-B02A-E34BCD3D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432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口袋播客：播客模式 / 文字模式 / 最后有效缓存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1F8E4E-FD8B-43C0-BCBF-18E78A20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76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10527-6FA1-43B4-AD13-402042623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地球答案：每日 00:00 解锁，只能回看过去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0196B-01C9-4D71-A145-5A32275F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338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77455-0F58-4979-A329-5FB76CA0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57675"/>
            <a:ext cx="3733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静默首页：时间、日期、连接状态与今日一页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2921A-D2EA-4113-AA13-6A194725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385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F1AFF2-6DCD-477A-AF7D-D6DA77F1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0540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B69B8-A2E4-4106-BDAA-1691C665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结构清晰胜过功能堆叠。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7A5CD2-3C66-4B2F-AB14-FF5AB85B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5307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三个应用互为平行目录，退出一个不会干扰另外两个。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9095D-3404-4C05-9489-229C24F9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8462D-924B-4A1B-8283-63344ADB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28 / POCKET EARTH LAUNCHER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E45B90-855F-47B2-A3BC-AEC6A554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838200"/>
            <a:ext cx="2781300" cy="48006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4F57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9AAC29-265C-401A-9EF5-805ACC39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0191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B50FDC-2F55-469B-9F6C-A7D98D7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057275"/>
            <a:ext cx="2247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/home/pi · PROJECT LAUNCHER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d4fbb2ced4a9d"/>
          <a:stretch xmlns:a="http://schemas.openxmlformats.org/drawingml/2006/main"/>
        </p:blipFill>
        <p:spPr>
          <a:xfrm xmlns:a="http://schemas.openxmlformats.org/drawingml/2006/main">
            <a:off x="5067300" y="1438275"/>
            <a:ext cx="2286000" cy="266700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EA7E73-9CAA-48B3-B7DE-A09BB9B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053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118994-783A-406A-92FA-6100076C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A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CBFFD0-F248-4F54-814E-43E68B82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6245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日落电台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6D737B-2D00-4D2C-9EC9-043F2355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6245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28A4B"/>
                </a:solidFill>
              </a:defRPr>
            </a:pPr>
            <a:r>
              <a:rPr sz="675" b="1">
                <a:solidFill>
                  <a:srgbClr val="F28A4B"/>
                </a:solidFill>
              </a:rPr>
              <a:t>MUSIC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5B6088-91F5-4BB1-B57D-D6939B5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7725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11D906-1241-40F9-974A-8318330B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752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4C7E0-68F3-44DE-AEA4-E2A78479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14875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口袋播客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F3B4D4-1C50-41B9-A1CE-520BB4E7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714875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21936D"/>
                </a:solidFill>
              </a:defRPr>
            </a:pPr>
            <a:r>
              <a:rPr sz="675" b="1">
                <a:solidFill>
                  <a:srgbClr val="21936D"/>
                </a:solidFill>
              </a:rPr>
              <a:t>KNOWLEDGE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11F29E-40D9-4790-94AA-CB6D1DC6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1015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A319D5-668C-4A7F-8BF9-FCE2B186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105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71A186-F1A6-4F23-A921-CF0B68F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67300"/>
            <a:ext cx="8953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1918"/>
                </a:solidFill>
              </a:defRPr>
            </a:pPr>
            <a:r>
              <a:rPr sz="825" b="1">
                <a:solidFill>
                  <a:srgbClr val="171918"/>
                </a:solidFill>
              </a:rPr>
              <a:t>地球答案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76003B-FBAD-4BEC-88CE-8BE09009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67300"/>
            <a:ext cx="10668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2D62DD"/>
                </a:solidFill>
              </a:defRPr>
            </a:pPr>
            <a:r>
              <a:rPr sz="675" b="1">
                <a:solidFill>
                  <a:srgbClr val="2D62DD"/>
                </a:solidFill>
              </a:rPr>
              <a:t>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03FFBB-3429-475A-935D-9F9B7B19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80962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097510c02c4b2e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58150" y="72390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6D17B2-4A71-46C3-9EC1-2057A08B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2390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5DD8A7-C6FB-4FBF-974D-57ADBE5B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809625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76258df5f4b1d"/>
          <a:srcRect xmlns:a="http://schemas.openxmlformats.org/drawingml/2006/main" l="76" t="0" r="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53625" y="72390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F943AA-BF40-4895-AE23-FF4225FC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723900"/>
            <a:ext cx="1562100" cy="3390900"/>
          </a:xfrm>
          <a:prstGeom xmlns:a="http://schemas.openxmlformats.org/drawingml/2006/main" prst="roundRect">
            <a:avLst>
              <a:gd name="adj" fmla="val 7317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21CDED5-46D0-4E08-894A-85616400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62450"/>
            <a:ext cx="3457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9525">
            <a:solidFill>
              <a:srgbClr val="17191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DA39A5-8E44-40FC-866B-DAAB9FE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4400550"/>
            <a:ext cx="3324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CFFB0"/>
                </a:solidFill>
              </a:defRPr>
            </a:pPr>
            <a:r>
              <a:rPr sz="750" b="1">
                <a:solidFill>
                  <a:srgbClr val="7CFFB0"/>
                </a:solidFill>
              </a:rPr>
              <a:t>SOFTWARE ROUTES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5FFC49-9E19-450A-964C-092600D4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95825"/>
            <a:ext cx="34575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FD7C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2E2ED8-B3F3-400B-A0AC-2B30F51A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867275"/>
            <a:ext cx="3152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604F"/>
                </a:solidFill>
              </a:defRPr>
            </a:pPr>
            <a:r>
              <a:rPr sz="1050" b="1">
                <a:solidFill>
                  <a:srgbClr val="2A604F"/>
                </a:solidFill>
              </a:rPr>
              <a:t>公共 Agents → 口袋播客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B413685-B017-410F-BB97-FBF42049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81600"/>
            <a:ext cx="3152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604F"/>
                </a:solidFill>
              </a:defRPr>
            </a:pPr>
            <a:r>
              <a:rPr sz="1050" b="1">
                <a:solidFill>
                  <a:srgbClr val="2A604F"/>
                </a:solidFill>
              </a:rPr>
              <a:t>私人 Agent → 地球答案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8DA098-7120-4BBE-B665-58BEFFCC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5829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8A4B"/>
                </a:solidFill>
              </a:defRPr>
            </a:pPr>
            <a:r>
              <a:rPr sz="1050" b="1">
                <a:solidFill>
                  <a:srgbClr val="F28A4B"/>
                </a:solidFill>
              </a:rPr>
              <a:t>▲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19ED70-01FB-4BF2-8BF9-B62A781C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581977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端侧启动器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60E24C-4BD9-4DCB-A641-E298FF4A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8293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0F2C37-70CD-4054-A116-DF1FAEFB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8197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软件入口与实体目录一一对应</a:t>
            </a:r>
          </a:p>
        </p:txBody>
      </p:sp>
    </p:spTree>
    <p:extLst>
      <p:ext uri="{BB962C8B-B14F-4D97-AF65-F5344CB8AC3E}">
        <p14:creationId xmlns:p14="http://schemas.microsoft.com/office/powerpoint/2010/main" val="2176148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C55F365-AAF4-4080-A0DB-771D0770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3A262-25C9-4A72-AFF7-525F2D45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85800"/>
            <a:ext cx="27813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33DF7-A1BD-441E-8CFA-87E28102E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2514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POCKET PODCAST · EDGE SYNC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E5B224-8FFD-49C5-8EB2-4216FE8D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76350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71918"/>
                </a:solidFill>
              </a:defRPr>
            </a:pPr>
            <a:r>
              <a:rPr sz="2475" b="0">
                <a:solidFill>
                  <a:srgbClr val="171918"/>
                </a:solidFill>
              </a:rPr>
              <a:t>服务器每天编排，树莓派只读同步同一版次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4E0FF-3D82-4385-81DD-547C2F56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352675"/>
            <a:ext cx="390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936D"/>
                </a:solidFill>
              </a:defRPr>
            </a:pPr>
            <a:r>
              <a:rPr sz="1275" b="1">
                <a:solidFill>
                  <a:srgbClr val="21936D"/>
                </a:solidFill>
              </a:rPr>
              <a:t>来源、Truth Score 与 recordHash 留在文字模式；端侧不重新总结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297E0-05F8-4EFC-92AE-7575BEAB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14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1B7E5-0E8A-4A75-82A1-7B9B6444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3733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08:20 timer 拉取 podcast/v1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20F92-FAF7-47C8-BF01-649CC47D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2912B-079E-4373-83F7-EFF965DD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86175"/>
            <a:ext cx="3733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schema validator 检查状态、标题、段落与来源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7F9D9-0B03-4B60-8F67-06A38893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10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F78383-8505-41BC-BA66-620BEBBA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3733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atomic write 写入缓存；同步失败沿用 last-good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81273-B470-41F9-8DA2-2E5D26C4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57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AF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71D7D-08DD-43EB-85CD-36F94482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81525"/>
            <a:ext cx="3733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D69"/>
                </a:solidFill>
              </a:defRPr>
            </a:pPr>
            <a:r>
              <a:rPr sz="1125" b="0">
                <a:solidFill>
                  <a:srgbClr val="666D69"/>
                </a:solidFill>
              </a:rPr>
              <a:t>FROST_DISABLE_TTS=1 支持静默验收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B75CE-721F-4490-85B0-49B3CA7F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62550"/>
            <a:ext cx="385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C6DBD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012B0-64E7-4E64-84FB-8E67E852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62550"/>
            <a:ext cx="476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B6E1E-6BF0-455B-B9A0-60547C52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A604F"/>
                </a:solidFill>
              </a:defRPr>
            </a:pPr>
            <a:r>
              <a:rPr sz="1275" b="1">
                <a:solidFill>
                  <a:srgbClr val="2A604F"/>
                </a:solidFill>
              </a:rPr>
              <a:t>冷热记忆沿用知识版次策略。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06BF18-AE1E-4334-9EE5-93A10198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10225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6D69"/>
                </a:solidFill>
              </a:defRPr>
            </a:pPr>
            <a:r>
              <a:rPr sz="975" b="0">
                <a:solidFill>
                  <a:srgbClr val="666D69"/>
                </a:solidFill>
              </a:rPr>
              <a:t>完整新闻保留 7 天；入选记录与版次根进入长期精选层。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77410-EABD-47C9-89A4-2CC556E5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D67C6-3C58-4CBE-8F96-E152D949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29 / POCKET PODCAST · SOFTWARE + EDGE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2CF1B4-06BE-42C3-888F-E14BB549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742950"/>
            <a:ext cx="2476500" cy="5391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6353e2b2f434e"/>
          <a:srcRect xmlns:a="http://schemas.openxmlformats.org/drawingml/2006/main" l="218" t="0" r="2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657225"/>
            <a:ext cx="2476500" cy="53911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87C859-7C42-4072-9669-2E99AE2E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57225"/>
            <a:ext cx="2476500" cy="539115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0578BE-5F1C-4C9D-A272-33688776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42950"/>
            <a:ext cx="2476500" cy="53911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9DDDA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f331b0f4f426a"/>
          <a:srcRect xmlns:a="http://schemas.openxmlformats.org/drawingml/2006/main" l="218" t="0" r="2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91475" y="657225"/>
            <a:ext cx="2476500" cy="539115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DACF3C-0FBD-440D-9E37-65ACCFEA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657225"/>
            <a:ext cx="2476500" cy="5391150"/>
          </a:xfrm>
          <a:prstGeom xmlns:a="http://schemas.openxmlformats.org/drawingml/2006/main" prst="roundRect">
            <a:avLst>
              <a:gd name="adj" fmla="val 4615"/>
            </a:avLst>
          </a:prstGeom>
          <a:noFill xmlns:a="http://schemas.openxmlformats.org/drawingml/2006/main"/>
          <a:ln xmlns:a="http://schemas.openxmlformats.org/drawingml/2006/main" w="11906">
            <a:solidFill>
              <a:srgbClr val="4F57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7373AD-0EF3-4ED5-8BC0-827ED269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7225"/>
            <a:ext cx="1162050" cy="53911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4F575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8380AA-EA1E-4D00-9158-E6843599D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91440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B8BF3-8CC2-4F46-82D4-61B77D23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287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D62DD"/>
                </a:solidFill>
              </a:defRPr>
            </a:pPr>
            <a:r>
              <a:rPr sz="675" b="1">
                <a:solidFill>
                  <a:srgbClr val="2D62DD"/>
                </a:solidFill>
              </a:rPr>
              <a:t>08:20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DB30E-91E7-4A70-81B1-9AD0E988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22872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1918"/>
                </a:solidFill>
              </a:defRPr>
            </a:pPr>
            <a:r>
              <a:rPr sz="675" b="1">
                <a:solidFill>
                  <a:srgbClr val="171918"/>
                </a:solidFill>
              </a:rPr>
              <a:t>TIMER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05681E-F665-46AD-8D17-3702EE17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14573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2E44AF-3003-4DA3-B460-16D4FCE6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1704975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4855EC-6D8C-4E80-8EAD-F79E018F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1927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1936D"/>
                </a:solidFill>
              </a:defRPr>
            </a:pPr>
            <a:r>
              <a:rPr sz="675" b="1">
                <a:solidFill>
                  <a:srgbClr val="21936D"/>
                </a:solidFill>
              </a:rPr>
              <a:t>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665CF97-4423-404A-AA15-9FBB2FFC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193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1918"/>
                </a:solidFill>
              </a:defRPr>
            </a:pPr>
            <a:r>
              <a:rPr sz="675" b="1">
                <a:solidFill>
                  <a:srgbClr val="171918"/>
                </a:solidFill>
              </a:rPr>
              <a:t>podcast/v1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3FDFD8-F95F-475E-B8A3-24533DE1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2247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3D86A8-6F53-4F5D-96B4-CE600A18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249555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CD623A-B1BA-44B2-AB6A-8C9B9030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60985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8F70DC"/>
                </a:solidFill>
              </a:defRPr>
            </a:pPr>
            <a:r>
              <a:rPr sz="675" b="1">
                <a:solidFill>
                  <a:srgbClr val="8F70DC"/>
                </a:solidFill>
              </a:rPr>
              <a:t>VALID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68B9D3-E2FA-4BDB-A0FE-50D2A2B1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80987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1918"/>
                </a:solidFill>
              </a:defRPr>
            </a:pPr>
            <a:r>
              <a:rPr sz="675" b="1">
                <a:solidFill>
                  <a:srgbClr val="171918"/>
                </a:solidFill>
              </a:rPr>
              <a:t>SCHEMA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4F3F23-CEEA-4237-B189-CCEBDA6EC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0384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↓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E70A05-95A9-449E-8732-86D31B66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3286125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44A0BB-2B30-4841-8D9B-FC7BB6E9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40042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28A4B"/>
                </a:solidFill>
              </a:defRPr>
            </a:pPr>
            <a:r>
              <a:rPr sz="675" b="1">
                <a:solidFill>
                  <a:srgbClr val="F28A4B"/>
                </a:solidFill>
              </a:rPr>
              <a:t>WRITE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826B30-5DF3-4C93-A03D-56A62AC0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60045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1918"/>
                </a:solidFill>
              </a:defRPr>
            </a:pPr>
            <a:r>
              <a:rPr sz="675" b="1">
                <a:solidFill>
                  <a:srgbClr val="171918"/>
                </a:solidFill>
              </a:rPr>
              <a:t>ATOMIC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67FE5F-D5C3-4506-B9A0-3051BCA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82905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E39BC6-444C-4174-9414-CE1771C4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076700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FABED1-F369-4F54-99BA-632B1FA0E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910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F766D"/>
                </a:solidFill>
              </a:defRPr>
            </a:pPr>
            <a:r>
              <a:rPr sz="675" b="1">
                <a:solidFill>
                  <a:srgbClr val="EF766D"/>
                </a:solidFill>
              </a:rPr>
              <a:t>FALLBACK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0FA1597-DB91-4F77-880F-E6ADCDF2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39102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1918"/>
                </a:solidFill>
              </a:defRPr>
            </a:pPr>
            <a:r>
              <a:rPr sz="675" b="1">
                <a:solidFill>
                  <a:srgbClr val="171918"/>
                </a:solidFill>
              </a:rPr>
              <a:t>LAST-GOOD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78917DB-EA7C-494E-BDB1-EA46323F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4619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A604F"/>
                </a:solidFill>
              </a:defRPr>
            </a:pPr>
            <a:r>
              <a:rPr sz="1575" b="1">
                <a:solidFill>
                  <a:srgbClr val="2A604F"/>
                </a:solidFill>
              </a:rPr>
              <a:t>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882869-4F84-4107-9E9D-96DE7D8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4867275"/>
            <a:ext cx="914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2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79A727-293B-43DA-A244-88AEF482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981575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9B9AD"/>
                </a:solidFill>
              </a:defRPr>
            </a:pPr>
            <a:r>
              <a:rPr sz="675" b="1">
                <a:solidFill>
                  <a:srgbClr val="39B9AD"/>
                </a:solidFill>
              </a:rPr>
              <a:t>READ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1F8D6E-39F6-4E57-B79C-F839C517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181600"/>
            <a:ext cx="781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71918"/>
                </a:solidFill>
              </a:defRPr>
            </a:pPr>
            <a:r>
              <a:rPr sz="675" b="1">
                <a:solidFill>
                  <a:srgbClr val="171918"/>
                </a:solidFill>
              </a:rPr>
              <a:t>LAUNCHER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FF12A4-A360-434E-B406-584D035B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6172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2DD"/>
                </a:solidFill>
              </a:defRPr>
            </a:pPr>
            <a:r>
              <a:rPr sz="1050" b="1">
                <a:solidFill>
                  <a:srgbClr val="2D62DD"/>
                </a:solidFill>
              </a:rPr>
              <a:t>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F19F8CA-2E19-405F-AE29-8E7B47D0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61626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文字模式 · 来源账本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4A5833-569F-4AA2-B8FC-F675E2E72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61722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1936D"/>
                </a:solidFill>
              </a:defRPr>
            </a:pPr>
            <a:r>
              <a:rPr sz="1050" b="1">
                <a:solidFill>
                  <a:srgbClr val="21936D"/>
                </a:solidFill>
              </a:rPr>
              <a:t>▲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781CC4F-C8C4-4CEC-8A02-D765FE35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1626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66D69"/>
                </a:solidFill>
              </a:defRPr>
            </a:pPr>
            <a:r>
              <a:rPr sz="1050" b="0">
                <a:solidFill>
                  <a:srgbClr val="666D69"/>
                </a:solidFill>
              </a:rPr>
              <a:t>播客模式 · 第二条静默预览</a:t>
            </a:r>
          </a:p>
        </p:txBody>
      </p:sp>
    </p:spTree>
    <p:extLst>
      <p:ext uri="{BB962C8B-B14F-4D97-AF65-F5344CB8AC3E}">
        <p14:creationId xmlns:p14="http://schemas.microsoft.com/office/powerpoint/2010/main" val="46715420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E824CA-63D0-4D35-9FA8-262E1FFF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9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A98F1-3861-41C3-96AC-6430D5D9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433387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1936D"/>
          </a:solidFill>
          <a:ln xmlns:a="http://schemas.openxmlformats.org/drawingml/2006/main" w="0">
            <a:solidFill>
              <a:srgbClr val="21936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8E867-1DA9-4F07-89B4-188306C1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4067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PUBLIC EVENT BRIDGE · SECURITY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00FEB-34AB-44A1-9BF1-4F1B09D7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66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171918"/>
                </a:solidFill>
              </a:defRPr>
            </a:pPr>
            <a:r>
              <a:rPr sz="2625" b="0">
                <a:solidFill>
                  <a:srgbClr val="171918"/>
                </a:solidFill>
              </a:rPr>
              <a:t>事件合同只开放三类动作，其他数据到不了设备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CCFB0-C50A-484A-AC3E-13EA057F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936D"/>
                </a:solidFill>
              </a:defRPr>
            </a:pPr>
            <a:r>
              <a:rPr sz="1125" b="1">
                <a:solidFill>
                  <a:srgbClr val="21936D"/>
                </a:solidFill>
              </a:rPr>
              <a:t>public read → server template → token feed → replay cursor → state / display / tts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BBB15-73FC-420D-BA07-5CC0D2AF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381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57FD5-1CF9-4416-AA61-1BCA7111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38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60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D9A52-AA02-4416-90AA-2794425C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962150"/>
            <a:ext cx="3057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ALLOW · 设备可接收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9FC762-AABF-4F20-B011-24044189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3ED17-B96C-4681-897F-985C52A0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B7800-C37D-4E19-901D-61E9B94E2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384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991951-E16B-4860-8E32-AE60E3C4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431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41D702-0491-4F37-8B8D-0FD411B6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5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空闲 / 读取 / 播报 / 异常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9C469-5781-4C3C-A254-4BC3042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24200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EE5DE-4240-4FD1-8CC9-B2C8B05C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BEA15D-1086-4468-8AF2-86A6898A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147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C7093B-F896-447F-9F99-0561A23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19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44EB4-7C18-45A3-832B-3D163745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29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公开 agentId / revision / root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5D735-9A28-479F-8505-71795444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00475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A06CAB-47CF-464B-B01F-EE70AD45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1192D9-149B-4B3A-91E7-5B0631D5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909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FA1B16-14FC-457F-AC01-54855A3A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95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TTS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1BA25A-B50F-48BB-B181-0CCA79A7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052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服务端审核模板生成的 speak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2D90F3-EC55-407E-8B8A-F0956A68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8AD9B9-F0A6-43AC-8FFA-F497EC3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3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7415B8-B58F-49ED-8CD9-38CF7C60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9880DE-B0EE-434A-A5C8-EE952AA5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72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PUBLIC LINK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5DEEEE-D6F9-43E4-AF64-C11D5F32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781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公开交易与区块浏览器链接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5F1574-E285-4CD5-BC88-4D1BE45E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57375"/>
            <a:ext cx="33909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0F0E"/>
          </a:solidFill>
          <a:ln xmlns:a="http://schemas.openxmlformats.org/drawingml/2006/main" w="0">
            <a:solidFill>
              <a:srgbClr val="0C0F0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E9F04-C829-4126-A88C-FE4E4DFE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76450"/>
            <a:ext cx="2914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CFFB0"/>
                </a:solidFill>
              </a:defRPr>
            </a:pPr>
            <a:r>
              <a:rPr sz="1125" b="1">
                <a:solidFill>
                  <a:srgbClr val="7CFFB0"/>
                </a:solidFill>
              </a:rPr>
              <a:t>JSONL EVENT ENVELOPE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EFD578-EC64-4039-BA7D-4B0431956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495550"/>
            <a:ext cx="28003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{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"eventType": "chain_dispatch",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"cursor": "evt-20260720-…",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"agentId": 43,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"revision": 1,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"editionRoot": "0x…",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"actions": [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  "state", "display", "tts"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  ]</a:t>
            </a:r>
          </a:p>
          <a:p xmlns:a="http://schemas.openxmlformats.org/drawingml/2006/main">
            <a:pPr algn="l">
              <a:defRPr sz="975" b="0">
                <a:solidFill>
                  <a:srgbClr val="FFFFFF"/>
                </a:solidFill>
              </a:defRPr>
            </a:pPr>
            <a:r>
              <a:rPr sz="975" b="0">
                <a:solidFill>
                  <a:srgbClr val="FFFFFF"/>
                </a:solidFill>
              </a:rPr>
              <a:t>}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A77879-556E-4811-B0AB-00571555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387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3181B1-7787-4909-BC54-C63E510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19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C84A"/>
                </a:solidFill>
              </a:defRPr>
            </a:pPr>
            <a:r>
              <a:rPr sz="900" b="1">
                <a:solidFill>
                  <a:srgbClr val="F4C84A"/>
                </a:solidFill>
              </a:rPr>
              <a:t>Bearer token 控制 feed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AEB081-F9AD-4363-BE48-B4962345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578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4C84A"/>
                </a:solidFill>
              </a:defRPr>
            </a:pPr>
            <a:r>
              <a:rPr sz="900" b="1">
                <a:solidFill>
                  <a:srgbClr val="F4C84A"/>
                </a:solidFill>
              </a:rPr>
              <a:t>cursor 阻止重复播报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20876D-70CF-4BA4-8DB9-979BA321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338137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17191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4338AE-4B45-4AE9-A159-6F80C583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57375"/>
            <a:ext cx="338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AB378B4-D424-443D-B4DD-617A99AB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30575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BLOCK · 设备永不接收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1C27E-324D-465F-BC0B-460874E6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447925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DE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2EB208-0BD7-4057-9C46-BC95F030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1937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0A71F9-7500-48F9-A999-E821F630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3842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98C1A7E-CF9D-42CD-B93B-0CBCB914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431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PRIVATE KEY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D08A5C-63A7-4CAF-A25A-99A924CB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52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钱包私钥与签名权限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66D49F-E958-4B52-82DC-C89A78289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124200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DE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43B431-3DC2-4526-8609-62A5A33B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9565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187229C-55C9-49D6-A6F2-7DADE598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470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095320-B511-4363-B730-FA774F5B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194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PRIVATE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5703A5-2395-42BD-A3BA-76B67669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29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私人画像、照片原图、完整对话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7D9298-A9E1-4917-B3BD-7A804268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800475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DE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CF623D-371A-4BE3-84EE-AA41305A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971925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3446AB-D48B-4988-90BC-E577990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90975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9A7CE9-1247-4F34-8B5B-75D78245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EXACT LOCATION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F90701-B0AD-4348-BE26-831C57F6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0527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现实住址与精确个人坐标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D0043C-3304-4031-B02B-E6FB35EF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76750"/>
            <a:ext cx="30384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DE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F8831A-8B26-4455-AF8D-227DF525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482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66D"/>
          </a:solidFill>
          <a:ln xmlns:a="http://schemas.openxmlformats.org/drawingml/2006/main" w="7620">
            <a:solidFill>
              <a:srgbClr val="17191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694CA4B-51AA-4E14-989D-3D1BE400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67250"/>
            <a:ext cx="152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01F749A-7FF4-4A58-B018-2B19D1A3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72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1918"/>
                </a:solidFill>
              </a:defRPr>
            </a:pPr>
            <a:r>
              <a:rPr sz="975" b="1">
                <a:solidFill>
                  <a:srgbClr val="171918"/>
                </a:solidFill>
              </a:rPr>
              <a:t>RAW CHAIN TEXT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FD80A78-26ED-49D3-8241-8B08DF3A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815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6D69"/>
                </a:solidFill>
              </a:defRPr>
            </a:pPr>
            <a:r>
              <a:rPr sz="900" b="0">
                <a:solidFill>
                  <a:srgbClr val="666D69"/>
                </a:solidFill>
              </a:rPr>
              <a:t>任意链上文本直接送入扬声器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C7CA3F-29CB-4279-9565-BA824064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48350"/>
            <a:ext cx="11239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1EA"/>
          </a:solidFill>
          <a:ln xmlns:a="http://schemas.openxmlformats.org/drawingml/2006/main" w="9525">
            <a:solidFill>
              <a:srgbClr val="BCD8CA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4507BBC-5CB2-42DD-8C65-54F48BC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72175"/>
            <a:ext cx="10896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A604F"/>
                </a:solidFill>
              </a:defRPr>
            </a:pPr>
            <a:r>
              <a:rPr sz="1200" b="1">
                <a:solidFill>
                  <a:srgbClr val="2A604F"/>
                </a:solidFill>
              </a:rPr>
              <a:t>软件、Injective 与硬件通过事件合同解耦；任一侧异常都能独立回退。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C47248D-5567-4F86-BA90-E705E484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315075"/>
            <a:ext cx="357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CD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A8ACC7E-B48D-48B7-A9A0-68E35C7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103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8B918D"/>
                </a:solidFill>
              </a:defRPr>
            </a:pPr>
            <a:r>
              <a:rPr sz="825" b="0">
                <a:solidFill>
                  <a:srgbClr val="8B918D"/>
                </a:solidFill>
              </a:rPr>
              <a:t>30 / PUBLIC EVENT BRIDGE · SECURITY CONTRACT</a:t>
            </a:r>
          </a:p>
        </p:txBody>
      </p:sp>
    </p:spTree>
    <p:extLst>
      <p:ext uri="{BB962C8B-B14F-4D97-AF65-F5344CB8AC3E}">
        <p14:creationId xmlns:p14="http://schemas.microsoft.com/office/powerpoint/2010/main" val="6086505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2026-07-19T16:38:07.0810000Z</dcterms:created>
  <dcterms:modified xsi:type="dcterms:W3CDTF">2026-07-19T16:38:07.0810000Z</dcterms:modified>
</coreProperties>
</file>