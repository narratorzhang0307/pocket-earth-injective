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638e82155d420b" /><Relationship Type="http://schemas.openxmlformats.org/officeDocument/2006/relationships/extended-properties" Target="/docProps/app.xml" Id="Rf519570cce244dea" /><Relationship Type="http://schemas.openxmlformats.org/officeDocument/2006/relationships/officeDocument" Target="/ppt/presentation.xml" Id="R0f087904f3b44d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d01876f6664401"/>
  </p:sldMasterIdLst>
  <p:notesMasterIdLst>
    <p:notesMasterId xmlns:r="http://schemas.openxmlformats.org/officeDocument/2006/relationships" r:id="Rf5d84cc8940d412d"/>
  </p:notesMasterIdLst>
  <p:sldIdLst>
    <p:sldId xmlns:r="http://schemas.openxmlformats.org/officeDocument/2006/relationships" id="256" r:id="Rd6542f8280c44195"/>
    <p:sldId xmlns:r="http://schemas.openxmlformats.org/officeDocument/2006/relationships" id="257" r:id="Rc3907d678b62498d"/>
    <p:sldId xmlns:r="http://schemas.openxmlformats.org/officeDocument/2006/relationships" id="258" r:id="R828982b61dea4e80"/>
    <p:sldId xmlns:r="http://schemas.openxmlformats.org/officeDocument/2006/relationships" id="259" r:id="R7b04679104154f2f"/>
    <p:sldId xmlns:r="http://schemas.openxmlformats.org/officeDocument/2006/relationships" id="260" r:id="Rf18981913b974d6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a273242ba14dd6" /><Relationship Type="http://schemas.openxmlformats.org/officeDocument/2006/relationships/slideMaster" Target="/ppt/slideMasters/slideMaster1.xml" Id="R96d01876f6664401" /><Relationship Type="http://schemas.openxmlformats.org/officeDocument/2006/relationships/notesMaster" Target="/ppt/notesMasters/notesMaster1.xml" Id="Rf5d84cc8940d412d" /><Relationship Type="http://schemas.openxmlformats.org/officeDocument/2006/relationships/presProps" Target="/ppt/presProps.xml" Id="Rdb4b61bfb17b4401" /><Relationship Type="http://schemas.openxmlformats.org/officeDocument/2006/relationships/tableStyles" Target="/ppt/tableStyles.xml" Id="R4f2de718bfbf43cb" /><Relationship Type="http://schemas.openxmlformats.org/officeDocument/2006/relationships/slide" Target="/ppt/slides/slide1.xml" Id="Rd6542f8280c44195" /><Relationship Type="http://schemas.openxmlformats.org/officeDocument/2006/relationships/slide" Target="/ppt/slides/slide2.xml" Id="Rc3907d678b62498d" /><Relationship Type="http://schemas.openxmlformats.org/officeDocument/2006/relationships/slide" Target="/ppt/slides/slide3.xml" Id="R828982b61dea4e80" /><Relationship Type="http://schemas.openxmlformats.org/officeDocument/2006/relationships/slide" Target="/ppt/slides/slide4.xml" Id="R7b04679104154f2f" /><Relationship Type="http://schemas.openxmlformats.org/officeDocument/2006/relationships/slide" Target="/ppt/slides/slide5.xml" Id="Rf18981913b974d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7aeffd0cf642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627879721e4f73" /><Relationship Type="http://schemas.openxmlformats.org/officeDocument/2006/relationships/notesMaster" Target="/ppt/notesMasters/notesMaster1.xml" Id="R55f134ed34d54d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3455c2cd76426a" /><Relationship Type="http://schemas.openxmlformats.org/officeDocument/2006/relationships/notesMaster" Target="/ppt/notesMasters/notesMaster1.xml" Id="Rd17a5e6c50e94b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ed59d61a734ff0" /><Relationship Type="http://schemas.openxmlformats.org/officeDocument/2006/relationships/notesMaster" Target="/ppt/notesMasters/notesMaster1.xml" Id="Red478c61166d4f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ef6111cca643a5" /><Relationship Type="http://schemas.openxmlformats.org/officeDocument/2006/relationships/notesMaster" Target="/ppt/notesMasters/notesMaster1.xml" Id="R097c7802c4eb48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7a1b4775a344b3" /><Relationship Type="http://schemas.openxmlformats.org/officeDocument/2006/relationships/notesMaster" Target="/ppt/notesMasters/notesMaster1.xml" Id="Rf88a869f2e3c42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这是一条完整的用户旅程。用户拍下一张票根，端侧先识别并处理敏感信息；Frost 给出地点建议，用户确认后才写入地图。同一座城里的书、电影、音乐、照片和行程逐步汇聚，形成长期空间记忆。公开 Agent 随后可以在 Public Earth 获取经过验证的知识，Frost Edge Node 再把这些公开见闻带回房间。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手机端保留三个主入口。Photos 用时间、日历和杂志回望照片；中间的 Earth 在私人知识地图与公共地球之间切换；Agents 承载 Frost Harness、领域 Agent、Forge 和 Plaza。三个入口共享同一套空间对象和长期记忆，任何经过确认的结果最终都会回到用户自己的地球。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这张图是整个产品的边界。私人空间层在端侧组织人生；公共 Agent 层承载公开身份与关系；公共知识层把真实信号做成可下载版次；实体层让公开事件进入现实房间。我们的原则很简单：渲染在端上，内容在包里，指纹在 Injective。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Pocket Earth 最早解决的是个人记忆。很多时候，我们忘了标题和日期，却记得那本书在哪读完、那首歌在哪听见。Frost 把书影音、照片、行程和心情组织到地理坐标上。自动化只负责给建议，用户确认后才落点；敏感原文和精确位置继续留在端侧。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Frost 把短期上下文和长期画像分开管理。工作记忆服务当前任务，让连续对话保持连贯；长期层只沉淀作者、导演、流派和城市等结构化偏好。原始照片、票据、心情原文与精确坐标优先留在端侧。memoryRouter 会根据任务选择最少上下文，让 Frost 越用越懂用户，也让调用成本和隐私暴露保持可控。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7eb23e3a7543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1e5cffa9644d77" /><Relationship Type="http://schemas.openxmlformats.org/officeDocument/2006/relationships/slideLayout" Target="/ppt/slideLayouts/slideLayout1.xml" Id="R8a258d2574e441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258d2574e441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f9d9fac8e4e63" /><Relationship Type="http://schemas.openxmlformats.org/officeDocument/2006/relationships/image" Target="/ppt/media/image.png" Id="R2d9f5b1391d74c3a" /><Relationship Type="http://schemas.openxmlformats.org/officeDocument/2006/relationships/image" Target="/ppt/media/image2.png" Id="R159900b699194214" /><Relationship Type="http://schemas.openxmlformats.org/officeDocument/2006/relationships/image" Target="/ppt/media/image3.png" Id="R13db9513687447ff" /><Relationship Type="http://schemas.openxmlformats.org/officeDocument/2006/relationships/image" Target="/ppt/media/image4.png" Id="R5eba2582e3ed46c3" /><Relationship Type="http://schemas.openxmlformats.org/officeDocument/2006/relationships/image" Target="/ppt/media/image5.png" Id="R936cfc5d040b42e3" /><Relationship Type="http://schemas.openxmlformats.org/officeDocument/2006/relationships/notesSlide" Target="/ppt/notesSlides/notesSlide1.xml" Id="R7814c9f0b5bb4c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3638e520e45eb" /><Relationship Type="http://schemas.openxmlformats.org/officeDocument/2006/relationships/image" Target="/ppt/media/image6.png" Id="R326d4441e0f04973" /><Relationship Type="http://schemas.openxmlformats.org/officeDocument/2006/relationships/image" Target="/ppt/media/image7.png" Id="Rc7eaefcc7a744825" /><Relationship Type="http://schemas.openxmlformats.org/officeDocument/2006/relationships/notesSlide" Target="/ppt/notesSlides/notesSlide2.xml" Id="R324a3d414e644e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b18538ead49db" /><Relationship Type="http://schemas.openxmlformats.org/officeDocument/2006/relationships/notesSlide" Target="/ppt/notesSlides/notesSlide3.xml" Id="R2abb893f90d34b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67c3434b640a6" /><Relationship Type="http://schemas.openxmlformats.org/officeDocument/2006/relationships/image" Target="/ppt/media/image8.png" Id="R3ca2a457cf6f4fe2" /><Relationship Type="http://schemas.openxmlformats.org/officeDocument/2006/relationships/image" Target="/ppt/media/image9.png" Id="Rcc6b5dd2383242da" /><Relationship Type="http://schemas.openxmlformats.org/officeDocument/2006/relationships/notesSlide" Target="/ppt/notesSlides/notesSlide4.xml" Id="Ra8a04c39e59942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9493001f34ffd" /><Relationship Type="http://schemas.openxmlformats.org/officeDocument/2006/relationships/notesSlide" Target="/ppt/notesSlides/notesSlide5.xml" Id="Re3f556653c0d4b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303D054-BC88-4A64-B537-C02DA4DD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B55AC-E3F3-43E1-B629-FD229098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2133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3198B-7F2A-47FE-99DC-A5806166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ONE USER JOURNEY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D5996-DA23-46E0-B7EF-131E7FF9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71918"/>
                </a:solidFill>
              </a:defRPr>
            </a:pPr>
            <a:r>
              <a:rPr sz="2625" b="0">
                <a:solidFill>
                  <a:srgbClr val="171918"/>
                </a:solidFill>
              </a:rPr>
              <a:t>一张生活碎片，怎样长成属于你的地球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DEBA4-EBEE-4A62-B973-74921444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936D"/>
                </a:solidFill>
              </a:defRPr>
            </a:pPr>
            <a:r>
              <a:rPr sz="1350" b="1">
                <a:solidFill>
                  <a:srgbClr val="21936D"/>
                </a:solidFill>
              </a:rPr>
              <a:t>端侧处理 → 用户确认 → 空间记忆 → Frost 回响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C634D-76C7-428E-AE58-FF873A21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09775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f5b1391d74c3a"/>
          <a:srcRect xmlns:a="http://schemas.openxmlformats.org/drawingml/2006/main" l="76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924050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0FC8B-2E7F-4ABB-AD8B-81EABEF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24050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2BFF06-4C26-4BF5-87B4-ADADD4A6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2DD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B6F56-3E68-4EB9-B799-CF994A5D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790F6-E97A-406F-ACBC-675D80FE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6735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拍下 / 记下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27A7D-F08C-47FD-A8CE-7250BF87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724525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一句话或一张截图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3C3E1-E506-409B-9569-A87B2579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3147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936D"/>
                </a:solidFill>
              </a:defRPr>
            </a:pPr>
            <a:r>
              <a:rPr sz="1800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E9CDE-0E21-4B90-9B24-7B1E9CF4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009775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9900b699194214"/>
          <a:srcRect xmlns:a="http://schemas.openxmlformats.org/drawingml/2006/main" l="76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5600" y="1924050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8F2094-75B3-4BE8-871A-DFF3C2E8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24050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2140E-ECD9-4991-BA73-5D72872B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6DD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DB87F-8532-4C86-AE57-58376888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847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EEB0D2-2A2E-488C-B31D-3E3755D8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6735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端侧处理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7E7A53-F45A-4A5D-BCD3-E0D3B6B8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724525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原图优先不出手机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1A33F3-4223-42CF-8158-2B11E82B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147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936D"/>
                </a:solidFill>
              </a:defRPr>
            </a:pPr>
            <a:r>
              <a:rPr sz="1800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E29E9-B491-4DEA-B1E2-8512E42B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09775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b9513687447ff"/>
          <a:srcRect xmlns:a="http://schemas.openxmlformats.org/drawingml/2006/main" l="76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14950" y="1924050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2EE73B-6A42-491F-AB6D-4D7C0BCE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24050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634F4C-E2DE-4961-829A-7C8F5369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907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FA0DAA-A9F1-4CE2-BF94-B6188269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47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82BB3C-0A29-4FA0-BA7C-2AE59F0D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46735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建议地点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F3D44F-FF12-440B-A23C-4C97F23C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724525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用户确认后才钉回地球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D997D1-F4DB-4401-9D50-AE68EDBD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147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936D"/>
                </a:solidFill>
              </a:defRPr>
            </a:pPr>
            <a:r>
              <a:rPr sz="1800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6A24EB-4130-45FC-B8CC-8F43B1327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009775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ba2582e3ed46c3"/>
          <a:srcRect xmlns:a="http://schemas.openxmlformats.org/drawingml/2006/main" l="76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1924050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68B1AA-6C26-470A-A24A-15E01786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24050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5BDB3D-AAFF-4227-922A-8D9ED91B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907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70DC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AD62DC-CB48-47A7-B4A3-75204278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47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FF22C6-7212-4248-A348-34ABF828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6735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空间汇聚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6DE707-B588-4163-8053-D1606D42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724525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时间与地点重建上下文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BA76B5-DE2A-4443-A1CC-C0FFCBC5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147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936D"/>
                </a:solidFill>
              </a:defRPr>
            </a:pPr>
            <a:r>
              <a:rPr sz="1800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7F0A9B-E875-4EF4-B06F-E327846C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009775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cfc5d040b42e3"/>
          <a:srcRect xmlns:a="http://schemas.openxmlformats.org/drawingml/2006/main" l="76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53650" y="1924050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7B5504-9CB3-4D0E-A530-1272E9DF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924050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EB1A66-BC1A-4BE0-87B2-AE90ED63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790700"/>
            <a:ext cx="34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4B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380D6E-5277-4937-ABB6-12045229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847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3878CB-B3A6-45B7-AAB5-468DE0E0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467350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Frost 带回见闻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792DC3-E91A-47A3-A7C2-8BE8FCA0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724525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D69"/>
                </a:solidFill>
              </a:defRPr>
            </a:pPr>
            <a:r>
              <a:rPr sz="825" b="0">
                <a:solidFill>
                  <a:srgbClr val="666D69"/>
                </a:solidFill>
              </a:rPr>
              <a:t>同一角色继续理解用户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2EE9C8-9255-415B-AD85-31B1742A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19825"/>
            <a:ext cx="1123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07E43B-50AC-4E52-9F65-3FCD8329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6270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私人内容不进入公开路径；建议与确认之间，始终保留用户的决定。</a:t>
            </a:r>
          </a:p>
        </p:txBody>
      </p:sp>
    </p:spTree>
    <p:extLst>
      <p:ext uri="{BB962C8B-B14F-4D97-AF65-F5344CB8AC3E}">
        <p14:creationId xmlns:p14="http://schemas.microsoft.com/office/powerpoint/2010/main" val="3130555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2D3956-0700-4240-9806-228EB89F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04A60-AE6B-47AF-A44B-B88213CB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30003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20701-1DE8-43BF-9C1D-4FFEDFDB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2733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THREE ENTRANCES · ONE EARTH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BF702-0572-48EC-86A3-1A3EAB59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三个入口，共用同一颗地球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B4A74-224E-47E6-AA9A-E745C08C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3837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1936D"/>
                </a:solidFill>
              </a:defRPr>
            </a:pPr>
            <a:r>
              <a:rPr sz="1425" b="1">
                <a:solidFill>
                  <a:srgbClr val="21936D"/>
                </a:solidFill>
              </a:rPr>
              <a:t>Photos 看回忆，Earth 看全局，Agents 让一切运转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2D5B32-3088-460D-ADAD-D947EAAC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14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F56D4-1DB1-4F0D-A777-6CDC62D1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PHOTOS：时间、日历与杂志视图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90A78-D2D9-47CB-AD07-081B09EE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17AEB9-173B-449E-9874-E0170031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EARTH：私人知识地图与公共地球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DA468-4927-4886-B86F-901BB525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48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88106-672F-42A4-9076-69C9D587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7195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D69"/>
                </a:solidFill>
              </a:defRPr>
            </a:pPr>
            <a:r>
              <a:rPr sz="1200" b="0">
                <a:solidFill>
                  <a:srgbClr val="666D69"/>
                </a:solidFill>
              </a:rPr>
              <a:t>AGENTS：Frost、领域 Agent、Forge 与 Plaza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40E55B-9712-4E81-99D8-7EFA49CD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37528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33B7D-24C3-4666-84A1-F241129D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32BB7-D93C-4C49-BA8B-F7C58879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19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确认后的结果，最终都回到 Pocket Earth。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542DE-F635-4F03-918D-36B7DC44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界面有三个入口，产品只有一个空间主轴。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6FA816-F36B-4551-BF2C-AF90948E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449DD-9B5D-4370-B528-BEF88483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07 / THREE ENTRANCES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A8D3F-ABBF-43B4-8FC8-DDC256B7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d4441e0f04973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157377-2860-4886-9B1F-5F99C0D0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9E6EAF-85A5-4E3C-955D-0B54C0F6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aefcc7a744825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455821-6CE9-4A2B-B474-F34E8F54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5341FD-01A8-42E0-94C2-82D53A78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FBCE3A-0CBD-44AB-A0E0-CD3CE802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674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PHOTOS · 用杂志与时间回望私人照片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4A0121-D57B-41D4-9C37-8076778A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EE0DFA-F807-4072-87D1-55822FDA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AGENTS · Frost 与专业 Agent 分工</a:t>
            </a:r>
          </a:p>
        </p:txBody>
      </p:sp>
    </p:spTree>
    <p:extLst>
      <p:ext uri="{BB962C8B-B14F-4D97-AF65-F5344CB8AC3E}">
        <p14:creationId xmlns:p14="http://schemas.microsoft.com/office/powerpoint/2010/main" val="12505809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30A07F-DE38-4E25-AC41-D4DA9030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7DC3A-04EC-451D-B276-FDAF4532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19812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161D2A-F236-4325-9865-FEB9F6D3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914B6-254F-47E9-A1F4-1B3F3814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1918"/>
                </a:solidFill>
              </a:defRPr>
            </a:pPr>
            <a:r>
              <a:rPr sz="2700" b="0">
                <a:solidFill>
                  <a:srgbClr val="171918"/>
                </a:solidFill>
              </a:rPr>
              <a:t>一颗地球，连接四个职责清楚的层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7C1F8-FCF1-4E6B-8C46-497B7F01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936D"/>
                </a:solidFill>
              </a:defRPr>
            </a:pPr>
            <a:r>
              <a:rPr sz="1350" b="1">
                <a:solidFill>
                  <a:srgbClr val="21936D"/>
                </a:solidFill>
              </a:rPr>
              <a:t>私人空间 · 公共 Agent · 公共知识 · 实体交互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CDC6B-F2AD-48FB-ADDF-1E1D476A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1123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A"/>
          </a:solidFill>
          <a:ln xmlns:a="http://schemas.openxmlformats.org/drawingml/2006/main" w="11906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8BCCF-D066-4760-8905-D91AC60E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19300"/>
            <a:ext cx="723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366C8D-9183-4BDF-8A54-5819180A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2D165-A1D0-4A93-B4FC-B13E518C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8"/>
                </a:solidFill>
              </a:defRPr>
            </a:pPr>
            <a:r>
              <a:rPr sz="1500" b="1">
                <a:solidFill>
                  <a:srgbClr val="171918"/>
                </a:solidFill>
              </a:rPr>
              <a:t>私人空间层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1620E-D74D-4BF8-8CA3-23841983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669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604F"/>
                </a:solidFill>
              </a:defRPr>
            </a:pPr>
            <a:r>
              <a:rPr sz="975" b="1">
                <a:solidFill>
                  <a:srgbClr val="2A604F"/>
                </a:solidFill>
              </a:rPr>
              <a:t>手机 / 本地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ABFEB-3CCD-40AF-ABE7-3AE1D8A7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43125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0279E-117B-401C-BFC6-EC6E4EC0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431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书、影、乐、照片、行程、心情与长期画像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14643-BD5C-4F51-8440-398239E9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38400"/>
            <a:ext cx="3905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原始私人内容不进入公开路径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9A4F3-0B0F-4BED-9C9F-9C094D47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5265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2957B-1A69-44E0-B762-DA628545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1918"/>
                </a:solidFill>
              </a:defRPr>
            </a:pPr>
            <a:r>
              <a:rPr sz="825" b="1">
                <a:solidFill>
                  <a:srgbClr val="171918"/>
                </a:solidFill>
              </a:rPr>
              <a:t>PRIVATE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2B220-796A-4C6B-893F-D198DD8A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00300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不上公开链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F966F-20D0-4B0C-B144-18E2256F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0"/>
            <a:ext cx="1123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8FA"/>
          </a:solidFill>
          <a:ln xmlns:a="http://schemas.openxmlformats.org/drawingml/2006/main" w="11906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CE6359-DA6D-4BBA-8680-302274FD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52750"/>
            <a:ext cx="723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7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A2C1E-6E2D-4AFC-B50C-0F9E2F8B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813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4AFB50-287C-45F5-8D41-4DBB5FE7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765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8"/>
                </a:solidFill>
              </a:defRPr>
            </a:pPr>
            <a:r>
              <a:rPr sz="1500" b="1">
                <a:solidFill>
                  <a:srgbClr val="171918"/>
                </a:solidFill>
              </a:rPr>
              <a:t>公共 Agent 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BFDD89-27D2-4BB6-8AA4-1EB4FDB0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004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604F"/>
                </a:solidFill>
              </a:defRPr>
            </a:pPr>
            <a:r>
              <a:rPr sz="975" b="1">
                <a:solidFill>
                  <a:srgbClr val="2A604F"/>
                </a:solidFill>
              </a:rPr>
              <a:t>服务端 / 公开身份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E05D5-2368-40BF-9E93-95471217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76575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1E6A23-D1E2-4C93-8F5A-0789A229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身份、象征门牌、身份卡与公开关系事件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54CF26-1504-47F6-A997-9EFB64C9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3905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Agent 推理与工具调用保持在链下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142815-CE73-4F2E-B58E-7D676309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8610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BB08EE-FEC3-4399-85CB-9F772B10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24200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A604F"/>
                </a:solidFill>
              </a:defRPr>
            </a:pPr>
            <a:r>
              <a:rPr sz="825" b="1">
                <a:solidFill>
                  <a:srgbClr val="2A604F"/>
                </a:solidFill>
              </a:rPr>
              <a:t>PUBLIC IDENTITY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3A4B1C-D452-46DB-8C51-B44A405B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33750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公开、持久、可审计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13277E-C076-484C-8758-9C610B93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1123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C"/>
          </a:solidFill>
          <a:ln xmlns:a="http://schemas.openxmlformats.org/drawingml/2006/main" w="11906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DEEF46-4BC1-4D3D-A410-3842E40D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86200"/>
            <a:ext cx="723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7ADC71-9970-4FA9-80F1-BA50D139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1480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0CE825-4156-4564-A703-2FA61944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100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8"/>
                </a:solidFill>
              </a:defRPr>
            </a:pPr>
            <a:r>
              <a:rPr sz="1500" b="1">
                <a:solidFill>
                  <a:srgbClr val="171918"/>
                </a:solidFill>
              </a:rPr>
              <a:t>公共知识层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420877-85F0-4AA2-BCA6-5A36A015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604F"/>
                </a:solidFill>
              </a:defRPr>
            </a:pPr>
            <a:r>
              <a:rPr sz="975" b="1">
                <a:solidFill>
                  <a:srgbClr val="2A604F"/>
                </a:solidFill>
              </a:rPr>
              <a:t>资源包 / Injective 指纹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F66184-552A-4770-A017-56BDECA5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10025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9068C2-6D3C-44D4-91E2-74A6C1A8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100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真实新闻、核验记录、资源包与每日知识版次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BEA1AD-FEF9-459C-B7ED-1C6EABA9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05300"/>
            <a:ext cx="3905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内容在包里，Merkle 根在 Injective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8F2F1E-713C-426C-9B6E-ADFD6B25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1955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C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E7935B-B345-4C4D-AB8A-FB9BAF04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57650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A604F"/>
                </a:solidFill>
              </a:defRPr>
            </a:pPr>
            <a:r>
              <a:rPr sz="825" b="1">
                <a:solidFill>
                  <a:srgbClr val="2A604F"/>
                </a:solidFill>
              </a:rPr>
              <a:t>VERIFIABLE EDITION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A0AA6B-7EDC-436E-BCA1-149387DA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editionRoot → Injective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A6CF6B-7EBD-4F6D-AFCA-112232C3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11239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7D9"/>
          </a:solidFill>
          <a:ln xmlns:a="http://schemas.openxmlformats.org/drawingml/2006/main" w="11906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2DF866-85D5-49AD-B0C9-E226BD70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19650"/>
            <a:ext cx="723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3FFF9B-D90A-4AB6-B214-2C63DC56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482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5AC280-597F-4E46-92FA-5A1D4FBE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434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918"/>
                </a:solidFill>
              </a:defRPr>
            </a:pPr>
            <a:r>
              <a:rPr sz="1500" b="1">
                <a:solidFill>
                  <a:srgbClr val="171918"/>
                </a:solidFill>
              </a:rPr>
              <a:t>实体交互层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A79417-E331-45D5-B7FE-5D17FDC6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6732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A604F"/>
                </a:solidFill>
              </a:defRPr>
            </a:pPr>
            <a:r>
              <a:rPr sz="975" b="1">
                <a:solidFill>
                  <a:srgbClr val="2A604F"/>
                </a:solidFill>
              </a:rPr>
              <a:t>Frost Edge Node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C28147-42D5-486F-AD58-B173A96D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943475"/>
            <a:ext cx="95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C1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27ED3D-5A25-4473-9C40-E090CF83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434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屏幕、灯光、TTS、按键与手机镜像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B893D7-A404-4651-8335-536505B4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38750"/>
            <a:ext cx="3905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只消费公开事件与脱敏服务结果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557B7B-E655-4CC6-85E5-D37B7500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5300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EC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27B44B-B01F-4E6A-9282-1C836FD1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91100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A604F"/>
                </a:solidFill>
              </a:defRPr>
            </a:pPr>
            <a:r>
              <a:rPr sz="825" b="1">
                <a:solidFill>
                  <a:srgbClr val="2A604F"/>
                </a:solidFill>
              </a:rPr>
              <a:t>PHYSICAL OUTPUT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B05306-811B-4AF0-9974-291639AA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00650"/>
            <a:ext cx="2495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屏幕 · LED · TTS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40FDA5-0E39-4039-9571-F4361377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432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936D"/>
                </a:solidFill>
              </a:defRPr>
            </a:pPr>
            <a:r>
              <a:rPr sz="1350" b="1">
                <a:solidFill>
                  <a:srgbClr val="21936D"/>
                </a:solidFill>
              </a:rPr>
              <a:t>↓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8E072D-ECE2-4935-9314-382B6FC0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766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936D"/>
                </a:solidFill>
              </a:defRPr>
            </a:pPr>
            <a:r>
              <a:rPr sz="1350" b="1">
                <a:solidFill>
                  <a:srgbClr val="21936D"/>
                </a:solidFill>
              </a:rPr>
              <a:t>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DB7198-3634-48A5-840A-711DAAEE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101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936D"/>
                </a:solidFill>
              </a:defRPr>
            </a:pPr>
            <a:r>
              <a:rPr sz="1350" b="1">
                <a:solidFill>
                  <a:srgbClr val="21936D"/>
                </a:solidFill>
              </a:rPr>
              <a:t>↓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5FFDF3C-EDFB-48E7-BC23-ABCF7996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05500"/>
            <a:ext cx="11239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7F589C-E16C-4C28-942C-BA6D9AC8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67425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渲染在端上，内容在包里，指纹在 Injective。</a:t>
            </a:r>
          </a:p>
        </p:txBody>
      </p:sp>
    </p:spTree>
    <p:extLst>
      <p:ext uri="{BB962C8B-B14F-4D97-AF65-F5344CB8AC3E}">
        <p14:creationId xmlns:p14="http://schemas.microsoft.com/office/powerpoint/2010/main" val="10307519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D16073-7897-4E6C-9240-AB3800E2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46510-9470-487C-A8F2-A151AFC5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23900"/>
            <a:ext cx="17526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B2CF8-6E47-4BC5-A5AA-E229BDA9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PRIVATE EARTH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7AEBD-2CDD-46B2-B980-F157E81B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90650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171918"/>
                </a:solidFill>
              </a:defRPr>
            </a:pPr>
            <a:r>
              <a:rPr sz="2925" b="0">
                <a:solidFill>
                  <a:srgbClr val="171918"/>
                </a:solidFill>
              </a:rPr>
              <a:t>让 Frost 逐步理解一个人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39D2A-2D9F-435E-B1B8-53BCE668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4317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936D"/>
                </a:solidFill>
              </a:defRPr>
            </a:pPr>
            <a:r>
              <a:rPr sz="1500" b="1">
                <a:solidFill>
                  <a:srgbClr val="21936D"/>
                </a:solidFill>
              </a:rPr>
              <a:t>把地理坐标变成个人知识的主键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17A55-31E0-4A0B-ACCC-2043FD42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09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0FB08-992A-431D-A85D-73627354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3375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一句话或一张截图，先建议地点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B6E2EA-D992-430F-A661-A2254DD2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76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62CAE-D3C5-4141-B743-C31E353F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00475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用户确认后，才写入空间记忆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B77DD1-01D5-47DE-94ED-74F7CCC4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43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0E7A1-6D20-4B12-A225-7169746B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3638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书、影、乐、照片、行程和心情在空间中重逢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359A1-18D5-4A64-BA81-BF4E8DCD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37528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A889C-FA7C-48B3-8B19-B660FFFB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530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E71BD-FE62-4B1B-AE8B-EF42B41A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34194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原始照片、心情原文与精确位置优先留在端侧。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9B70D2-4644-427D-B992-53165BC1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你可能忘了标题，却仍记得那本书在什么地方读完。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62E6D-E517-4788-BEC8-BF4690DD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66472-0562-4B96-8228-628E7800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09 / PRIVATE EARTH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5C93FB-4E95-41FC-9F58-E7326828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2a457cf6f4fe2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363032-DCEF-4753-A3CA-77AFEFB8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0AD687-6F56-4EFF-A474-EFB2E0F6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771525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b5dd2383242da"/>
          <a:srcRect xmlns:a="http://schemas.openxmlformats.org/drawingml/2006/main" l="165" t="0" r="1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7F0F9B-2DA3-4061-AF4D-5E8EBB52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5800"/>
            <a:ext cx="2400300" cy="5219700"/>
          </a:xfrm>
          <a:prstGeom xmlns:a="http://schemas.openxmlformats.org/drawingml/2006/main" prst="roundRect">
            <a:avLst>
              <a:gd name="adj" fmla="val 4762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645D89-4E53-493D-837E-E9BD1B26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34D2F7-1DF6-4A7E-A2C5-193D306F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674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PRIVATE MAP · 城市、记忆与回望重新相遇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226274-CEB9-4132-8569-5026839F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76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7C6834-0D88-4B33-9DAD-C12E589B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6067425"/>
            <a:ext cx="280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PHOTOS · 同一年的照片被重新组织</a:t>
            </a:r>
          </a:p>
        </p:txBody>
      </p:sp>
    </p:spTree>
    <p:extLst>
      <p:ext uri="{BB962C8B-B14F-4D97-AF65-F5344CB8AC3E}">
        <p14:creationId xmlns:p14="http://schemas.microsoft.com/office/powerpoint/2010/main" val="10374442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51D787-AA8F-4A85-9A74-B3CBE5D4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C15A3-FDB9-44A0-B734-A2EF6D65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30289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E60EB-A574-4F1B-9F82-C6952A59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DUAL-LAYER MEMORY · PRIVACY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F6DA5-07EA-4E86-B175-F8D64FC4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1918"/>
                </a:solidFill>
              </a:defRPr>
            </a:pPr>
            <a:r>
              <a:rPr sz="2700" b="0">
                <a:solidFill>
                  <a:srgbClr val="171918"/>
                </a:solidFill>
              </a:rPr>
              <a:t>当下保持连贯，长期只沉淀必要偏好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24A5F-6333-47BE-95E2-245BB128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936D"/>
                </a:solidFill>
              </a:defRPr>
            </a:pPr>
            <a:r>
              <a:rPr sz="1350" b="1">
                <a:solidFill>
                  <a:srgbClr val="21936D"/>
                </a:solidFill>
              </a:rPr>
              <a:t>工作记忆服务当前任务；长期画像保存结构化、脱敏的稳定信号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2C464-0144-4A70-819F-A695FDBC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385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F"/>
          </a:solidFill>
          <a:ln xmlns:a="http://schemas.openxmlformats.org/drawingml/2006/main" w="11906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DEAA8-D1D0-48F4-B854-72599F03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9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413BB-FC72-456E-B293-8AECAFCF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8"/>
                </a:solidFill>
              </a:defRPr>
            </a:pPr>
            <a:r>
              <a:rPr sz="1650" b="1">
                <a:solidFill>
                  <a:srgbClr val="171918"/>
                </a:solidFill>
              </a:rPr>
              <a:t>01 · 工作记忆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30FAB-CA26-438D-B6CA-9D240454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918"/>
                </a:solidFill>
              </a:defRPr>
            </a:pPr>
            <a:r>
              <a:rPr sz="1200" b="1">
                <a:solidFill>
                  <a:srgbClr val="171918"/>
                </a:solidFill>
              </a:rPr>
              <a:t>最近交互 · 任务状态 · 待确认结果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4994C-8998-4230-A894-238A3B75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8610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完成当前任务后自然衰减，不转换为永久原文。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6824E-93A1-487A-A323-CD186E32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0"/>
            <a:ext cx="385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11906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13B1C-6105-4160-AA8F-83DABFD8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0"/>
            <a:ext cx="9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F46180-D27E-41FA-A44C-056817B9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8"/>
                </a:solidFill>
              </a:defRPr>
            </a:pPr>
            <a:r>
              <a:rPr sz="1650" b="1">
                <a:solidFill>
                  <a:srgbClr val="171918"/>
                </a:solidFill>
              </a:rPr>
              <a:t>02 · 长期画像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59CC7-C1D8-4325-9FEA-2D1316A4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481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1918"/>
                </a:solidFill>
              </a:defRPr>
            </a:pPr>
            <a:r>
              <a:rPr sz="1200" b="1">
                <a:solidFill>
                  <a:srgbClr val="171918"/>
                </a:solidFill>
              </a:rPr>
              <a:t>作者 · 导演 · 流派 · 城市 · 脱敏摘要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550358-F6D5-411A-9D04-E747EC7A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只沉淀稳定偏好，支持跨会话的理解与推荐。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F7912-8B11-48DE-A4E7-80C08AF3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2047875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0C0F0E"/>
          </a:solidFill>
          <a:ln xmlns:a="http://schemas.openxmlformats.org/drawingml/2006/main" w="0">
            <a:solidFill>
              <a:srgbClr val="0C0F0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ED9F3C-3FCB-4A5D-99D0-986BFA1F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4800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MEMORY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ROUTER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49AC1-D710-4680-8F6E-7424F087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29050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C63D23-E632-4C6D-9420-747369D5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005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CFFB0"/>
                </a:solidFill>
              </a:defRPr>
            </a:pPr>
            <a:r>
              <a:rPr sz="1050" b="1">
                <a:solidFill>
                  <a:srgbClr val="7CFFB0"/>
                </a:solidFill>
              </a:rPr>
              <a:t>按任务取用</a:t>
            </a:r>
          </a:p>
          <a:p xmlns:a="http://schemas.openxmlformats.org/drawingml/2006/main">
            <a:pPr algn="ctr">
              <a:defRPr sz="1050" b="1">
                <a:solidFill>
                  <a:srgbClr val="7CFFB0"/>
                </a:solidFill>
              </a:defRPr>
            </a:pPr>
            <a:r>
              <a:rPr sz="1050" b="1">
                <a:solidFill>
                  <a:srgbClr val="7CFFB0"/>
                </a:solidFill>
              </a:rPr>
              <a:t>最少上下文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0916B0-B920-48A2-AE86-656426C2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384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1936D"/>
                </a:solidFill>
              </a:defRPr>
            </a:pPr>
            <a:r>
              <a:rPr sz="2025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E48CC1-9FBF-46DE-9AB6-B95B2B4A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339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1936D"/>
                </a:solidFill>
              </a:defRPr>
            </a:pPr>
            <a:r>
              <a:rPr sz="2025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E223B5-6534-4807-9DF4-4D608010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76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1936D"/>
                </a:solidFill>
              </a:defRPr>
            </a:pPr>
            <a:r>
              <a:rPr sz="2025" b="1">
                <a:solidFill>
                  <a:srgbClr val="21936D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126D80-3212-4109-938E-6CA7A4A4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4095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E7AD0-28A5-4BBC-919A-616CE078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241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918"/>
                </a:solidFill>
              </a:defRPr>
            </a:pPr>
            <a:r>
              <a:rPr sz="1650" b="1">
                <a:solidFill>
                  <a:srgbClr val="171918"/>
                </a:solidFill>
              </a:rPr>
              <a:t>本轮 Agent 只看到必要标签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52CD4B-D75B-4D58-AD2D-94E07B1F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813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A604F"/>
                </a:solidFill>
              </a:defRPr>
            </a:pPr>
            <a:r>
              <a:rPr sz="1050" b="1">
                <a:solidFill>
                  <a:srgbClr val="2A604F"/>
                </a:solidFill>
              </a:rPr>
              <a:t>TASK · 生成一份伦敦文化散步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401F88-94F3-4E62-BEE1-70EAB1DF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8135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BCC5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659437-50E3-441D-AF9B-A3CF76AB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575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918"/>
                </a:solidFill>
              </a:defRPr>
            </a:pPr>
            <a:r>
              <a:rPr sz="1050" b="1">
                <a:solidFill>
                  <a:srgbClr val="171918"/>
                </a:solidFill>
              </a:rPr>
              <a:t>城市 · 伦敦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711DBB-B6FD-4F5E-B655-8D75AC22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092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6"/>
          </a:solidFill>
          <a:ln xmlns:a="http://schemas.openxmlformats.org/drawingml/2006/main" w="9525">
            <a:solidFill>
              <a:srgbClr val="BCC5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661A95-D53F-4443-9ABC-B42BA7C1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6712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918"/>
                </a:solidFill>
              </a:defRPr>
            </a:pPr>
            <a:r>
              <a:rPr sz="1050" b="0">
                <a:solidFill>
                  <a:srgbClr val="171918"/>
                </a:solidFill>
              </a:rPr>
              <a:t>偏好 · 现代主义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40C9BF-490F-42F2-94B5-5AE3FE8E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0050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BCC5C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C824D9-0BBC-4E32-B8B0-0D782C75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918"/>
                </a:solidFill>
              </a:defRPr>
            </a:pPr>
            <a:r>
              <a:rPr sz="1050" b="0">
                <a:solidFill>
                  <a:srgbClr val="171918"/>
                </a:solidFill>
              </a:rPr>
              <a:t>时长 · 2 小时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BC6338-9804-47F9-BD57-B220767A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10075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6"/>
          </a:solidFill>
          <a:ln xmlns:a="http://schemas.openxmlformats.org/drawingml/2006/main" w="9525">
            <a:solidFill>
              <a:srgbClr val="BCC5C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07E179-32BE-4AE1-AA9E-EF8072AB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86275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1918"/>
                </a:solidFill>
              </a:defRPr>
            </a:pPr>
            <a:r>
              <a:rPr sz="1050" b="0">
                <a:solidFill>
                  <a:srgbClr val="171918"/>
                </a:solidFill>
              </a:rPr>
              <a:t>避开 · 人群拥挤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B8E8E6-FD00-4494-B82E-70191186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577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不加载完整相册、票据、心情原文或精确坐标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DD140F-25E3-47B1-9970-AB483C00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15000"/>
            <a:ext cx="11239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6"/>
          </a:solidFill>
          <a:ln xmlns:a="http://schemas.openxmlformats.org/drawingml/2006/main" w="11906">
            <a:solidFill>
              <a:srgbClr val="17191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52A8D3-0ED4-4251-A037-12CE3B9F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15000"/>
            <a:ext cx="95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227447-1D26-4AE6-90BE-C18ACCB2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A4B"/>
                </a:solidFill>
              </a:defRPr>
            </a:pPr>
            <a:r>
              <a:rPr sz="1200" b="1">
                <a:solidFill>
                  <a:srgbClr val="F28A4B"/>
                </a:solidFill>
              </a:rPr>
              <a:t>PRIVACY BOUNDARY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825ECB-79CE-47DB-A291-7958DD6E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原始照片、票据、证件、心情原文与精确坐标优先留在端侧；本地长期画像与 Injective 公开身份保持分离。</a:t>
            </a:r>
          </a:p>
        </p:txBody>
      </p:sp>
    </p:spTree>
    <p:extLst>
      <p:ext uri="{BB962C8B-B14F-4D97-AF65-F5344CB8AC3E}">
        <p14:creationId xmlns:p14="http://schemas.microsoft.com/office/powerpoint/2010/main" val="10591141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2026-07-19T12:30:57.7160000Z</dcterms:created>
  <dcterms:modified xsi:type="dcterms:W3CDTF">2026-07-19T12:30:57.7160000Z</dcterms:modified>
</coreProperties>
</file>