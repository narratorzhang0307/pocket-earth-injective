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7a018f75024185" /><Relationship Type="http://schemas.openxmlformats.org/officeDocument/2006/relationships/extended-properties" Target="/docProps/app.xml" Id="R5b01a4c547d04feb" /><Relationship Type="http://schemas.openxmlformats.org/officeDocument/2006/relationships/officeDocument" Target="/ppt/presentation.xml" Id="Rc54f0c4c0ddc4e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cd12ce18ea4808"/>
  </p:sldMasterIdLst>
  <p:notesMasterIdLst>
    <p:notesMasterId xmlns:r="http://schemas.openxmlformats.org/officeDocument/2006/relationships" r:id="R6feab32357d9463a"/>
  </p:notesMasterIdLst>
  <p:sldIdLst>
    <p:sldId xmlns:r="http://schemas.openxmlformats.org/officeDocument/2006/relationships" id="256" r:id="R75493f8aec90464d"/>
    <p:sldId xmlns:r="http://schemas.openxmlformats.org/officeDocument/2006/relationships" id="257" r:id="Rca9a9f49e8b24e0c"/>
    <p:sldId xmlns:r="http://schemas.openxmlformats.org/officeDocument/2006/relationships" id="258" r:id="R49515fad75524ddd"/>
    <p:sldId xmlns:r="http://schemas.openxmlformats.org/officeDocument/2006/relationships" id="259" r:id="R32d0b87a2c8d4c0f"/>
    <p:sldId xmlns:r="http://schemas.openxmlformats.org/officeDocument/2006/relationships" id="260" r:id="R8b0d03c23300400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0318af7a0b4800" /><Relationship Type="http://schemas.openxmlformats.org/officeDocument/2006/relationships/slideMaster" Target="/ppt/slideMasters/slideMaster1.xml" Id="Rf2cd12ce18ea4808" /><Relationship Type="http://schemas.openxmlformats.org/officeDocument/2006/relationships/notesMaster" Target="/ppt/notesMasters/notesMaster1.xml" Id="R6feab32357d9463a" /><Relationship Type="http://schemas.openxmlformats.org/officeDocument/2006/relationships/presProps" Target="/ppt/presProps.xml" Id="R08fb57dc428a4687" /><Relationship Type="http://schemas.openxmlformats.org/officeDocument/2006/relationships/tableStyles" Target="/ppt/tableStyles.xml" Id="Rf60498c22064437f" /><Relationship Type="http://schemas.openxmlformats.org/officeDocument/2006/relationships/slide" Target="/ppt/slides/slide1.xml" Id="R75493f8aec90464d" /><Relationship Type="http://schemas.openxmlformats.org/officeDocument/2006/relationships/slide" Target="/ppt/slides/slide2.xml" Id="Rca9a9f49e8b24e0c" /><Relationship Type="http://schemas.openxmlformats.org/officeDocument/2006/relationships/slide" Target="/ppt/slides/slide3.xml" Id="R49515fad75524ddd" /><Relationship Type="http://schemas.openxmlformats.org/officeDocument/2006/relationships/slide" Target="/ppt/slides/slide4.xml" Id="R32d0b87a2c8d4c0f" /><Relationship Type="http://schemas.openxmlformats.org/officeDocument/2006/relationships/slide" Target="/ppt/slides/slide5.xml" Id="R8b0d03c2330040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46290ad97c4e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be10dcf3974d77" /><Relationship Type="http://schemas.openxmlformats.org/officeDocument/2006/relationships/notesMaster" Target="/ppt/notesMasters/notesMaster1.xml" Id="Rf6ceed56c7224e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4c71feff274510" /><Relationship Type="http://schemas.openxmlformats.org/officeDocument/2006/relationships/notesMaster" Target="/ppt/notesMasters/notesMaster1.xml" Id="R5c2879dab75947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c28325fcfe4865" /><Relationship Type="http://schemas.openxmlformats.org/officeDocument/2006/relationships/notesMaster" Target="/ppt/notesMasters/notesMaster1.xml" Id="Rd6d8e1d7ffac4d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cfa342cc9a4d95" /><Relationship Type="http://schemas.openxmlformats.org/officeDocument/2006/relationships/notesMaster" Target="/ppt/notesMasters/notesMaster1.xml" Id="R54a83531315441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d43bb735f24982" /><Relationship Type="http://schemas.openxmlformats.org/officeDocument/2006/relationships/notesMaster" Target="/ppt/notesMasters/notesMaster1.xml" Id="R18c6cf46f93947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每天北京时间八点十分，worker 自动发现、去重、取直接来源，并让调查方和质疑方交叉检查。所有候选先进入七日热缓存，保留失败原因和运行轨迹。人工批准后才形成长期版次并提交 Injective。七天之后，完整工作过程清理，经过批准的知识和证明继续保留。自动发现可以无人值守，公开承诺始终保留人工确认。当前使用原子 JSON 与目录分层保存，不把它说成传统数据库。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每条批准记录都会生成 recordHash，并成为当天 Merkle 树的一片叶子。资源包保存正文、来源和 inclusion proof；Injective 只保存 editionRoot 与 revision。任何客户端都能重新计算 recordHash、沿 proof 得到根，再读取 Injective 上的同日版本完成比较。修订会产生新 revision，旧根继续可查。这里说的是每日知识版次，不是另外造一条链，也不把正文写进链上。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会受模型、来源和上下文影响，所以它需要一组稳定的公开锚点。我们在 Injective 上固定四类事实：ERC-8004 回答身份，PublicEarthRegistry 记录象征门牌，DailyKnowledgeChronicle 记录每日版次与修订，SocialHandshake 记录公开分身之间的相遇。Injective 让这些事实可以跨客户端核对。链上只保存公开、最小、可验证的事实。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这里展示的是当前真实测试网证据。Frost 已有 #43 到 #47 五个身份，PublicEarthRegistry 有五个象征门牌，#43 与 #44 完成了一次 score 88 的公开握手，DailyKnowledgeChronicle 已记录 20260717 的 revision 2。每一项都能从产品继续点到 API、事件、合约和 Blockscout。完整地址放在备份页，主屏只保留易读的短地址和事实。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Azure 位于模型基础设施这一层。端侧先处理意图、检索和隐私敏感任务，统一 provider adapter 再把需要云端推理的请求交给 Microsoft Foundry Model Router。它提供一个部署入口，并按任务选择合适模型。RunTrace 记录实际 provider、model、耗时和降级原因。真实请求通过严格验收后，我们再展示 2xx 与 request ID。当前已完成 provider adapter、离线契约验证和严格真实请求脚本；赛前配置真实账号、endpoint、deployment 与 key 后运行 strict live。Microsoft 官方说明：https://learn.microsoft.com/en-us/azure/foundry/openai/how-to/model-router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c002003be24e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187021596d48b5" /><Relationship Type="http://schemas.openxmlformats.org/officeDocument/2006/relationships/slideLayout" Target="/ppt/slideLayouts/slideLayout1.xml" Id="Rf6740169a6b84e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740169a6b84e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fb1af532d4a58" /><Relationship Type="http://schemas.openxmlformats.org/officeDocument/2006/relationships/notesSlide" Target="/ppt/notesSlides/notesSlide1.xml" Id="Red253b8289df41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1fd6da7874d90" /><Relationship Type="http://schemas.openxmlformats.org/officeDocument/2006/relationships/image" Target="/ppt/media/image.png" Id="Rae1911667cb641b2" /><Relationship Type="http://schemas.openxmlformats.org/officeDocument/2006/relationships/notesSlide" Target="/ppt/notesSlides/notesSlide2.xml" Id="R11a48004cd0e4f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ad9acc4684221" /><Relationship Type="http://schemas.openxmlformats.org/officeDocument/2006/relationships/notesSlide" Target="/ppt/notesSlides/notesSlide3.xml" Id="R638579716a1a41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71c80051d4151" /><Relationship Type="http://schemas.openxmlformats.org/officeDocument/2006/relationships/image" Target="/ppt/media/image2.png" Id="R834ca02aff904902" /><Relationship Type="http://schemas.openxmlformats.org/officeDocument/2006/relationships/image" Target="/ppt/media/image3.png" Id="Rf52c4c7744374d05" /><Relationship Type="http://schemas.openxmlformats.org/officeDocument/2006/relationships/notesSlide" Target="/ppt/notesSlides/notesSlide4.xml" Id="R81150f69ea124c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5c5f5e7dc48be" /><Relationship Type="http://schemas.openxmlformats.org/officeDocument/2006/relationships/notesSlide" Target="/ppt/notesSlides/notesSlide5.xml" Id="R0ffb01391b5d48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55779CB-3196-4881-B996-D31660B9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A5793-16DF-4526-9BDF-EF1E5CB5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"/>
            <a:ext cx="3067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AE256-66EF-4F64-A13E-A6C699D4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DAILY RUN · HOT / COLD MEMORY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D7BB4-CD56-49AE-B541-1A4FB494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1918"/>
                </a:solidFill>
              </a:defRPr>
            </a:pPr>
            <a:r>
              <a:rPr sz="2700" b="0">
                <a:solidFill>
                  <a:srgbClr val="171918"/>
                </a:solidFill>
              </a:rPr>
              <a:t>过程保留七天，精选版次长期存在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CD9F8-2646-4D36-AE9F-04F6F890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906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936D"/>
                </a:solidFill>
              </a:defRPr>
            </a:pPr>
            <a:r>
              <a:rPr sz="1275" b="1">
                <a:solidFill>
                  <a:srgbClr val="21936D"/>
                </a:solidFill>
              </a:rPr>
              <a:t>北京时间 08:10 自动发现与核验，人工批准后显式提交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8C631-0ECE-448C-9160-9B78B83C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52625"/>
            <a:ext cx="1581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F0E"/>
          </a:solidFill>
          <a:ln xmlns:a="http://schemas.openxmlformats.org/drawingml/2006/main" w="11430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77D0E-FDF2-4B6F-ACE1-C8E324AE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08:10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70738-E6EC-43F0-B287-02A1C3B6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145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CFFB0"/>
                </a:solidFill>
              </a:defRPr>
            </a:pPr>
            <a:r>
              <a:rPr sz="675" b="1">
                <a:solidFill>
                  <a:srgbClr val="7CFFB0"/>
                </a:solidFill>
              </a:rPr>
              <a:t>SCHEDULE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DF1F5E-BE0B-489E-A6EA-30D46906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133600"/>
            <a:ext cx="295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1936D"/>
                </a:solidFill>
              </a:defRPr>
            </a:pPr>
            <a:r>
              <a:rPr sz="1575" b="1">
                <a:solidFill>
                  <a:srgbClr val="21936D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CBBFA-D844-4701-8BFB-FD2F3D3F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952625"/>
            <a:ext cx="1581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DAFE8-7DCD-4D63-9CDE-9B33374C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0574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918"/>
                </a:solidFill>
              </a:defRPr>
            </a:pPr>
            <a:r>
              <a:rPr sz="1200" b="1">
                <a:solidFill>
                  <a:srgbClr val="171918"/>
                </a:solidFill>
              </a:rPr>
              <a:t>发现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387669-D245-4B40-8B3A-96A1F161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3145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8B918D"/>
                </a:solidFill>
              </a:defRPr>
            </a:pPr>
            <a:r>
              <a:rPr sz="675" b="1">
                <a:solidFill>
                  <a:srgbClr val="8B918D"/>
                </a:solidFill>
              </a:rPr>
              <a:t>DISCOVERY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F360F2-65CD-4F21-B1B5-15C612FB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33600"/>
            <a:ext cx="295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1936D"/>
                </a:solidFill>
              </a:defRPr>
            </a:pPr>
            <a:r>
              <a:rPr sz="1575" b="1">
                <a:solidFill>
                  <a:srgbClr val="21936D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A948AD-EB4F-4C50-9B09-F9F54206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52625"/>
            <a:ext cx="1581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A5A0FF-F8B2-4C21-BFD6-2E44395E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574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918"/>
                </a:solidFill>
              </a:defRPr>
            </a:pPr>
            <a:r>
              <a:rPr sz="1200" b="1">
                <a:solidFill>
                  <a:srgbClr val="171918"/>
                </a:solidFill>
              </a:rPr>
              <a:t>去重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FCF4BF-BF8D-463D-B5CD-FE649ED7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145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8B918D"/>
                </a:solidFill>
              </a:defRPr>
            </a:pPr>
            <a:r>
              <a:rPr sz="675" b="1">
                <a:solidFill>
                  <a:srgbClr val="8B918D"/>
                </a:solidFill>
              </a:rPr>
              <a:t>DE-DUP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3D66F9-0971-4B68-99BF-D494F1FE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133600"/>
            <a:ext cx="295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1936D"/>
                </a:solidFill>
              </a:defRPr>
            </a:pPr>
            <a:r>
              <a:rPr sz="1575" b="1">
                <a:solidFill>
                  <a:srgbClr val="21936D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18DFE7-0172-4D67-9719-D9ABA4E2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952625"/>
            <a:ext cx="1581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64A0F1-8328-4243-B1D4-ECE2EEB0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574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918"/>
                </a:solidFill>
              </a:defRPr>
            </a:pPr>
            <a:r>
              <a:rPr sz="1200" b="1">
                <a:solidFill>
                  <a:srgbClr val="171918"/>
                </a:solidFill>
              </a:rPr>
              <a:t>直达来源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BD0A75-BD5C-4853-942A-A67DD737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145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8B918D"/>
                </a:solidFill>
              </a:defRPr>
            </a:pPr>
            <a:r>
              <a:rPr sz="675" b="1">
                <a:solidFill>
                  <a:srgbClr val="8B918D"/>
                </a:solidFill>
              </a:rPr>
              <a:t>DIRECT SOURCE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E70241-5E42-4C44-BBB0-D482DB30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33600"/>
            <a:ext cx="295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1936D"/>
                </a:solidFill>
              </a:defRPr>
            </a:pPr>
            <a:r>
              <a:rPr sz="1575" b="1">
                <a:solidFill>
                  <a:srgbClr val="21936D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5FAB6B-AB49-4648-973D-B4176CCC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52625"/>
            <a:ext cx="1581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E53F6B-78AB-4CDE-8E0C-E61FA600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574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918"/>
                </a:solidFill>
              </a:defRPr>
            </a:pPr>
            <a:r>
              <a:rPr sz="1200" b="1">
                <a:solidFill>
                  <a:srgbClr val="171918"/>
                </a:solidFill>
              </a:rPr>
              <a:t>调查 / 质疑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91C273-B314-43FE-BB5E-0AE9ABC5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145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8B918D"/>
                </a:solidFill>
              </a:defRPr>
            </a:pPr>
            <a:r>
              <a:rPr sz="675" b="1">
                <a:solidFill>
                  <a:srgbClr val="8B918D"/>
                </a:solidFill>
              </a:rPr>
              <a:t>DUAL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21B7A3-755C-432C-A998-4D3546AE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133600"/>
            <a:ext cx="295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1936D"/>
                </a:solidFill>
              </a:defRPr>
            </a:pPr>
            <a:r>
              <a:rPr sz="1575" b="1">
                <a:solidFill>
                  <a:srgbClr val="21936D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DEA12E-FF1C-426E-A6F3-524F9BB8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952625"/>
            <a:ext cx="1581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11430">
            <a:solidFill>
              <a:srgbClr val="F4C8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C18EBD-9ECD-4F2B-A37B-DCC0236A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0574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918"/>
                </a:solidFill>
              </a:defRPr>
            </a:pPr>
            <a:r>
              <a:rPr sz="1200" b="1">
                <a:solidFill>
                  <a:srgbClr val="171918"/>
                </a:solidFill>
              </a:rPr>
              <a:t>人工批准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34AB37-B958-4E40-8E0E-5904BDF8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3145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8B918D"/>
                </a:solidFill>
              </a:defRPr>
            </a:pPr>
            <a:r>
              <a:rPr sz="675" b="1">
                <a:solidFill>
                  <a:srgbClr val="8B918D"/>
                </a:solidFill>
              </a:rPr>
              <a:t>REVIEW REQUIRED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D98AC5-5F9D-40D4-9362-FC30969B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76575"/>
            <a:ext cx="3486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F"/>
          </a:solidFill>
          <a:ln xmlns:a="http://schemas.openxmlformats.org/drawingml/2006/main" w="11430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EB3EC4-22CC-4BC4-8FF6-8B523940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76575"/>
            <a:ext cx="6286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8C2EB8-D466-44EA-97AC-6CF7F433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81400"/>
            <a:ext cx="628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L1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F293D5-0F51-4D80-AD92-E5ACD846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956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8"/>
                </a:solidFill>
              </a:defRPr>
            </a:pPr>
            <a:r>
              <a:rPr sz="1575" b="1">
                <a:solidFill>
                  <a:srgbClr val="171918"/>
                </a:solidFill>
              </a:rPr>
              <a:t>运行态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1BBBA8-0791-437E-8D48-FCBFCCFB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86175"/>
            <a:ext cx="23526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调用状态 · 预算 · 当轮信号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3B5B85-3256-4DAC-9B47-EB58EE22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48150"/>
            <a:ext cx="233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0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2D9E7A-A162-477A-A89A-0DE8E600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62450"/>
            <a:ext cx="2352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2DD"/>
                </a:solidFill>
              </a:defRPr>
            </a:pPr>
            <a:r>
              <a:rPr sz="900" b="1">
                <a:solidFill>
                  <a:srgbClr val="2D62DD"/>
                </a:solidFill>
              </a:rPr>
              <a:t>当轮结束即可释放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A19B76-DE1D-4FD8-85DD-786F1F49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76575"/>
            <a:ext cx="3486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A"/>
          </a:solidFill>
          <a:ln xmlns:a="http://schemas.openxmlformats.org/drawingml/2006/main" w="11430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FF27E7-2E13-4E60-9CDB-45163F85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76575"/>
            <a:ext cx="6286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7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3E088C-AFF3-427D-A76F-1AF0B163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81400"/>
            <a:ext cx="628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L2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BCA8C5-38CD-46D1-A3B0-C2D0D1E8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956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8"/>
                </a:solidFill>
              </a:defRPr>
            </a:pPr>
            <a:r>
              <a:rPr sz="1575" b="1">
                <a:solidFill>
                  <a:srgbClr val="171918"/>
                </a:solidFill>
              </a:rPr>
              <a:t>七日热缓存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37360A-8D0D-4EE2-9C79-906A7DAE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86175"/>
            <a:ext cx="23526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候选 · 失败原因 · 草稿 · RunTrace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C9F7E0-C3DA-4FE0-85C1-75371C2A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48150"/>
            <a:ext cx="233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0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8D8EDF-8AF8-439B-BB72-ABB1EA85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62450"/>
            <a:ext cx="2352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F70DC"/>
                </a:solidFill>
              </a:defRPr>
            </a:pPr>
            <a:r>
              <a:rPr sz="900" b="1">
                <a:solidFill>
                  <a:srgbClr val="8F70DC"/>
                </a:solidFill>
              </a:rPr>
              <a:t>DAY 7 自动清理完整过程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658471-92EB-4571-853A-ACD3CE7A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76575"/>
            <a:ext cx="3486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11430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EB1F69-0B0D-4052-822C-92B50A00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76575"/>
            <a:ext cx="6286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729A0C-E856-42A7-B803-EAD839F8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81400"/>
            <a:ext cx="628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L3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49697C-1B12-49F3-8070-3360626D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956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8"/>
                </a:solidFill>
              </a:defRPr>
            </a:pPr>
            <a:r>
              <a:rPr sz="1575" b="1">
                <a:solidFill>
                  <a:srgbClr val="171918"/>
                </a:solidFill>
              </a:rPr>
              <a:t>长期精选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309BE5-2CFC-4D4C-8E1B-51E65228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86175"/>
            <a:ext cx="23526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来源 · recordHash · proof · editionRoot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28EABB-9DFD-425A-AEC6-891C92E8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48150"/>
            <a:ext cx="233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0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7504DF-A728-4DD7-B9FB-990A6E8F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62450"/>
            <a:ext cx="2352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1936D"/>
                </a:solidFill>
              </a:defRPr>
            </a:pPr>
            <a:r>
              <a:rPr sz="900" b="1">
                <a:solidFill>
                  <a:srgbClr val="21936D"/>
                </a:solidFill>
              </a:rPr>
              <a:t>批准版次与交易继续保留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B4E5193-778B-4656-884C-15EE7FE2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714750"/>
            <a:ext cx="295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1936D"/>
                </a:solidFill>
              </a:defRPr>
            </a:pPr>
            <a:r>
              <a:rPr sz="1575" b="1">
                <a:solidFill>
                  <a:srgbClr val="21936D"/>
                </a:solidFill>
              </a:rPr>
              <a:t>→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0ACB69-AC4B-4FCF-BABF-E51D06AE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295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1936D"/>
                </a:solidFill>
              </a:defRPr>
            </a:pPr>
            <a:r>
              <a:rPr sz="1575" b="1">
                <a:solidFill>
                  <a:srgbClr val="21936D"/>
                </a:solidFill>
              </a:rPr>
              <a:t>→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386813-0DC1-41ED-A350-33E56D98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05400"/>
            <a:ext cx="112395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0C0F0E"/>
          </a:solidFill>
          <a:ln xmlns:a="http://schemas.openxmlformats.org/drawingml/2006/main" w="0">
            <a:solidFill>
              <a:srgbClr val="0C0F0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AA7C3C8-2F3C-406D-9509-F65B9B0F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CFFB0"/>
                </a:solidFill>
              </a:defRPr>
            </a:pPr>
            <a:r>
              <a:rPr sz="1275" b="1">
                <a:solidFill>
                  <a:srgbClr val="7CFFB0"/>
                </a:solidFill>
              </a:rPr>
              <a:t>DAY 7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37AD24-FC5C-4E89-AF78-77C97667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67325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完整工作区清理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B6CD45F-C0DC-4ADF-BE22-4C1CD84C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238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CFFB0"/>
                </a:solidFill>
              </a:defRPr>
            </a:pPr>
            <a:r>
              <a:rPr sz="1575" b="1">
                <a:solidFill>
                  <a:srgbClr val="7CFFB0"/>
                </a:solidFill>
              </a:rPr>
              <a:t>→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3139A12-4BFB-4E97-933D-019FAB56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673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人工批准的知识、证明与 Injective 版次继续存在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7CA09D3-82E7-4D33-BF8F-5E00620D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2197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04F"/>
          </a:solidFill>
          <a:ln xmlns:a="http://schemas.openxmlformats.org/drawingml/2006/main" w="9525">
            <a:solidFill>
              <a:srgbClr val="17191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8391BB2-0B12-499E-BD17-BDA30FB5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52578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SIGNED ACTION IS SEPARATE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7B8724E-9F2B-4EF6-86C2-16F2A4B9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53125"/>
            <a:ext cx="1123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A604F"/>
                </a:solidFill>
              </a:defRPr>
            </a:pPr>
            <a:r>
              <a:rPr sz="1350" b="1">
                <a:solidFill>
                  <a:srgbClr val="2A604F"/>
                </a:solidFill>
              </a:rPr>
              <a:t>记忆的价值来自压缩、巩固、检索和有边界的遗忘。</a:t>
            </a:r>
          </a:p>
        </p:txBody>
      </p:sp>
    </p:spTree>
    <p:extLst>
      <p:ext uri="{BB962C8B-B14F-4D97-AF65-F5344CB8AC3E}">
        <p14:creationId xmlns:p14="http://schemas.microsoft.com/office/powerpoint/2010/main" val="1700217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F3A3D7-6FED-4B10-8176-FE62C902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ADE16-7085-4D28-8C31-9E01B147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23900"/>
            <a:ext cx="20383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BC38D-2232-4F11-8BD4-BD15EEB8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VERIFIABLE EDITION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18900-1BB4-45C2-B7DE-370C3BE8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90650"/>
            <a:ext cx="3905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918"/>
                </a:solidFill>
              </a:defRPr>
            </a:pPr>
            <a:r>
              <a:rPr sz="2775" b="0">
                <a:solidFill>
                  <a:srgbClr val="171918"/>
                </a:solidFill>
              </a:rPr>
              <a:t>正文留在资源包，</a:t>
            </a:r>
          </a:p>
          <a:p xmlns:a="http://schemas.openxmlformats.org/drawingml/2006/main">
            <a:pPr algn="l">
              <a:defRPr sz="2775" b="0">
                <a:solidFill>
                  <a:srgbClr val="171918"/>
                </a:solidFill>
              </a:defRPr>
            </a:pPr>
            <a:r>
              <a:rPr sz="2775" b="0">
                <a:solidFill>
                  <a:srgbClr val="171918"/>
                </a:solidFill>
              </a:rPr>
              <a:t>版次根写入 Injective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3BA0A-4280-4C66-8493-C6D61CDE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6222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936D"/>
                </a:solidFill>
              </a:defRPr>
            </a:pPr>
            <a:r>
              <a:rPr sz="1350" b="1">
                <a:solidFill>
                  <a:srgbClr val="21936D"/>
                </a:solidFill>
              </a:rPr>
              <a:t>每次修订产生新的 revision，旧版根继续可查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888E1-68C1-4CA1-96DA-E1B7296B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09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48B41-4A74-45DA-82DA-5BEA7503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3686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D69"/>
                </a:solidFill>
              </a:defRPr>
            </a:pPr>
            <a:r>
              <a:rPr sz="1200" b="0">
                <a:solidFill>
                  <a:srgbClr val="666D69"/>
                </a:solidFill>
              </a:rPr>
              <a:t>recordHash：固定一条知识的精确快照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64C7A-C721-4226-8550-2041C887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86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98906F-F34F-4377-B06A-B91BBF80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3686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D69"/>
                </a:solidFill>
              </a:defRPr>
            </a:pPr>
            <a:r>
              <a:rPr sz="1200" b="0">
                <a:solidFill>
                  <a:srgbClr val="666D69"/>
                </a:solidFill>
              </a:rPr>
              <a:t>Merkle proof：证明它属于当日版次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CC053-9B8E-451D-8E11-6DA5B7B0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62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771D91-2D44-4E6A-A5B6-54F54E33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3686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D69"/>
                </a:solidFill>
              </a:defRPr>
            </a:pPr>
            <a:r>
              <a:rPr sz="1200" b="0">
                <a:solidFill>
                  <a:srgbClr val="666D69"/>
                </a:solidFill>
              </a:rPr>
              <a:t>editionRoot：整批批准知识的公开指纹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262DBD-7996-46AC-B59A-B03848A1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37528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9525">
            <a:solidFill>
              <a:srgbClr val="C6DB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7DC02-3410-42A7-B24A-77A554A2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47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1A14B8-7806-4284-A213-5D41F3D3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3419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A604F"/>
                </a:solidFill>
              </a:defRPr>
            </a:pPr>
            <a:r>
              <a:rPr sz="1275" b="1">
                <a:solidFill>
                  <a:srgbClr val="2A604F"/>
                </a:solidFill>
              </a:rPr>
              <a:t>内容保持丰富，链上承诺保持最小。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FCA2D3-CC32-4550-A3D3-8A28534D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006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客户端本地重算，再与 Injective 公开读回结果比较。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BEB96-2163-497F-89DF-56FDED07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150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BCEC22-D19B-4952-A412-D0CB6D80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18D"/>
                </a:solidFill>
              </a:defRPr>
            </a:pPr>
            <a:r>
              <a:rPr sz="825" b="0">
                <a:solidFill>
                  <a:srgbClr val="8B918D"/>
                </a:solidFill>
              </a:rPr>
              <a:t>17 / VERIFIABLE EDITION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4681CF-6950-4847-A81D-F4D3CBBA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104900"/>
            <a:ext cx="2628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F"/>
          </a:solidFill>
          <a:ln xmlns:a="http://schemas.openxmlformats.org/drawingml/2006/main" w="10478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4BD00E-D73B-4114-BB26-1330063F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104900"/>
            <a:ext cx="476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0F8FB1-2191-43DC-A925-F6FC77B6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3716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F96345-6DA6-4696-9822-B96D7271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228725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知识记录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024253-2541-4EBC-A9CF-44FB4122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524000"/>
            <a:ext cx="1752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D69"/>
                </a:solidFill>
              </a:defRPr>
            </a:pPr>
            <a:r>
              <a:rPr sz="900" b="0">
                <a:solidFill>
                  <a:srgbClr val="666D69"/>
                </a:solidFill>
              </a:rPr>
              <a:t>正文 · 来源 · 日期 · 分数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C5EBAC-4187-442B-8441-269200F0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335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1936D"/>
                </a:solidFill>
              </a:defRPr>
            </a:pPr>
            <a:r>
              <a:rPr sz="1575" b="1">
                <a:solidFill>
                  <a:srgbClr val="21936D"/>
                </a:solidFill>
              </a:rPr>
              <a:t>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DCAF9D-4821-44A1-99A4-85E33D85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28850"/>
            <a:ext cx="2628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A"/>
          </a:solidFill>
          <a:ln xmlns:a="http://schemas.openxmlformats.org/drawingml/2006/main" w="10478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E0ED45-0401-4745-831D-39AAA878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28850"/>
            <a:ext cx="476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7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62EFCC-5BF6-4CBB-8A1A-7B0A1E34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95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4FBBB0-DBFB-4408-A28E-DEACEA41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352675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recordHash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88FC25-665D-40AD-855F-44790259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47950"/>
            <a:ext cx="1752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D69"/>
                </a:solidFill>
              </a:defRPr>
            </a:pPr>
            <a:r>
              <a:rPr sz="900" b="0">
                <a:solidFill>
                  <a:srgbClr val="666D69"/>
                </a:solidFill>
              </a:rPr>
              <a:t>对精确快照做承诺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8CF7FA-5EB9-4494-9857-391BB855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575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1936D"/>
                </a:solidFill>
              </a:defRPr>
            </a:pPr>
            <a:r>
              <a:rPr sz="1575" b="1">
                <a:solidFill>
                  <a:srgbClr val="21936D"/>
                </a:solidFill>
              </a:rPr>
              <a:t>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16BC7C-B537-4B8D-A13D-F3ADC6E1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52800"/>
            <a:ext cx="2628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6"/>
          </a:solidFill>
          <a:ln xmlns:a="http://schemas.openxmlformats.org/drawingml/2006/main" w="10478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5B27F3-F8CE-4277-A20A-FD0700C3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52800"/>
            <a:ext cx="476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5AB28F-B651-4BE6-8EBA-40F4FED8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19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1771C4-D659-4AF5-9E88-542DCA52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476625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Merkle proof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0BD9C7-F108-49DE-B7B4-88B4E993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771900"/>
            <a:ext cx="1752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D69"/>
                </a:solidFill>
              </a:defRPr>
            </a:pPr>
            <a:r>
              <a:rPr sz="900" b="0">
                <a:solidFill>
                  <a:srgbClr val="666D69"/>
                </a:solidFill>
              </a:rPr>
              <a:t>沿路径重算当天根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B84288-D163-45E1-BD58-5407D2F6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814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1936D"/>
                </a:solidFill>
              </a:defRPr>
            </a:pPr>
            <a:r>
              <a:rPr sz="1575" b="1">
                <a:solidFill>
                  <a:srgbClr val="21936D"/>
                </a:solidFill>
              </a:rPr>
              <a:t>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768039-CFE1-40E2-B9D0-094143DE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476750"/>
            <a:ext cx="2628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10478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E7346A-907C-4FD3-955A-06E179E5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476750"/>
            <a:ext cx="476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5C7EB8-E1D1-4A6C-8721-31C6A9A5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7434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827097-E3E0-4CB2-BB2C-5074941A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600575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Injective revision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29DA75-11AB-4B64-8A13-2F0B40DF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895850"/>
            <a:ext cx="1752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D69"/>
                </a:solidFill>
              </a:defRPr>
            </a:pPr>
            <a:r>
              <a:rPr sz="900" b="0">
                <a:solidFill>
                  <a:srgbClr val="666D69"/>
                </a:solidFill>
              </a:rPr>
              <a:t>比较 editionRoot 与修订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D38B95-40FE-47C1-BF05-358403CD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71500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F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1B3204-3D08-4F18-9E81-E7712A83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8293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FFB0"/>
                </a:solidFill>
              </a:defRPr>
            </a:pPr>
            <a:r>
              <a:rPr sz="825" b="1">
                <a:solidFill>
                  <a:srgbClr val="7CFFB0"/>
                </a:solidFill>
              </a:rPr>
              <a:t>LOCAL RECOMPUTE = VERIFIED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353A27-196B-45F3-B655-E1175970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771525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911667cb641b2"/>
          <a:srcRect xmlns:a="http://schemas.openxmlformats.org/drawingml/2006/main" l="165" t="0" r="1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4875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AF2762-6BF1-498F-8146-D249A7E2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6613F9D-DD84-4514-B2CD-B2E2E613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1936D"/>
                </a:solidFill>
              </a:defRPr>
            </a:pPr>
            <a:r>
              <a:rPr sz="1050" b="1">
                <a:solidFill>
                  <a:srgbClr val="21936D"/>
                </a:solidFill>
              </a:rPr>
              <a:t>▲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BD4AF9D-2F97-420F-9A55-2B488F9B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60674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验证记录 · 本地重算 1 层路径并得到同一根</a:t>
            </a:r>
          </a:p>
        </p:txBody>
      </p:sp>
    </p:spTree>
    <p:extLst>
      <p:ext uri="{BB962C8B-B14F-4D97-AF65-F5344CB8AC3E}">
        <p14:creationId xmlns:p14="http://schemas.microsoft.com/office/powerpoint/2010/main" val="20414412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FCB123-6A00-4905-A593-8272BE8A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EF2E4-0771-4CDC-BC8E-F763FEEA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"/>
            <a:ext cx="1619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07FD9F-8C2C-450F-A883-FA3B68BD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WHY INJECTIVE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AD979-6A1C-432B-95F3-0305A441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1918"/>
                </a:solidFill>
              </a:defRPr>
            </a:pPr>
            <a:r>
              <a:rPr sz="2700" b="0">
                <a:solidFill>
                  <a:srgbClr val="171918"/>
                </a:solidFill>
              </a:rPr>
              <a:t>概率性的 Agent，需要确定性的公开锚点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2D8BF-61C6-457A-A349-167D70B4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906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936D"/>
                </a:solidFill>
              </a:defRPr>
            </a:pPr>
            <a:r>
              <a:rPr sz="1275" b="1">
                <a:solidFill>
                  <a:srgbClr val="21936D"/>
                </a:solidFill>
              </a:rPr>
              <a:t>Agent 在链下理解与创造，Injective 保存身份、门牌、版本和公开事件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622E7-73D8-460B-9014-62D72287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09850"/>
            <a:ext cx="27432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C0F0E"/>
          </a:solidFill>
          <a:ln xmlns:a="http://schemas.openxmlformats.org/drawingml/2006/main" w="19050">
            <a:solidFill>
              <a:srgbClr val="2193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B7EBE8-C5C8-4472-B86C-F96DB6D1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67025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FFB0"/>
                </a:solidFill>
              </a:defRPr>
            </a:pPr>
            <a:r>
              <a:rPr sz="1800" b="1">
                <a:solidFill>
                  <a:srgbClr val="7CFFB0"/>
                </a:solidFill>
              </a:rPr>
              <a:t>INJECTIVE EVM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9F9E97-8F07-487B-A3FB-2FEF7E7F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1470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PUBLIC READ · TESTNET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77464-5A7A-4544-9D98-156D5AD9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47875"/>
            <a:ext cx="3200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F"/>
          </a:solidFill>
          <a:ln xmlns:a="http://schemas.openxmlformats.org/drawingml/2006/main" w="11430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ABDA7-983D-4815-8EB5-897A9273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47875"/>
            <a:ext cx="857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6B5F9F-B763-47A1-A7D4-F14ADF79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09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918"/>
                </a:solidFill>
              </a:defRPr>
            </a:pPr>
            <a:r>
              <a:rPr sz="1200" b="1">
                <a:solidFill>
                  <a:srgbClr val="171918"/>
                </a:solidFill>
              </a:rPr>
              <a:t>WHO · 身份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592E4B-0954-4EF9-B434-77495E82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622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62DD"/>
                </a:solidFill>
              </a:defRPr>
            </a:pPr>
            <a:r>
              <a:rPr sz="1125" b="1">
                <a:solidFill>
                  <a:srgbClr val="2D62DD"/>
                </a:solidFill>
              </a:rPr>
              <a:t>ERC-8004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CEAAB9-0D36-4F25-BBE9-F4E14900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337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哪个公开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5B1A0F-0320-4AC7-9640-D04F5434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336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D62DD"/>
                </a:solidFill>
              </a:defRPr>
            </a:pPr>
            <a:r>
              <a:rPr sz="1575" b="1">
                <a:solidFill>
                  <a:srgbClr val="2D62DD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2D851D-8FD2-407E-99D5-43F06DBA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47875"/>
            <a:ext cx="3200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11430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BA00B1-9BB5-426D-A6B5-120DE261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47875"/>
            <a:ext cx="857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E3B155-94CF-48A9-ADAE-B96EA275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209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918"/>
                </a:solidFill>
              </a:defRPr>
            </a:pPr>
            <a:r>
              <a:rPr sz="1200" b="1">
                <a:solidFill>
                  <a:srgbClr val="171918"/>
                </a:solidFill>
              </a:rPr>
              <a:t>WHERE · 门牌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0B561E-1845-43C1-AA9A-7D0E8D99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5622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936D"/>
                </a:solidFill>
              </a:defRPr>
            </a:pPr>
            <a:r>
              <a:rPr sz="1125" b="1">
                <a:solidFill>
                  <a:srgbClr val="21936D"/>
                </a:solidFill>
              </a:rPr>
              <a:t>PublicEarthRegistry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2D328C-3C21-4DDE-B6AC-0177DBE3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9337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它住在公共地球哪里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F2BA89-C140-4C94-A5CA-F72580B7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336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1936D"/>
                </a:solidFill>
              </a:defRPr>
            </a:pPr>
            <a:r>
              <a:rPr sz="1575" b="1">
                <a:solidFill>
                  <a:srgbClr val="21936D"/>
                </a:solidFill>
              </a:rPr>
              <a:t>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BA7EB6-3808-4DD5-B6C9-A8E799D0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0"/>
            <a:ext cx="3200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6"/>
          </a:solidFill>
          <a:ln xmlns:a="http://schemas.openxmlformats.org/drawingml/2006/main" w="11430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ED2336-7CA4-4EE1-9EEF-3962F689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0"/>
            <a:ext cx="857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2800DD-F31F-45C3-915D-40667932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576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918"/>
                </a:solidFill>
              </a:defRPr>
            </a:pPr>
            <a:r>
              <a:rPr sz="1200" b="1">
                <a:solidFill>
                  <a:srgbClr val="171918"/>
                </a:solidFill>
              </a:rPr>
              <a:t>WHEN / VERSION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D3502B-CB11-43C3-8196-A76537E2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6101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8A4B"/>
                </a:solidFill>
              </a:defRPr>
            </a:pPr>
            <a:r>
              <a:rPr sz="1125" b="1">
                <a:solidFill>
                  <a:srgbClr val="F28A4B"/>
                </a:solidFill>
              </a:rPr>
              <a:t>DailyKnowledgeChronicle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5A09D8-741F-46AB-88DF-4DBAD6B6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815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哪一天、哪一次修订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C17E17-AFE0-4A99-AE8F-69631B04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815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28A4B"/>
                </a:solidFill>
              </a:defRPr>
            </a:pPr>
            <a:r>
              <a:rPr sz="1575" b="1">
                <a:solidFill>
                  <a:srgbClr val="F28A4B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64D22C-1C9D-4D18-B61D-98719064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95750"/>
            <a:ext cx="3200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A"/>
          </a:solidFill>
          <a:ln xmlns:a="http://schemas.openxmlformats.org/drawingml/2006/main" w="11430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C8BB6D-7454-4CB0-8764-CBBD27D0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95750"/>
            <a:ext cx="857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7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FBD153-3D07-4ADA-B483-01BE7BDC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2576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918"/>
                </a:solidFill>
              </a:defRPr>
            </a:pPr>
            <a:r>
              <a:rPr sz="1200" b="1">
                <a:solidFill>
                  <a:srgbClr val="171918"/>
                </a:solidFill>
              </a:rPr>
              <a:t>WHO MET WHOM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B3B8B4-0712-48C1-84D2-AF9921C0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6101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70DC"/>
                </a:solidFill>
              </a:defRPr>
            </a:pPr>
            <a:r>
              <a:rPr sz="1125" b="1">
                <a:solidFill>
                  <a:srgbClr val="8F70DC"/>
                </a:solidFill>
              </a:rPr>
              <a:t>SocialHandshake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5D5B8F-209E-4E54-9C95-DA399FAA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9815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哪些分身公开相遇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9D8F7D-CB4B-4C38-9762-FC361C57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815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F70DC"/>
                </a:solidFill>
              </a:defRPr>
            </a:pPr>
            <a:r>
              <a:rPr sz="1575" b="1">
                <a:solidFill>
                  <a:srgbClr val="8F70DC"/>
                </a:solidFill>
              </a:rPr>
              <a:t>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12D0CF-6924-42B0-AB6D-0A32161B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02882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91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BE009C-2592-44DD-9300-81982E4D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066925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A604F"/>
                </a:solidFill>
              </a:defRPr>
            </a:pPr>
            <a:r>
              <a:rPr sz="750" b="1">
                <a:solidFill>
                  <a:srgbClr val="2A604F"/>
                </a:solidFill>
              </a:rPr>
              <a:t>CHAIN-OFF AGENTS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1207C5-DECF-4AFC-B2F0-902B6231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2882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04F"/>
          </a:solidFill>
          <a:ln xmlns:a="http://schemas.openxmlformats.org/drawingml/2006/main" w="9525">
            <a:solidFill>
              <a:srgbClr val="17191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FA7357-29A1-4B7E-ACB5-A0621F91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669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DETERMINISTIC ANCHORS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7A5B90-776F-4DBF-BAD0-A85C4CC7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1123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9525">
            <a:solidFill>
              <a:srgbClr val="BDD8C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A8879A-210C-4E88-BE7C-EE0121F5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245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A604F"/>
                </a:solidFill>
              </a:defRPr>
            </a:pPr>
            <a:r>
              <a:rPr sz="1350" b="1">
                <a:solidFill>
                  <a:srgbClr val="2A604F"/>
                </a:solidFill>
              </a:rPr>
              <a:t>Injective 给变化的 Agent 提供稳定的身份与时间证据。</a:t>
            </a:r>
          </a:p>
        </p:txBody>
      </p:sp>
    </p:spTree>
    <p:extLst>
      <p:ext uri="{BB962C8B-B14F-4D97-AF65-F5344CB8AC3E}">
        <p14:creationId xmlns:p14="http://schemas.microsoft.com/office/powerpoint/2010/main" val="4485252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890694-3EDF-4CD2-8DAF-5B1CD4C3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B5E98-9BBA-4F8C-BCE1-725B72E0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23900"/>
            <a:ext cx="2381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D547AB-46D3-4171-9A38-F5FF6DB4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LIVE INJECTIVE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F67EF-6F0F-4552-9E53-6E983C05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52550"/>
            <a:ext cx="4000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71918"/>
                </a:solidFill>
              </a:defRPr>
            </a:pPr>
            <a:r>
              <a:rPr sz="2475" b="0">
                <a:solidFill>
                  <a:srgbClr val="171918"/>
                </a:solidFill>
              </a:rPr>
              <a:t>身份、门牌、握手与知识版次</a:t>
            </a:r>
          </a:p>
          <a:p xmlns:a="http://schemas.openxmlformats.org/drawingml/2006/main">
            <a:pPr algn="l">
              <a:defRPr sz="2475" b="0">
                <a:solidFill>
                  <a:srgbClr val="171918"/>
                </a:solidFill>
              </a:defRPr>
            </a:pPr>
            <a:r>
              <a:rPr sz="2475" b="0">
                <a:solidFill>
                  <a:srgbClr val="171918"/>
                </a:solidFill>
              </a:rPr>
              <a:t>都能从产品追到交易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7AA4F-969D-4C14-BFC0-98BEA397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936D"/>
                </a:solidFill>
              </a:defRPr>
            </a:pPr>
            <a:r>
              <a:rPr sz="1275" b="1">
                <a:solidFill>
                  <a:srgbClr val="21936D"/>
                </a:solidFill>
              </a:rPr>
              <a:t>界面 → API → event / calldata → contract → Blockscout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42BB7-CA0D-4C68-8953-6B2C5A56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33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00B21-023B-47E5-B3BE-8F6B9233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3781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Frost #43–47 · 5 个公开身份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B83CB-404B-427E-9DBB-CCA86A9F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4600EC-159C-4F63-975D-B9766AA5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3781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PublicEarthRegistry · 5 个象征门牌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B58E3C-6B7E-4CBD-AB79-1D864327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84D44C-4C95-40C7-975F-9A9AA3F2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3781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SocialHandshake · #43 ↔ #44 · score 88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5E9B32-AB41-4C57-88CE-545DC9BC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D81FA3-7C25-440F-80A4-CF624DA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3781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Chronicle · 20260717 · revision 2 · 2 facts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6A636C-F6D7-4FA8-9A6A-9E9E645F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91125"/>
            <a:ext cx="37528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9525">
            <a:solidFill>
              <a:srgbClr val="C6DB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091ADA-4A2A-475C-ADE7-54F276E2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91125"/>
            <a:ext cx="47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C0C61A-10CB-4109-B82C-48F03936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3419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A604F"/>
                </a:solidFill>
              </a:defRPr>
            </a:pPr>
            <a:r>
              <a:rPr sz="1275" b="1">
                <a:solidFill>
                  <a:srgbClr val="2A604F"/>
                </a:solidFill>
              </a:rPr>
              <a:t>同一条证据有两种入口。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44DDE3-C1C9-4465-B54D-08EC11C9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产品内查看；离开产品后仍能在 Injective 浏览器复核。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606206-BFE6-498F-BDD9-B97CEB60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150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88ECBB-63EB-433D-9BF0-7A6A8D66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18D"/>
                </a:solidFill>
              </a:defRPr>
            </a:pPr>
            <a:r>
              <a:rPr sz="825" b="0">
                <a:solidFill>
                  <a:srgbClr val="8B918D"/>
                </a:solidFill>
              </a:rPr>
              <a:t>19 / LIVE INJECTIVE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28A0A0-42EB-42CF-AD33-FAC88FCE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771525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4ca02aff904902"/>
          <a:srcRect xmlns:a="http://schemas.openxmlformats.org/drawingml/2006/main" l="165" t="0" r="1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B0D3E3-B957-45B4-BF29-414B4E55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455CE7-2C3D-490C-86A3-5A5FBCDA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771525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c4c7744374d05"/>
          <a:srcRect xmlns:a="http://schemas.openxmlformats.org/drawingml/2006/main" l="165" t="0" r="1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01521A-E067-41E6-A50E-D948A80B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B9C192-9F5E-4E2E-AF45-D8B2CA8C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70DC"/>
                </a:solidFill>
              </a:defRPr>
            </a:pPr>
            <a:r>
              <a:rPr sz="1050" b="1">
                <a:solidFill>
                  <a:srgbClr val="8F70DC"/>
                </a:solidFill>
              </a:rPr>
              <a:t>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DEACB3-EC17-47BD-BE0A-64E001AD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0674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证据页 · #43–47 身份与 score 88 握手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C888FB-6F03-4988-A85D-1788A5D2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1936D"/>
                </a:solidFill>
              </a:defRPr>
            </a:pPr>
            <a:r>
              <a:rPr sz="1050" b="1">
                <a:solidFill>
                  <a:srgbClr val="21936D"/>
                </a:solidFill>
              </a:rPr>
              <a:t>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8C56EA-765C-4917-AA6E-69B81664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067425"/>
            <a:ext cx="280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Blockscout · Success、区块、时间与合约</a:t>
            </a:r>
          </a:p>
        </p:txBody>
      </p:sp>
    </p:spTree>
    <p:extLst>
      <p:ext uri="{BB962C8B-B14F-4D97-AF65-F5344CB8AC3E}">
        <p14:creationId xmlns:p14="http://schemas.microsoft.com/office/powerpoint/2010/main" val="15354230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E01FD89-DAC6-46E2-9190-789FCF49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E8B73-1724-4203-9F89-C993685D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"/>
            <a:ext cx="37338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solidFill>
              <a:srgbClr val="0078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8B946-21C1-490E-94FA-D5279507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MICROSOFT AZURE · MODEL INFRASTRUCTURE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6E30E-47C8-4858-A6F6-E61C2873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1918"/>
                </a:solidFill>
              </a:defRPr>
            </a:pPr>
            <a:r>
              <a:rPr sz="2700" b="0">
                <a:solidFill>
                  <a:srgbClr val="171918"/>
                </a:solidFill>
              </a:rPr>
              <a:t>一个模型入口，按任务选择合适能力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47607-E73F-492D-8E6E-23B7A615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906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8D4"/>
                </a:solidFill>
              </a:defRPr>
            </a:pPr>
            <a:r>
              <a:rPr sz="1275" b="1">
                <a:solidFill>
                  <a:srgbClr val="0078D4"/>
                </a:solidFill>
              </a:rPr>
              <a:t>端侧负责意图、检索与隐私敏感视觉；云端负责综合、叙事与长文本生成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B7BFD6-A71F-4F41-A92C-A171F1D7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29527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F"/>
          </a:solidFill>
          <a:ln xmlns:a="http://schemas.openxmlformats.org/drawingml/2006/main" w="11906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A7AB0-E4D2-4281-A587-B167A0BA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2EE41-5988-41BC-8AC9-E99BC7F7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2686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DEVICE SELECTOR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8A125-FF14-4581-B0C3-CD466A2C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71775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918"/>
                </a:solidFill>
              </a:defRPr>
            </a:pPr>
            <a:r>
              <a:rPr sz="1650" b="1">
                <a:solidFill>
                  <a:srgbClr val="171918"/>
                </a:solidFill>
              </a:rPr>
              <a:t>端侧先判断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B90452-FB57-47D2-A7BB-ED0439C9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F19F2-B5FF-4273-9D2C-99E8C5D1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意图预分类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DF464-5D4B-41A9-A3FA-D0949585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8793D2-B800-48BB-A3C9-2A837154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本地检索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7D74E-A100-4F0C-BAAA-CA234A15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9884D-1E3F-47E4-88FA-649775F9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隐私敏感视觉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61DD00-8305-4288-988C-7B612893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A66D24-E639-41FA-A64E-ADDCAC2C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无需云端的任务直接完成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7D5DCF-1104-4904-85FB-DF0AE62E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3337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1936D"/>
                </a:solidFill>
              </a:defRPr>
            </a:pPr>
            <a:r>
              <a:rPr sz="1575" b="1">
                <a:solidFill>
                  <a:srgbClr val="21936D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FA88BD-5424-4958-84B6-FE27E0C2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95500"/>
            <a:ext cx="30861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6"/>
          </a:solidFill>
          <a:ln xmlns:a="http://schemas.openxmlformats.org/drawingml/2006/main" w="11906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55B2AD-AB5E-4A68-8075-6E1C768F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95500"/>
            <a:ext cx="3086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D81925-DB95-472D-8B8A-6805B366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2885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PROVIDER ADAPTER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DEA7F4-FA2B-4B86-9133-44C56A70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71775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918"/>
                </a:solidFill>
              </a:defRPr>
            </a:pPr>
            <a:r>
              <a:rPr sz="1650" b="1">
                <a:solidFill>
                  <a:srgbClr val="171918"/>
                </a:solidFill>
              </a:rPr>
              <a:t>统一模型契约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955CEC-9421-41ED-819D-BF48588C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14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5A28AA-AA67-4333-AEC6-2FDB9421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3850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request / response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43F4D1-239C-4D36-AA12-B8BEAEB6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76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B32DB8-7629-43AA-9428-335434AD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004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retry / timeout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C91DB8-1F06-4CC6-AEB3-9DE612FA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38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662758-A2E9-41E1-8B66-C0C85909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6240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fallback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8F8838-080C-4D10-BC18-7F0C7E9B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00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F881A0-5F91-428E-B50A-601CDB16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243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providerResult 结构保持一致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6D34EF-2A6A-40DA-8BC2-6DC46382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3337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78D4"/>
                </a:solidFill>
              </a:defRPr>
            </a:pPr>
            <a:r>
              <a:rPr sz="1575" b="1">
                <a:solidFill>
                  <a:srgbClr val="0078D4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F1B944-3C55-49DF-A00D-559247E9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29527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B"/>
          </a:solidFill>
          <a:ln xmlns:a="http://schemas.openxmlformats.org/drawingml/2006/main" w="11906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DB66EB-ED20-4E2E-A39B-97E2D110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F3DE32-4500-4176-A5D6-D43582AB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28850"/>
            <a:ext cx="2686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MICROSOFT FOUNDRY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6B6ECD-D033-4988-9136-E9CF895B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71775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918"/>
                </a:solidFill>
              </a:defRPr>
            </a:pPr>
            <a:r>
              <a:rPr sz="1650" b="1">
                <a:solidFill>
                  <a:srgbClr val="171918"/>
                </a:solidFill>
              </a:rPr>
              <a:t>Model Router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3C3912-73CF-4FFA-A5EB-963700D6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14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3A5FF4-D8DE-4EA5-873F-4EC8455C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385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单一部署入口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1BCE03-A369-4EEC-9DB6-008EB8A3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76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8C848E-D357-4016-ACAB-A21C8FE0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004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逐请求选择模型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62FD14-D427-403E-8596-792E65F9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38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97A9F8-D25F-465B-8A52-63FD242B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624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返回实际 model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CC1498-185D-4980-9E64-61166C29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00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1968FE-F88C-4C0C-AC6D-C15F8537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3243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按模式平衡质量与成本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4FFF98-43A2-4B35-B0B5-E9F88BE6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14950"/>
            <a:ext cx="72390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C0F0E"/>
          </a:solidFill>
          <a:ln xmlns:a="http://schemas.openxmlformats.org/drawingml/2006/main" w="0">
            <a:solidFill>
              <a:srgbClr val="0C0F0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50ADABC-2CF5-41C2-BB41-ACA68203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CFFB0"/>
                </a:solidFill>
              </a:defRPr>
            </a:pPr>
            <a:r>
              <a:rPr sz="1275" b="1">
                <a:solidFill>
                  <a:srgbClr val="7CFFB0"/>
                </a:solidFill>
              </a:rPr>
              <a:t>RUNTRACE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D3E71C-DD33-4F00-A8B9-CECEB98C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4864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provider · model · latency · retry · fallback reason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93737CF-79AF-4273-B11E-6363D979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219700"/>
            <a:ext cx="3762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11430">
            <a:solidFill>
              <a:srgbClr val="F4C8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E1B5EA-18AF-4CBA-BCCC-7A9D0302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3530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F0E"/>
          </a:solidFill>
          <a:ln xmlns:a="http://schemas.openxmlformats.org/drawingml/2006/main" w="9525">
            <a:solidFill>
              <a:srgbClr val="17191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CEE9DEA-42AB-4E83-923E-AEFD3985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53911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4C84A"/>
                </a:solidFill>
              </a:defRPr>
            </a:pPr>
            <a:r>
              <a:rPr sz="750" b="1">
                <a:solidFill>
                  <a:srgbClr val="F4C84A"/>
                </a:solidFill>
              </a:rPr>
              <a:t>STRICT LIVE GATE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29E0D9-3FBC-4EFE-8264-AFF49F14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391150"/>
            <a:ext cx="1857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1918"/>
                </a:solidFill>
              </a:defRPr>
            </a:pPr>
            <a:r>
              <a:rPr sz="750" b="1">
                <a:solidFill>
                  <a:srgbClr val="171918"/>
                </a:solidFill>
              </a:rPr>
              <a:t>PENDING FINAL ACCOUNT VERIFICATION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BF9D7B-4BCF-4367-BDCD-03EB57AD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676900"/>
            <a:ext cx="3390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D69"/>
                </a:solidFill>
              </a:defRPr>
            </a:pPr>
            <a:r>
              <a:rPr sz="900" b="0">
                <a:solidFill>
                  <a:srgbClr val="666D69"/>
                </a:solidFill>
              </a:rPr>
              <a:t>通过后展示真实 HTTP 2xx · model · Azure request ID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B73BDDF-BB73-469D-89CC-4C4BE584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53150"/>
            <a:ext cx="1123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A604F"/>
                </a:solidFill>
              </a:defRPr>
            </a:pPr>
            <a:r>
              <a:rPr sz="1275" b="1">
                <a:solidFill>
                  <a:srgbClr val="2A604F"/>
                </a:solidFill>
              </a:rPr>
              <a:t>Injective 管公开信任，Azure 管模型基础设施，两条轴在 Frost Harness 汇合。</a:t>
            </a:r>
          </a:p>
        </p:txBody>
      </p:sp>
    </p:spTree>
    <p:extLst>
      <p:ext uri="{BB962C8B-B14F-4D97-AF65-F5344CB8AC3E}">
        <p14:creationId xmlns:p14="http://schemas.microsoft.com/office/powerpoint/2010/main" val="1032736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2026-07-19T14:00:29.3330000Z</dcterms:created>
  <dcterms:modified xsi:type="dcterms:W3CDTF">2026-07-19T14:00:29.3330000Z</dcterms:modified>
</coreProperties>
</file>