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28dad14a384f09" /><Relationship Type="http://schemas.openxmlformats.org/officeDocument/2006/relationships/extended-properties" Target="/docProps/app.xml" Id="R7c05f69c5b8448ba" /><Relationship Type="http://schemas.openxmlformats.org/officeDocument/2006/relationships/officeDocument" Target="/ppt/presentation.xml" Id="Rbf9f77a861d0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547b2231f04085"/>
  </p:sldMasterIdLst>
  <p:notesMasterIdLst>
    <p:notesMasterId xmlns:r="http://schemas.openxmlformats.org/officeDocument/2006/relationships" r:id="R22ec77b2f984460a"/>
  </p:notesMasterIdLst>
  <p:sldIdLst>
    <p:sldId xmlns:r="http://schemas.openxmlformats.org/officeDocument/2006/relationships" id="256" r:id="R022c74dbc95745da"/>
    <p:sldId xmlns:r="http://schemas.openxmlformats.org/officeDocument/2006/relationships" id="257" r:id="Rf665abe1c70d4a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477f9d5cc04b31" /><Relationship Type="http://schemas.openxmlformats.org/officeDocument/2006/relationships/slideMaster" Target="/ppt/slideMasters/slideMaster1.xml" Id="R01547b2231f04085" /><Relationship Type="http://schemas.openxmlformats.org/officeDocument/2006/relationships/notesMaster" Target="/ppt/notesMasters/notesMaster1.xml" Id="R22ec77b2f984460a" /><Relationship Type="http://schemas.openxmlformats.org/officeDocument/2006/relationships/presProps" Target="/ppt/presProps.xml" Id="R4a059a73afef4d80" /><Relationship Type="http://schemas.openxmlformats.org/officeDocument/2006/relationships/tableStyles" Target="/ppt/tableStyles.xml" Id="R9d552fc444474e05" /><Relationship Type="http://schemas.openxmlformats.org/officeDocument/2006/relationships/slide" Target="/ppt/slides/slide1.xml" Id="R022c74dbc95745da" /><Relationship Type="http://schemas.openxmlformats.org/officeDocument/2006/relationships/slide" Target="/ppt/slides/slide2.xml" Id="Rf665abe1c70d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35e424eb5c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0c34b773824cc6" /><Relationship Type="http://schemas.openxmlformats.org/officeDocument/2006/relationships/notesMaster" Target="/ppt/notesMasters/notesMaster1.xml" Id="Ra1d15cc7329948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f42e92ca854260" /><Relationship Type="http://schemas.openxmlformats.org/officeDocument/2006/relationships/notesMaster" Target="/ppt/notesMasters/notesMaster1.xml" Id="R8aa42661bb9a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我先打开一条真实新闻卡，进入全文并查看原始来源；接着进入核验页，看到 recordHash 和 Merkle proof。客户端重算得到的根与 Injective 上 revision 2 的 editionRoot 一致。Frost #43 读取这条公开事件，请看桌面：LED 改色，小屏出现标题和版次，TTS 读出见闻，手机镜像同步显示。演示前已经预加载知识卡、proof 与 Frost #43；若现场网络异常，会立即切换离线 pack、静态 Blockscout 和真实联调录屏。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Pocket Earth 把私人记忆和公共知识都放回空间；Injective 让身份、门牌、版次与公开事件拥有可核对的时间证据；Frost Edge Node 再把这些事实带回现实房间。空间留在 Pocket Earth，时间由 Injective 见证。谢谢各位评委。最后一句说完停顿两秒，进入问答。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6543a022142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4e7c4acb04cad" /><Relationship Type="http://schemas.openxmlformats.org/officeDocument/2006/relationships/slideLayout" Target="/ppt/slideLayouts/slideLayout1.xml" Id="R8b2b822d8bc54e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2b822d8bc54e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74f95c951447a" /><Relationship Type="http://schemas.openxmlformats.org/officeDocument/2006/relationships/image" Target="/ppt/media/image.jpeg" Id="R745c0f3de3394f7a" /><Relationship Type="http://schemas.openxmlformats.org/officeDocument/2006/relationships/image" Target="/ppt/media/image2.jpeg" Id="R48448914c37049d4" /><Relationship Type="http://schemas.openxmlformats.org/officeDocument/2006/relationships/image" Target="/ppt/media/image3.jpeg" Id="Rb021f8545fff46ca" /><Relationship Type="http://schemas.openxmlformats.org/officeDocument/2006/relationships/image" Target="/ppt/media/image4.jpeg" Id="Re332075f25d54818" /><Relationship Type="http://schemas.openxmlformats.org/officeDocument/2006/relationships/image" Target="/ppt/media/image5.jpeg" Id="Rd862bf477f2f4c98" /><Relationship Type="http://schemas.openxmlformats.org/officeDocument/2006/relationships/image" Target="/ppt/media/image.png" Id="Rc3e6d6b1f2f04d8f" /><Relationship Type="http://schemas.openxmlformats.org/officeDocument/2006/relationships/notesSlide" Target="/ppt/notesSlides/notesSlide1.xml" Id="R5d2f83c118d545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5a81e74394f13" /><Relationship Type="http://schemas.openxmlformats.org/officeDocument/2006/relationships/image" Target="/ppt/media/image6.jpeg" Id="R56114c0235a44e61" /><Relationship Type="http://schemas.openxmlformats.org/officeDocument/2006/relationships/image" Target="/ppt/media/image7.jpeg" Id="R7faf7a2202cd4031" /><Relationship Type="http://schemas.openxmlformats.org/officeDocument/2006/relationships/image" Target="/ppt/media/image2.png" Id="R174bb8658d8146ab" /><Relationship Type="http://schemas.openxmlformats.org/officeDocument/2006/relationships/image" Target="/ppt/media/image3.png" Id="R2b75b5dc99914daf" /><Relationship Type="http://schemas.openxmlformats.org/officeDocument/2006/relationships/notesSlide" Target="/ppt/notesSlides/notesSlide2.xml" Id="R10156db4e35d4d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934E70-28F0-4239-A694-35892650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590A4-F325-4E83-AFFB-3296305B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2667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F7CDA-34CE-478E-B8E4-87421FD6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LIVE DEMO · 55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9414B-535E-4EE0-981C-3950C1A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572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918"/>
                </a:solidFill>
              </a:defRPr>
            </a:pPr>
            <a:r>
              <a:rPr sz="2400" b="0">
                <a:solidFill>
                  <a:srgbClr val="171918"/>
                </a:solidFill>
              </a:rPr>
              <a:t>Discover → Verify → Approve → Commit → Read → Echo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4C352-82A6-43CD-AA33-03DEE231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同一条知识，从原始来源走到 Merkle proof、Injective root 与物理反馈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FE81E-594F-411C-A58B-C6797F08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7430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5FAF7-F7BC-4C83-B230-B35BED2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17430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D62DD"/>
          </a:solidFill>
          <a:ln xmlns:a="http://schemas.openxmlformats.org/drawingml/2006/main" w="0">
            <a:solidFill>
              <a:srgbClr val="2D62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B7C3F-7EEE-4B44-947C-F1D35B4E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24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00–10s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FE2AA-FF3D-4411-8A1D-6D5E6D2E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240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DISCOVER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c0f3de3394f7a"/>
          <a:srcRect xmlns:a="http://schemas.openxmlformats.org/drawingml/2006/main" l="0" t="24782" r="0" b="2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" y="2343150"/>
            <a:ext cx="1533525" cy="1676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B1597-4202-43A0-BDDA-8236A08B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15335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EF923-EBCA-40D2-B2F7-07C9C2E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719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打开真实来源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EDB97-E33D-44F1-A110-C81FFF8C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0057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新闻卡展开全文，保留来源、日期与公开链接。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9DD07-DF51-4EAF-BDC9-84D76F4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57375"/>
            <a:ext cx="17430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54437-90CA-41DF-98C8-D19B076B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57375"/>
            <a:ext cx="17430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8F70DC"/>
          </a:solidFill>
          <a:ln xmlns:a="http://schemas.openxmlformats.org/drawingml/2006/main" w="0">
            <a:solidFill>
              <a:srgbClr val="8F7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F055D-6F96-4448-8F59-7C56E3A2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24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10–20s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AA0FF-5C3D-450B-9EB3-B8DADD0C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VERIFY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48914c37049d4"/>
          <a:srcRect xmlns:a="http://schemas.openxmlformats.org/drawingml/2006/main" l="0" t="24782" r="0" b="2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00" y="2343150"/>
            <a:ext cx="1533525" cy="16764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F0481-1824-468F-8C74-1076E7BC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15335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77CBA-B32D-4288-B8D8-B906FC57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719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六步交叉核验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2B7B6-8A6F-4982-ABDF-13658937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0057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核验路径明确呈现，模型不能自动发布。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1E6BD-9E3E-4E10-B2D7-0A2F7EB5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17430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48534-F546-441B-9041-4C7BE49A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17430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28A4B"/>
          </a:solidFill>
          <a:ln xmlns:a="http://schemas.openxmlformats.org/drawingml/2006/main" w="0">
            <a:solidFill>
              <a:srgbClr val="F28A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083FF-D1B4-45DB-B694-531D8E83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24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20–30s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26EA4-1E6D-4A7B-A361-01107A1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9240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APPROVE</a:t>
            </a:r>
          </a:p>
        </p:txBody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1f8545fff46ca"/>
          <a:srcRect xmlns:a="http://schemas.openxmlformats.org/drawingml/2006/main" l="0" t="24782" r="0" b="2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1975" y="2343150"/>
            <a:ext cx="1533525" cy="16764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3023C-575F-4966-B0AA-843FABBE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43150"/>
            <a:ext cx="15335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077E6F-9E50-4D37-9BE6-A3C52040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719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查看 Merkle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B3779-2AF8-453C-979D-D3215DB3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60057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客户端重算 recordHash 与根，人工确认版次。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1655D-41C5-414A-921B-5049B0DA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57375"/>
            <a:ext cx="17430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549A0-6F81-455D-B07E-1135BE03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57375"/>
            <a:ext cx="17430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81E0E-A31D-4923-BF8E-4824E24F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30–36s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1CA7E-B021-4C01-8EF9-C595861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COMMIT</a:t>
            </a:r>
          </a:p>
        </p:txBody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2075f25d54818"/>
          <a:srcRect xmlns:a="http://schemas.openxmlformats.org/drawingml/2006/main" l="24256" t="0" r="242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2343150"/>
            <a:ext cx="1533525" cy="16764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0B614F-74FF-4BE9-92ED-CADA0D91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15335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CB3E21-749A-4DFD-8830-0A7B7DE2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版次根写入 Injective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6FD902-E4B5-4067-A3F8-DF2BED3D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revision 2 的 editionRoot 获得交易时间证据。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810F07-4AA4-449D-B694-44537F79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57375"/>
            <a:ext cx="17430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E6AD84-321E-4522-A3B2-FDCED2B6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57375"/>
            <a:ext cx="17430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9B9AD"/>
          </a:solidFill>
          <a:ln xmlns:a="http://schemas.openxmlformats.org/drawingml/2006/main" w="0">
            <a:solidFill>
              <a:srgbClr val="39B9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2D630B-039F-4321-A4E7-B6E35603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24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36–42s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FE0519-021A-46E5-A36B-82917023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240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READ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2bf477f2f4c98"/>
          <a:srcRect xmlns:a="http://schemas.openxmlformats.org/drawingml/2006/main" l="24256" t="0" r="242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62925" y="2343150"/>
            <a:ext cx="1533525" cy="16764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2A7B41-F23B-4A4F-B181-A3476D4E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43150"/>
            <a:ext cx="15335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114A04-EBC3-412E-8E27-BADF885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719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Frost #43 读取事件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BB4499-59B1-46D5-AE31-07236662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0057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公开事件日志进入白名单 chain dispatch。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EC8D21-1FD0-478C-93A6-A7954C2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57375"/>
            <a:ext cx="17430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BD865C-50B1-4BE2-A408-30F4BBF7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57375"/>
            <a:ext cx="17430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766D"/>
          </a:solidFill>
          <a:ln xmlns:a="http://schemas.openxmlformats.org/drawingml/2006/main" w="0">
            <a:solidFill>
              <a:srgbClr val="EF766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2034B2-3BA8-4403-B108-EBB383BB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24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42–55s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031C30-CBE9-4D54-9990-C11AEBB2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24050"/>
            <a:ext cx="1076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ECHO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790B8B-8132-4DDD-A414-B3B8971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43150"/>
            <a:ext cx="15335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2D9607-F6C9-4B5F-9461-9B5CFF2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86025"/>
            <a:ext cx="1114425" cy="13906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7F2E6"/>
          </a:solidFill>
          <a:ln xmlns:a="http://schemas.openxmlformats.org/drawingml/2006/main" w="9525">
            <a:solidFill>
              <a:srgbClr val="6E766F"/>
            </a:solidFill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6d6b1f2f04d8f"/>
          <a:stretch xmlns:a="http://schemas.openxmlformats.org/drawingml/2006/main"/>
        </p:blipFill>
        <p:spPr>
          <a:xfrm xmlns:a="http://schemas.openxmlformats.org/drawingml/2006/main">
            <a:off x="10363200" y="2642394"/>
            <a:ext cx="923925" cy="1077913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365D42-604F-4736-933D-3074880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552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FFB0"/>
          </a:solidFill>
          <a:ln xmlns:a="http://schemas.openxmlformats.org/drawingml/2006/main" w="0">
            <a:solidFill>
              <a:srgbClr val="7CFFB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629D35-38DD-4BBF-809E-74F9CF08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714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6DD"/>
          </a:solidFill>
          <a:ln xmlns:a="http://schemas.openxmlformats.org/drawingml/2006/main" w="0">
            <a:solidFill>
              <a:srgbClr val="18C6D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71AB5D-D6D9-4470-ABD8-437107FD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24175"/>
            <a:ext cx="190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B9C8BF"/>
                </a:solidFill>
              </a:defRPr>
            </a:pPr>
            <a:r>
              <a:rPr sz="525" b="1">
                <a:solidFill>
                  <a:srgbClr val="B9C8BF"/>
                </a:solidFill>
              </a:rPr>
              <a:t>LED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AD4F8F-AEDB-4498-8D12-C3820A0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600325"/>
            <a:ext cx="2190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4C84A"/>
                </a:solidFill>
              </a:defRPr>
            </a:pPr>
            <a:r>
              <a:rPr sz="525" b="1">
                <a:solidFill>
                  <a:srgbClr val="F4C84A"/>
                </a:solidFill>
              </a:rPr>
              <a:t>TTS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5AACA3-F542-42F3-AE85-E6BF5923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9051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PHONE</a:t>
            </a:r>
          </a:p>
          <a:p xmlns:a="http://schemas.openxmlformats.org/drawingml/2006/main">
            <a:pPr algn="ctr"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MIRROR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20C895-5E8B-4934-950B-3761E533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719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回到现实房间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EE8428-8114-494E-99B3-9CF52E52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0057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LED 改色、小屏显示版次；TTS 与手机镜像同步。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4D818D-067A-47BC-8C30-1C91D959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11239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7D6AFA-4054-4C48-AA9F-53E625F6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43575"/>
            <a:ext cx="1000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0"/>
                </a:solidFill>
              </a:defRPr>
            </a:pPr>
            <a:r>
              <a:rPr sz="900" b="1">
                <a:solidFill>
                  <a:srgbClr val="7CFFB0"/>
                </a:solidFill>
              </a:rPr>
              <a:t>MAIN PATH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F75D61-5219-4EFB-BBF5-DAB192F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743575"/>
            <a:ext cx="558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真实知识卡 → proof → Injective root → Frost Edge Node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665C04-DB5D-4B07-AC67-15FAB7E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743575"/>
            <a:ext cx="866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C84A"/>
                </a:solidFill>
              </a:defRPr>
            </a:pPr>
            <a:r>
              <a:rPr sz="900" b="1">
                <a:solidFill>
                  <a:srgbClr val="F4C84A"/>
                </a:solidFill>
              </a:rPr>
              <a:t>FALLBACK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EB8B49-5927-42E5-BA0D-F104B125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43575"/>
            <a:ext cx="2981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ECE9"/>
                </a:solidFill>
              </a:defRPr>
            </a:pPr>
            <a:r>
              <a:rPr sz="975" b="0">
                <a:solidFill>
                  <a:srgbClr val="E7ECE9"/>
                </a:solidFill>
              </a:rPr>
              <a:t>离线 pack + Blockscout + 真实联调录屏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220A0D-243D-4E29-B724-91C41C1E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34100"/>
            <a:ext cx="1123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604F"/>
                </a:solidFill>
              </a:defRPr>
            </a:pPr>
            <a:r>
              <a:rPr sz="1125" b="1">
                <a:solidFill>
                  <a:srgbClr val="2A604F"/>
                </a:solidFill>
              </a:rPr>
              <a:t>同一条事实，从来源、资源包、Injective 一直走到现实房间。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91E2C5-42A7-422D-B390-FFF1353D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A1D014-DB79-4BD8-8144-02FD2364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31 / LIVE DEMO · END-TO-END</a:t>
            </a:r>
          </a:p>
        </p:txBody>
      </p:sp>
    </p:spTree>
    <p:extLst>
      <p:ext uri="{BB962C8B-B14F-4D97-AF65-F5344CB8AC3E}">
        <p14:creationId xmlns:p14="http://schemas.microsoft.com/office/powerpoint/2010/main" val="1962899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E81E27-0D5B-4C93-8CDB-D03D9532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5510C-CB23-42B9-9D14-9881CBFA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31908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6C330-D853-40D6-9D64-FBB0E8FE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924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POCKET EARTH ON INJECTIVE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0579E-16D0-44DB-B211-FBDC210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426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</a:defRPr>
            </a:pPr>
            <a:r>
              <a:rPr sz="2325" b="0">
                <a:solidFill>
                  <a:srgbClr val="171918"/>
                </a:solidFill>
              </a:rPr>
              <a:t>把人生放回空间，</a:t>
            </a:r>
          </a:p>
          <a:p xmlns:a="http://schemas.openxmlformats.org/drawingml/2006/main">
            <a:pPr algn="l">
              <a:defRPr sz="2325" b="0">
                <a:solidFill>
                  <a:srgbClr val="171918"/>
                </a:solidFill>
              </a:defRPr>
            </a:pPr>
            <a:r>
              <a:rPr sz="2325" b="0">
                <a:solidFill>
                  <a:srgbClr val="171918"/>
                </a:solidFill>
              </a:rPr>
              <a:t>把公共知识交给时间证明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517C4-B4F3-48D4-A930-26AC94D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一颗私人地球 · 一个公开 Agent 世界 · 一台房间里的 Frost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9CF21-D5B4-48C8-AF36-13C7288F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41719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F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85040-D96D-4767-B8D9-EEBE7757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571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2347B-7C8A-4766-9782-407025C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2DD"/>
                </a:solidFill>
              </a:defRPr>
            </a:pPr>
            <a:r>
              <a:rPr sz="1350" b="1">
                <a:solidFill>
                  <a:srgbClr val="2D62D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460F1-A292-43B1-9068-3C33CB3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8130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BC82B-7179-4835-827C-5F5DF7A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28950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私人记忆与公共知识回到地点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6F92F-3DC3-4200-9549-13C89AE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41719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F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F4C6A-21BB-4032-A0E1-0EA6F6CE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571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921E3-918A-4CE8-8A3F-3448FBC9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C622B-9FAA-4B7B-9735-15B3380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8140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信任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A4E88-8588-41E5-A5AE-EBFA7CB4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29050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身份、门牌、版次与公开事件由 Injective 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522D0-2556-4DF9-BE5B-311FC64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41719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F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770F6-1B57-48C7-820D-F80F358E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571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CB603-A4A6-41A7-BAF5-E65483C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8A4B"/>
                </a:solidFill>
              </a:defRPr>
            </a:pPr>
            <a:r>
              <a:rPr sz="1350" b="1">
                <a:solidFill>
                  <a:srgbClr val="F28A4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28FF2-A303-4134-997C-52B5BDB3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8150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存在感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2717A7-2025-4F23-9722-2AA6032A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29150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Frost Edge Node 把证据变成可见、可听的反馈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DFE38-F109-49CE-80A7-8BC4CD3C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57800"/>
            <a:ext cx="4171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BD6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1A3F8-9E86-4651-9AB8-D437D33F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604F"/>
                </a:solidFill>
              </a:defRPr>
            </a:pPr>
            <a:r>
              <a:rPr sz="1350" b="1">
                <a:solidFill>
                  <a:srgbClr val="2A604F"/>
                </a:solidFill>
              </a:rPr>
              <a:t>口袋地球装记忆，公共地球住分身。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FBE7D-78EB-4B74-86A8-557BC205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435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pocketearth-injective.throughtheglass.art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36364-E76A-4D84-82E5-4A190C47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8650"/>
            <a:ext cx="6572250" cy="5391150"/>
          </a:xfrm>
          <a:prstGeom xmlns:a="http://schemas.openxmlformats.org/drawingml/2006/main" prst="roundRect">
            <a:avLst>
              <a:gd name="adj" fmla="val 10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96AB8-BAFB-47AA-99B3-39E9CEC7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885825"/>
            <a:ext cx="6191250" cy="2552700"/>
          </a:xfrm>
          <a:prstGeom xmlns:a="http://schemas.openxmlformats.org/drawingml/2006/main" prst="roundRect">
            <a:avLst>
              <a:gd name="adj" fmla="val 746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14c0235a44e61"/>
          <a:srcRect xmlns:a="http://schemas.openxmlformats.org/drawingml/2006/main" l="0" t="40489" r="0" b="404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819150"/>
            <a:ext cx="6191250" cy="2552700"/>
          </a:xfrm>
          <a:prstGeom xmlns:a="http://schemas.openxmlformats.org/drawingml/2006/main" prst="roundRect">
            <a:avLst>
              <a:gd name="adj" fmla="val 746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CFB1C-7A3F-4485-89B6-77143A0F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19150"/>
            <a:ext cx="6191250" cy="2552700"/>
          </a:xfrm>
          <a:prstGeom xmlns:a="http://schemas.openxmlformats.org/drawingml/2006/main" prst="roundRect">
            <a:avLst>
              <a:gd name="adj" fmla="val 746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2A60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E27BCF-3C2E-44B3-B0FF-FADEA50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62025"/>
            <a:ext cx="18097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9DE2B4-05D9-4CF0-A3D1-1297F734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01917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SPACE · PUBLIC EARTH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149869-F7B1-4051-99EF-9DC97725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48075"/>
            <a:ext cx="2819400" cy="1743075"/>
          </a:xfrm>
          <a:prstGeom xmlns:a="http://schemas.openxmlformats.org/drawingml/2006/main" prst="roundRect">
            <a:avLst>
              <a:gd name="adj" fmla="val 1093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f7a2202cd4031"/>
          <a:srcRect xmlns:a="http://schemas.openxmlformats.org/drawingml/2006/main" l="4480" t="0" r="44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3581400"/>
            <a:ext cx="2819400" cy="1743075"/>
          </a:xfrm>
          <a:prstGeom xmlns:a="http://schemas.openxmlformats.org/drawingml/2006/main" prst="roundRect">
            <a:avLst>
              <a:gd name="adj" fmla="val 1093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CF9E38-2AA7-4D67-BD67-005BB812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81400"/>
            <a:ext cx="2819400" cy="1743075"/>
          </a:xfrm>
          <a:prstGeom xmlns:a="http://schemas.openxmlformats.org/drawingml/2006/main" prst="roundRect">
            <a:avLst>
              <a:gd name="adj" fmla="val 1093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2A60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0F793E-CE19-4005-B54E-5C005357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05225"/>
            <a:ext cx="15811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A604F"/>
          </a:solidFill>
          <a:ln xmlns:a="http://schemas.openxmlformats.org/drawingml/2006/main" w="0">
            <a:solidFill>
              <a:srgbClr val="2A60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A7307A-405E-4909-A9E9-88432E0A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623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TIME · INJECTIVE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97114B-A15E-426A-A1F9-E363D809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81400"/>
            <a:ext cx="2009775" cy="1743075"/>
          </a:xfrm>
          <a:prstGeom xmlns:a="http://schemas.openxmlformats.org/drawingml/2006/main" prst="roundRect">
            <a:avLst>
              <a:gd name="adj" fmla="val 1093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DA0BCE-D8B3-4E90-B00C-35B5BE3B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05225"/>
            <a:ext cx="942975" cy="14287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7F2E6"/>
          </a:solidFill>
          <a:ln xmlns:a="http://schemas.openxmlformats.org/drawingml/2006/main" w="9525">
            <a:solidFill>
              <a:srgbClr val="8C948F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bb8658d8146ab"/>
          <a:stretch xmlns:a="http://schemas.openxmlformats.org/drawingml/2006/main"/>
        </p:blipFill>
        <p:spPr>
          <a:xfrm xmlns:a="http://schemas.openxmlformats.org/drawingml/2006/main">
            <a:off x="9001125" y="3991769"/>
            <a:ext cx="733425" cy="855663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DDB55D-0A53-4A55-B3CF-3A7759C2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10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FFB0"/>
          </a:solidFill>
          <a:ln xmlns:a="http://schemas.openxmlformats.org/drawingml/2006/main" w="0">
            <a:solidFill>
              <a:srgbClr val="7CFFB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15196F-EF3D-47E3-9228-5BFAA557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10025"/>
            <a:ext cx="876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FROST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EDGE NODE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CD2418-AC63-4218-B558-4FDFB039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339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4C84A"/>
                </a:solidFill>
              </a:defRPr>
            </a:pPr>
            <a:r>
              <a:rPr sz="675" b="1">
                <a:solidFill>
                  <a:srgbClr val="F4C84A"/>
                </a:solidFill>
              </a:rPr>
              <a:t>presence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5017A0-E5DC-443F-95E8-D158F63C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581400"/>
            <a:ext cx="1009650" cy="1743075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5b5dc99914daf"/>
          <a:stretch xmlns:a="http://schemas.openxmlformats.org/drawingml/2006/main"/>
        </p:blipFill>
        <p:spPr>
          <a:xfrm xmlns:a="http://schemas.openxmlformats.org/drawingml/2006/main">
            <a:off x="10658475" y="3724275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06D877-79F2-4BC6-A10B-8FB651C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529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A604F"/>
                </a:solidFill>
              </a:defRPr>
            </a:pPr>
            <a:r>
              <a:rPr sz="675" b="1">
                <a:solidFill>
                  <a:srgbClr val="2A604F"/>
                </a:solidFill>
              </a:rPr>
              <a:t>OPEN DEMO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19BAE9-C998-4DEB-B774-5B59546B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196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6D69"/>
                </a:solidFill>
              </a:defRPr>
            </a:pPr>
            <a:r>
              <a:rPr sz="675" b="1">
                <a:solidFill>
                  <a:srgbClr val="666D69"/>
                </a:solidFill>
              </a:rPr>
              <a:t>PUBLIC</a:t>
            </a:r>
          </a:p>
          <a:p xmlns:a="http://schemas.openxmlformats.org/drawingml/2006/main">
            <a:pPr algn="ctr">
              <a:defRPr sz="675" b="1">
                <a:solidFill>
                  <a:srgbClr val="666D69"/>
                </a:solidFill>
              </a:defRPr>
            </a:pPr>
            <a:r>
              <a:rPr sz="675" b="1">
                <a:solidFill>
                  <a:srgbClr val="666D69"/>
                </a:solidFill>
              </a:rPr>
              <a:t>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B70D8D-1973-4193-8AFD-47C283AD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435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918"/>
                </a:solidFill>
              </a:defRPr>
            </a:pPr>
            <a:r>
              <a:rPr sz="1350" b="1">
                <a:solidFill>
                  <a:srgbClr val="171918"/>
                </a:solidFill>
              </a:rPr>
              <a:t>空间留在 Pocket Earth，时间由 Injective 见证。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5F5DD1-9974-4789-B2C6-0F43E090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499552-C9AE-42E6-9C07-CF13918D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32 / POCKET EARTH ON INJECTIVE</a:t>
            </a:r>
          </a:p>
        </p:txBody>
      </p:sp>
    </p:spTree>
    <p:extLst>
      <p:ext uri="{BB962C8B-B14F-4D97-AF65-F5344CB8AC3E}">
        <p14:creationId xmlns:p14="http://schemas.microsoft.com/office/powerpoint/2010/main" val="509716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2026-07-19T17:26:23.9420000Z</dcterms:created>
  <dcterms:modified xsi:type="dcterms:W3CDTF">2026-07-19T17:26:23.9420000Z</dcterms:modified>
</coreProperties>
</file>