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1695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0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3" name="Line 3"/>
          <p:cNvSpPr/>
          <p:nvPr/>
        </p:nvSpPr>
        <p:spPr>
          <a:xfrm>
            <a:off x="507987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4" name="Line 4"/>
          <p:cNvSpPr/>
          <p:nvPr/>
        </p:nvSpPr>
        <p:spPr>
          <a:xfrm>
            <a:off x="1015975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5" name="Line 5"/>
          <p:cNvSpPr/>
          <p:nvPr/>
        </p:nvSpPr>
        <p:spPr>
          <a:xfrm>
            <a:off x="1523962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6" name="Line 6"/>
          <p:cNvSpPr/>
          <p:nvPr/>
        </p:nvSpPr>
        <p:spPr>
          <a:xfrm>
            <a:off x="2031949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7" name="Line 7"/>
          <p:cNvSpPr/>
          <p:nvPr/>
        </p:nvSpPr>
        <p:spPr>
          <a:xfrm>
            <a:off x="2539936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8" name="Line 8"/>
          <p:cNvSpPr/>
          <p:nvPr/>
        </p:nvSpPr>
        <p:spPr>
          <a:xfrm>
            <a:off x="3047924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9" name="Line 9"/>
          <p:cNvSpPr/>
          <p:nvPr/>
        </p:nvSpPr>
        <p:spPr>
          <a:xfrm>
            <a:off x="3555911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10" name="Line 10"/>
          <p:cNvSpPr/>
          <p:nvPr/>
        </p:nvSpPr>
        <p:spPr>
          <a:xfrm>
            <a:off x="4063898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11" name="Line 11"/>
          <p:cNvSpPr/>
          <p:nvPr/>
        </p:nvSpPr>
        <p:spPr>
          <a:xfrm>
            <a:off x="4571886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12" name="Line 12"/>
          <p:cNvSpPr/>
          <p:nvPr/>
        </p:nvSpPr>
        <p:spPr>
          <a:xfrm>
            <a:off x="5079873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13" name="Line 13"/>
          <p:cNvSpPr/>
          <p:nvPr/>
        </p:nvSpPr>
        <p:spPr>
          <a:xfrm>
            <a:off x="5587860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14" name="Line 14"/>
          <p:cNvSpPr/>
          <p:nvPr/>
        </p:nvSpPr>
        <p:spPr>
          <a:xfrm>
            <a:off x="6095848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15" name="Line 15"/>
          <p:cNvSpPr/>
          <p:nvPr/>
        </p:nvSpPr>
        <p:spPr>
          <a:xfrm>
            <a:off x="6603835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16" name="Line 16"/>
          <p:cNvSpPr/>
          <p:nvPr/>
        </p:nvSpPr>
        <p:spPr>
          <a:xfrm>
            <a:off x="7111822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17" name="Line 17"/>
          <p:cNvSpPr/>
          <p:nvPr/>
        </p:nvSpPr>
        <p:spPr>
          <a:xfrm>
            <a:off x="7619810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18" name="Line 18"/>
          <p:cNvSpPr/>
          <p:nvPr/>
        </p:nvSpPr>
        <p:spPr>
          <a:xfrm>
            <a:off x="8127797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19" name="Line 19"/>
          <p:cNvSpPr/>
          <p:nvPr/>
        </p:nvSpPr>
        <p:spPr>
          <a:xfrm>
            <a:off x="8635784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20" name="Line 20"/>
          <p:cNvSpPr/>
          <p:nvPr/>
        </p:nvSpPr>
        <p:spPr>
          <a:xfrm>
            <a:off x="9143771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21" name="Line 21"/>
          <p:cNvSpPr/>
          <p:nvPr/>
        </p:nvSpPr>
        <p:spPr>
          <a:xfrm>
            <a:off x="9651759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22" name="Line 22"/>
          <p:cNvSpPr/>
          <p:nvPr/>
        </p:nvSpPr>
        <p:spPr>
          <a:xfrm>
            <a:off x="10159746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23" name="Line 23"/>
          <p:cNvSpPr/>
          <p:nvPr/>
        </p:nvSpPr>
        <p:spPr>
          <a:xfrm>
            <a:off x="10667733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24" name="Line 24"/>
          <p:cNvSpPr/>
          <p:nvPr/>
        </p:nvSpPr>
        <p:spPr>
          <a:xfrm>
            <a:off x="11175721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25" name="Line 25"/>
          <p:cNvSpPr/>
          <p:nvPr/>
        </p:nvSpPr>
        <p:spPr>
          <a:xfrm>
            <a:off x="11683708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26" name="Line 26"/>
          <p:cNvSpPr/>
          <p:nvPr/>
        </p:nvSpPr>
        <p:spPr>
          <a:xfrm>
            <a:off x="12191695" y="86"/>
            <a:ext cx="0" cy="6857829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27" name="Line 27"/>
          <p:cNvSpPr/>
          <p:nvPr/>
        </p:nvSpPr>
        <p:spPr>
          <a:xfrm>
            <a:off x="0" y="86"/>
            <a:ext cx="12191695" cy="0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28" name="Line 28"/>
          <p:cNvSpPr/>
          <p:nvPr/>
        </p:nvSpPr>
        <p:spPr>
          <a:xfrm>
            <a:off x="0" y="508073"/>
            <a:ext cx="12191695" cy="0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29" name="Line 29"/>
          <p:cNvSpPr/>
          <p:nvPr/>
        </p:nvSpPr>
        <p:spPr>
          <a:xfrm>
            <a:off x="0" y="1016060"/>
            <a:ext cx="12191695" cy="0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30" name="Line 30"/>
          <p:cNvSpPr/>
          <p:nvPr/>
        </p:nvSpPr>
        <p:spPr>
          <a:xfrm>
            <a:off x="0" y="1524048"/>
            <a:ext cx="12191695" cy="0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31" name="Line 31"/>
          <p:cNvSpPr/>
          <p:nvPr/>
        </p:nvSpPr>
        <p:spPr>
          <a:xfrm>
            <a:off x="0" y="2032035"/>
            <a:ext cx="12191695" cy="0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32" name="Line 32"/>
          <p:cNvSpPr/>
          <p:nvPr/>
        </p:nvSpPr>
        <p:spPr>
          <a:xfrm>
            <a:off x="0" y="2540022"/>
            <a:ext cx="12191695" cy="0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33" name="Line 33"/>
          <p:cNvSpPr/>
          <p:nvPr/>
        </p:nvSpPr>
        <p:spPr>
          <a:xfrm>
            <a:off x="0" y="3048010"/>
            <a:ext cx="12191695" cy="0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34" name="Line 34"/>
          <p:cNvSpPr/>
          <p:nvPr/>
        </p:nvSpPr>
        <p:spPr>
          <a:xfrm>
            <a:off x="0" y="3555997"/>
            <a:ext cx="12191695" cy="0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35" name="Line 35"/>
          <p:cNvSpPr/>
          <p:nvPr/>
        </p:nvSpPr>
        <p:spPr>
          <a:xfrm>
            <a:off x="0" y="4063984"/>
            <a:ext cx="12191695" cy="0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36" name="Line 36"/>
          <p:cNvSpPr/>
          <p:nvPr/>
        </p:nvSpPr>
        <p:spPr>
          <a:xfrm>
            <a:off x="0" y="4571971"/>
            <a:ext cx="12191695" cy="0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37" name="Line 37"/>
          <p:cNvSpPr/>
          <p:nvPr/>
        </p:nvSpPr>
        <p:spPr>
          <a:xfrm>
            <a:off x="0" y="5079959"/>
            <a:ext cx="12191695" cy="0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38" name="Line 38"/>
          <p:cNvSpPr/>
          <p:nvPr/>
        </p:nvSpPr>
        <p:spPr>
          <a:xfrm>
            <a:off x="0" y="5587946"/>
            <a:ext cx="12191695" cy="0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39" name="Line 39"/>
          <p:cNvSpPr/>
          <p:nvPr/>
        </p:nvSpPr>
        <p:spPr>
          <a:xfrm>
            <a:off x="0" y="6095933"/>
            <a:ext cx="12191695" cy="0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40" name="Line 40"/>
          <p:cNvSpPr/>
          <p:nvPr/>
        </p:nvSpPr>
        <p:spPr>
          <a:xfrm>
            <a:off x="0" y="6603921"/>
            <a:ext cx="12191695" cy="0"/>
          </a:xfrm>
          <a:prstGeom prst="line">
            <a:avLst/>
          </a:prstGeom>
          <a:noFill/>
          <a:ln w="6350">
            <a:solidFill>
              <a:srgbClr val="DCDDDA"/>
            </a:solidFill>
          </a:ln>
        </p:spPr>
        <p:txBody>
          <a:bodyPr/>
          <a:lstStyle/>
          <a:p/>
        </p:txBody>
      </p:sp>
      <p:sp>
        <p:nvSpPr>
          <p:cNvPr id="41" name="Roundrect 41"/>
          <p:cNvSpPr/>
          <p:nvPr/>
        </p:nvSpPr>
        <p:spPr>
          <a:xfrm>
            <a:off x="4870328" y="901763"/>
            <a:ext cx="2222444" cy="4730632"/>
          </a:xfrm>
          <a:prstGeom prst="roundRect">
            <a:avLst>
              <a:gd name="adj" fmla="val 3429"/>
            </a:avLst>
          </a:prstGeom>
          <a:solidFill>
            <a:srgbClr val="D5D6D3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Roundrect 42"/>
          <p:cNvSpPr/>
          <p:nvPr/>
        </p:nvSpPr>
        <p:spPr>
          <a:xfrm>
            <a:off x="9029474" y="901763"/>
            <a:ext cx="2317692" cy="4730632"/>
          </a:xfrm>
          <a:prstGeom prst="roundRect">
            <a:avLst>
              <a:gd name="adj" fmla="val 3288"/>
            </a:avLst>
          </a:prstGeom>
          <a:solidFill>
            <a:srgbClr val="D5D6D3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Roundrect 43"/>
          <p:cNvSpPr/>
          <p:nvPr/>
        </p:nvSpPr>
        <p:spPr>
          <a:xfrm>
            <a:off x="4810005" y="809690"/>
            <a:ext cx="2222444" cy="4730632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383B3B"/>
            </a:solidFill>
          </a:ln>
        </p:spPr>
        <p:txBody>
          <a:bodyPr/>
          <a:lstStyle/>
          <a:p/>
        </p:txBody>
      </p:sp>
      <p:sp>
        <p:nvSpPr>
          <p:cNvPr id="44" name="Roundrect 44"/>
          <p:cNvSpPr/>
          <p:nvPr/>
        </p:nvSpPr>
        <p:spPr>
          <a:xfrm>
            <a:off x="8969151" y="809690"/>
            <a:ext cx="2317692" cy="473063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5875">
            <a:solidFill>
              <a:srgbClr val="383B3B"/>
            </a:solidFill>
          </a:ln>
        </p:spPr>
        <p:txBody>
          <a:bodyPr/>
          <a:lstStyle/>
          <a:p/>
        </p:txBody>
      </p:sp>
      <p:sp>
        <p:nvSpPr>
          <p:cNvPr id="45" name="Roundrect 45"/>
          <p:cNvSpPr/>
          <p:nvPr/>
        </p:nvSpPr>
        <p:spPr>
          <a:xfrm>
            <a:off x="476238" y="857314"/>
            <a:ext cx="2492313" cy="333367"/>
          </a:xfrm>
          <a:prstGeom prst="roundRect">
            <a:avLst>
              <a:gd name="adj" fmla="val 14286"/>
            </a:avLst>
          </a:prstGeom>
          <a:solidFill>
            <a:srgbClr val="278FCB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Line 46"/>
          <p:cNvSpPr/>
          <p:nvPr/>
        </p:nvSpPr>
        <p:spPr>
          <a:xfrm>
            <a:off x="539737" y="5079959"/>
            <a:ext cx="3555911" cy="0"/>
          </a:xfrm>
          <a:prstGeom prst="line">
            <a:avLst/>
          </a:prstGeom>
          <a:noFill/>
          <a:ln w="9525">
            <a:solidFill>
              <a:srgbClr val="BFC2C0"/>
            </a:solidFill>
          </a:ln>
        </p:spPr>
        <p:txBody>
          <a:bodyPr/>
          <a:lstStyle/>
          <a:p/>
        </p:txBody>
      </p:sp>
      <p:pic>
        <p:nvPicPr>
          <p:cNvPr id="47" name="Pocket Earth public knowledge map application 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4857629" y="857314"/>
            <a:ext cx="2127197" cy="4673483"/>
          </a:xfrm>
          <a:prstGeom prst="rect">
            <a:avLst/>
          </a:prstGeom>
        </p:spPr>
      </p:pic>
      <p:pic>
        <p:nvPicPr>
          <p:cNvPr id="48" name="Pocket Earth public knowledge detail application view"/>
          <p:cNvPicPr/>
          <p:nvPr/>
        </p:nvPicPr>
        <p:blipFill>
          <a:blip r:embed="rId3"/>
          <a:stretch>
            <a:fillRect/>
          </a:stretch>
        </p:blipFill>
        <p:spPr>
          <a:xfrm>
            <a:off x="9016775" y="857314"/>
            <a:ext cx="2222444" cy="4679833"/>
          </a:xfrm>
          <a:prstGeom prst="rect">
            <a:avLst/>
          </a:prstGeom>
        </p:spPr>
      </p:pic>
      <p:sp>
        <p:nvSpPr>
          <p:cNvPr id="49" name="Polygon 49"/>
          <p:cNvSpPr/>
          <p:nvPr/>
        </p:nvSpPr>
        <p:spPr>
          <a:xfrm>
            <a:off x="4794130" y="5829240"/>
            <a:ext cx="158746" cy="139697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lnTo>
                  <a:pt x="10800" y="0"/>
                </a:lnTo>
                <a:lnTo>
                  <a:pt x="21600" y="21600"/>
                </a:lnTo>
                <a:close/>
              </a:path>
            </a:pathLst>
          </a:custGeom>
          <a:solidFill>
            <a:srgbClr val="278FCB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Polygon 50"/>
          <p:cNvSpPr/>
          <p:nvPr/>
        </p:nvSpPr>
        <p:spPr>
          <a:xfrm>
            <a:off x="8746906" y="5829240"/>
            <a:ext cx="158746" cy="139697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lnTo>
                  <a:pt x="10800" y="0"/>
                </a:lnTo>
                <a:lnTo>
                  <a:pt x="21600" y="21600"/>
                </a:lnTo>
                <a:close/>
              </a:path>
            </a:pathLst>
          </a:custGeom>
          <a:solidFill>
            <a:srgbClr val="2CAB66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extBox 51"/>
          <p:cNvSpPr txBox="1"/>
          <p:nvPr/>
        </p:nvSpPr>
        <p:spPr>
          <a:xfrm>
            <a:off x="539737" y="911288"/>
            <a:ext cx="2285943" cy="23494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l"/>
            <a:r>
              <a:rPr lang="zh-CN" sz="1400">
                <a:solidFill>
                  <a:srgbClr val="FFFFFF"/>
                </a:solidFill>
                <a:latin typeface="Arial"/>
                <a:ea typeface="Arial"/>
                <a:cs typeface="Arial"/>
              </a:rPr>
              <a:t>PUBLIC EARTH · 公共知识层</a:t>
            </a:r>
            <a:endParaRPr lang="zh-CN" sz="1400"/>
          </a:p>
        </p:txBody>
      </p:sp>
      <p:sp>
        <p:nvSpPr>
          <p:cNvPr id="52" name="TextBox 52"/>
          <p:cNvSpPr txBox="1"/>
          <p:nvPr/>
        </p:nvSpPr>
        <p:spPr>
          <a:xfrm>
            <a:off x="523862" y="1435150"/>
            <a:ext cx="3873403" cy="60323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/>
            <a:r>
              <a:rPr lang="zh-CN" sz="2800">
                <a:solidFill>
                  <a:srgbClr val="17191A"/>
                </a:solidFill>
                <a:latin typeface="PingFang SC"/>
                <a:ea typeface="PingFang SC"/>
                <a:cs typeface="PingFang SC"/>
              </a:rPr>
              <a:t>把新闻炼成可验证知识</a:t>
            </a:r>
            <a:endParaRPr lang="zh-CN" sz="2800"/>
          </a:p>
        </p:txBody>
      </p:sp>
      <p:sp>
        <p:nvSpPr>
          <p:cNvPr id="53" name="TextBox 53"/>
          <p:cNvSpPr txBox="1"/>
          <p:nvPr/>
        </p:nvSpPr>
        <p:spPr>
          <a:xfrm>
            <a:off x="539737" y="2174906"/>
            <a:ext cx="3873403" cy="27304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/>
            <a:r>
              <a:rPr lang="zh-CN" sz="1450">
                <a:solidFill>
                  <a:srgbClr val="238FD0"/>
                </a:solidFill>
                <a:latin typeface="PingFang SC"/>
                <a:ea typeface="PingFang SC"/>
                <a:cs typeface="PingFang SC"/>
              </a:rPr>
              <a:t>8 个领域 Agent · 7 天热缓存 · 每日 Merkle 版次</a:t>
            </a:r>
            <a:endParaRPr lang="zh-CN" sz="1450"/>
          </a:p>
        </p:txBody>
      </p:sp>
      <p:sp>
        <p:nvSpPr>
          <p:cNvPr id="54" name="TextBox 54"/>
          <p:cNvSpPr txBox="1"/>
          <p:nvPr/>
        </p:nvSpPr>
        <p:spPr>
          <a:xfrm>
            <a:off x="539737" y="2635270"/>
            <a:ext cx="3778156" cy="2095448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/>
            <a:r>
              <a:rPr lang="zh-CN" sz="1160">
                <a:solidFill>
                  <a:srgbClr val="5C6264"/>
                </a:solidFill>
                <a:latin typeface="PingFang SC"/>
                <a:ea typeface="PingFang SC"/>
                <a:cs typeface="PingFang SC"/>
              </a:rPr>
              <a:t>私人地图保存只属于你的空间记忆。</a:t>
            </a:r>
            <a:endParaRPr lang="zh-CN" sz="1160"/>
          </a:p>
          <a:p>
            <a:pPr algn="l"/>
            <a:r>
              <a:rPr lang="zh-CN" sz="1160">
                <a:solidFill>
                  <a:srgbClr val="5C6264"/>
                </a:solidFill>
                <a:latin typeface="PingFang SC"/>
                <a:ea typeface="PingFang SC"/>
                <a:cs typeface="PingFang SC"/>
              </a:rPr>
              <a:t>公共地球则由 8 个领域 Agent 搜集、</a:t>
            </a:r>
            <a:endParaRPr lang="zh-CN" sz="1160"/>
          </a:p>
          <a:p>
            <a:pPr algn="l"/>
            <a:r>
              <a:rPr lang="zh-CN" sz="1160">
                <a:solidFill>
                  <a:srgbClr val="5C6264"/>
                </a:solidFill>
                <a:latin typeface="PingFang SC"/>
                <a:ea typeface="PingFang SC"/>
                <a:cs typeface="PingFang SC"/>
              </a:rPr>
              <a:t>筛选与交叉验证；新闻卡片落在真实地点，</a:t>
            </a:r>
            <a:endParaRPr lang="zh-CN" sz="1160"/>
          </a:p>
          <a:p>
            <a:pPr algn="l"/>
            <a:r>
              <a:rPr lang="zh-CN" sz="1160">
                <a:solidFill>
                  <a:srgbClr val="5C6264"/>
                </a:solidFill>
                <a:latin typeface="PingFang SC"/>
                <a:ea typeface="PingFang SC"/>
                <a:cs typeface="PingFang SC"/>
              </a:rPr>
              <a:t>可从地图上的缩略信号展开为完整内容。</a:t>
            </a:r>
            <a:endParaRPr lang="zh-CN" sz="1160"/>
          </a:p>
          <a:p>
            <a:pPr algn="l"/>
            <a:r>
              <a:rPr lang="zh-CN" sz="1160">
                <a:solidFill>
                  <a:srgbClr val="5C6264"/>
                </a:solidFill>
                <a:latin typeface="PingFang SC"/>
                <a:ea typeface="PingFang SC"/>
                <a:cs typeface="PingFang SC"/>
              </a:rPr>
              <a:t/>
            </a:r>
            <a:endParaRPr lang="zh-CN" sz="1160"/>
          </a:p>
          <a:p>
            <a:pPr algn="l"/>
            <a:r>
              <a:rPr lang="zh-CN" sz="1160">
                <a:solidFill>
                  <a:srgbClr val="5C6264"/>
                </a:solidFill>
                <a:latin typeface="PingFang SC"/>
                <a:ea typeface="PingFang SC"/>
                <a:cs typeface="PingFang SC"/>
              </a:rPr>
              <a:t>丰富内容留在链下；每日精选知识生成</a:t>
            </a:r>
            <a:endParaRPr lang="zh-CN" sz="1160"/>
          </a:p>
          <a:p>
            <a:pPr algn="l"/>
            <a:r>
              <a:rPr lang="zh-CN" sz="1160">
                <a:solidFill>
                  <a:srgbClr val="5C6264"/>
                </a:solidFill>
                <a:latin typeface="PingFang SC"/>
                <a:ea typeface="PingFang SC"/>
                <a:cs typeface="PingFang SC"/>
              </a:rPr>
              <a:t>Merkle 根并锚定 Injective。用户得到的是</a:t>
            </a:r>
            <a:endParaRPr lang="zh-CN" sz="1160"/>
          </a:p>
          <a:p>
            <a:pPr algn="l"/>
            <a:r>
              <a:rPr lang="zh-CN" sz="1160">
                <a:solidFill>
                  <a:srgbClr val="5C6264"/>
                </a:solidFill>
                <a:latin typeface="PingFang SC"/>
                <a:ea typeface="PingFang SC"/>
                <a:cs typeface="PingFang SC"/>
              </a:rPr>
              <a:t>一份可定位、可下载、可独立验真的</a:t>
            </a:r>
            <a:endParaRPr lang="zh-CN" sz="1160"/>
          </a:p>
          <a:p>
            <a:pPr algn="l"/>
            <a:r>
              <a:rPr lang="zh-CN" sz="1160">
                <a:solidFill>
                  <a:srgbClr val="5C6264"/>
                </a:solidFill>
                <a:latin typeface="PingFang SC"/>
                <a:ea typeface="PingFang SC"/>
                <a:cs typeface="PingFang SC"/>
              </a:rPr>
              <a:t>公共知识版次。</a:t>
            </a:r>
            <a:endParaRPr lang="zh-CN" sz="1160"/>
          </a:p>
        </p:txBody>
      </p:sp>
      <p:sp>
        <p:nvSpPr>
          <p:cNvPr id="55" name="TextBox 55"/>
          <p:cNvSpPr txBox="1"/>
          <p:nvPr/>
        </p:nvSpPr>
        <p:spPr>
          <a:xfrm>
            <a:off x="5000500" y="5829240"/>
            <a:ext cx="2698683" cy="368291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noAutofit/>
          </a:bodyPr>
          <a:lstStyle/>
          <a:p>
            <a:pPr algn="ctr"/>
            <a:r>
              <a:rPr lang="zh-CN" sz="1280">
                <a:solidFill>
                  <a:srgbClr val="4F5557"/>
                </a:solidFill>
                <a:latin typeface="PingFang SC"/>
                <a:ea typeface="PingFang SC"/>
                <a:cs typeface="PingFang SC"/>
              </a:rPr>
              <a:t>知识地图 · 新闻信号被钉在真实地点</a:t>
            </a:r>
            <a:endParaRPr lang="zh-CN" sz="1280"/>
          </a:p>
        </p:txBody>
      </p:sp>
      <p:sp>
        <p:nvSpPr>
          <p:cNvPr id="56" name="TextBox 56"/>
          <p:cNvSpPr txBox="1"/>
          <p:nvPr/>
        </p:nvSpPr>
        <p:spPr>
          <a:xfrm>
            <a:off x="8921527" y="5829240"/>
            <a:ext cx="2698683" cy="368291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noAutofit/>
          </a:bodyPr>
          <a:lstStyle/>
          <a:p>
            <a:pPr algn="ctr"/>
            <a:r>
              <a:rPr lang="zh-CN" sz="1280">
                <a:solidFill>
                  <a:srgbClr val="4F5557"/>
                </a:solidFill>
                <a:latin typeface="PingFang SC"/>
                <a:ea typeface="PingFang SC"/>
                <a:cs typeface="PingFang SC"/>
              </a:rPr>
              <a:t>知识详情 · 一张卡片展开成完整内容</a:t>
            </a:r>
            <a:endParaRPr lang="zh-CN" sz="1280"/>
          </a:p>
        </p:txBody>
      </p:sp>
      <p:sp>
        <p:nvSpPr>
          <p:cNvPr id="57" name="TextBox 57"/>
          <p:cNvSpPr txBox="1"/>
          <p:nvPr/>
        </p:nvSpPr>
        <p:spPr>
          <a:xfrm>
            <a:off x="539737" y="6032435"/>
            <a:ext cx="2412940" cy="17462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/>
            <a:r>
              <a:rPr lang="zh-CN" sz="950">
                <a:solidFill>
                  <a:srgbClr val="9AA0A1"/>
                </a:solidFill>
                <a:latin typeface="Arial"/>
                <a:ea typeface="Arial"/>
                <a:cs typeface="Arial"/>
              </a:rPr>
              <a:t>01 / PUBLIC KNOWLEDGE</a:t>
            </a:r>
            <a:endParaRPr lang="zh-CN" sz="9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Codex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>
  <dc:title>Image to editable PPT</dc:title>
</cp:coreProperties>
</file>