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507987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1015975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1523962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2031949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2539936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3047924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3555911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4063898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4571886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5079873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5587860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6095848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6603835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7111822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7619810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8127797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635784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9143771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9651759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10159746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10667733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1175721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11683708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2191695" y="86"/>
            <a:ext cx="0" cy="6857829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0" y="86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0" y="508073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0" y="1016060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0" y="1524048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0" y="2032035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0" y="2540022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0" y="3048010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0" y="3555997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0" y="4063984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0" y="4571971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0" y="5079959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0" y="5587946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0" y="6095933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0" y="6603921"/>
            <a:ext cx="12191695" cy="0"/>
          </a:xfrm>
          <a:prstGeom prst="line">
            <a:avLst/>
          </a:prstGeom>
          <a:noFill/>
          <a:ln w="6350">
            <a:solidFill>
              <a:srgbClr val="DCDDDA"/>
            </a:solidFill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4870328" y="901763"/>
            <a:ext cx="2222444" cy="4730632"/>
          </a:xfrm>
          <a:prstGeom prst="roundRect">
            <a:avLst>
              <a:gd name="adj" fmla="val 3429"/>
            </a:avLst>
          </a:prstGeom>
          <a:solidFill>
            <a:srgbClr val="D5D6D3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9029474" y="901763"/>
            <a:ext cx="2317692" cy="4730632"/>
          </a:xfrm>
          <a:prstGeom prst="roundRect">
            <a:avLst>
              <a:gd name="adj" fmla="val 3288"/>
            </a:avLst>
          </a:prstGeom>
          <a:solidFill>
            <a:srgbClr val="D5D6D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4810005" y="809690"/>
            <a:ext cx="2222444" cy="4730632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383B3B"/>
            </a:solidFill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8969151" y="809690"/>
            <a:ext cx="2317692" cy="473063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5875">
            <a:solidFill>
              <a:srgbClr val="383B3B"/>
            </a:solidFill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476238" y="857314"/>
            <a:ext cx="2492313" cy="333367"/>
          </a:xfrm>
          <a:prstGeom prst="roundRect">
            <a:avLst>
              <a:gd name="adj" fmla="val 14286"/>
            </a:avLst>
          </a:prstGeom>
          <a:solidFill>
            <a:srgbClr val="278FC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539737" y="5540322"/>
            <a:ext cx="3555911" cy="0"/>
          </a:xfrm>
          <a:prstGeom prst="line">
            <a:avLst/>
          </a:prstGeom>
          <a:noFill/>
          <a:ln w="9525">
            <a:solidFill>
              <a:srgbClr val="BFC2C0"/>
            </a:solidFill>
          </a:ln>
        </p:spPr>
        <p:txBody>
          <a:bodyPr/>
          <a:lstStyle/>
          <a:p/>
        </p:txBody>
      </p:sp>
      <p:pic>
        <p:nvPicPr>
          <p:cNvPr id="47" name="Pocket Earth public knowledge map application 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4857629" y="857314"/>
            <a:ext cx="2127197" cy="4673483"/>
          </a:xfrm>
          <a:prstGeom prst="rect">
            <a:avLst/>
          </a:prstGeom>
        </p:spPr>
      </p:pic>
      <p:pic>
        <p:nvPicPr>
          <p:cNvPr id="48" name="Pocket Earth Frost identity deck application view"/>
          <p:cNvPicPr/>
          <p:nvPr/>
        </p:nvPicPr>
        <p:blipFill>
          <a:blip r:embed="rId3"/>
          <a:stretch>
            <a:fillRect/>
          </a:stretch>
        </p:blipFill>
        <p:spPr>
          <a:xfrm>
            <a:off x="9016775" y="857314"/>
            <a:ext cx="2222444" cy="4679833"/>
          </a:xfrm>
          <a:prstGeom prst="rect">
            <a:avLst/>
          </a:prstGeom>
        </p:spPr>
      </p:pic>
      <p:sp>
        <p:nvSpPr>
          <p:cNvPr id="49" name="Polygon 49"/>
          <p:cNvSpPr/>
          <p:nvPr/>
        </p:nvSpPr>
        <p:spPr>
          <a:xfrm>
            <a:off x="4794130" y="5829240"/>
            <a:ext cx="158746" cy="1396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08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78FC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Polygon 50"/>
          <p:cNvSpPr/>
          <p:nvPr/>
        </p:nvSpPr>
        <p:spPr>
          <a:xfrm>
            <a:off x="8746906" y="5829240"/>
            <a:ext cx="158746" cy="1396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08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CAB6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539737" y="904938"/>
            <a:ext cx="2285943" cy="234944"/>
          </a:xfrm>
          <a:prstGeom prst="rect">
            <a:avLst/>
          </a:prstGeom>
          <a:noFill/>
          <a:ln>
            <a:noFill/>
          </a:ln>
        </p:spPr>
        <p:txBody>
          <a:bodyPr wrap="none" anchor="mid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POCKET EARTH · INJECTIVE</a:t>
            </a:r>
            <a:endParaRPr lang="zh-CN" sz="1400"/>
          </a:p>
        </p:txBody>
      </p:sp>
      <p:sp>
        <p:nvSpPr>
          <p:cNvPr id="52" name="TextBox 52"/>
          <p:cNvSpPr txBox="1"/>
          <p:nvPr/>
        </p:nvSpPr>
        <p:spPr>
          <a:xfrm>
            <a:off x="523862" y="1412925"/>
            <a:ext cx="3682908" cy="9524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100">
                <a:solidFill>
                  <a:srgbClr val="17191A"/>
                </a:solidFill>
                <a:latin typeface="PingFang SC"/>
                <a:ea typeface="PingFang SC"/>
                <a:cs typeface="PingFang SC"/>
              </a:rPr>
              <a:t>一个地球，</a:t>
            </a:r>
            <a:endParaRPr lang="zh-CN" sz="3100"/>
          </a:p>
          <a:p>
            <a:pPr algn="left"/>
            <a:r>
              <a:rPr lang="zh-CN" sz="3100">
                <a:solidFill>
                  <a:srgbClr val="17191A"/>
                </a:solidFill>
                <a:latin typeface="PingFang SC"/>
                <a:ea typeface="PingFang SC"/>
                <a:cs typeface="PingFang SC"/>
              </a:rPr>
              <a:t>两层知识</a:t>
            </a:r>
            <a:endParaRPr lang="zh-CN" sz="3100"/>
          </a:p>
        </p:txBody>
      </p:sp>
      <p:sp>
        <p:nvSpPr>
          <p:cNvPr id="53" name="TextBox 53"/>
          <p:cNvSpPr txBox="1"/>
          <p:nvPr/>
        </p:nvSpPr>
        <p:spPr>
          <a:xfrm>
            <a:off x="539737" y="2476524"/>
            <a:ext cx="3809905" cy="25399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238FD0"/>
                </a:solidFill>
                <a:latin typeface="PingFang SC"/>
                <a:ea typeface="PingFang SC"/>
                <a:cs typeface="PingFang SC"/>
              </a:rPr>
              <a:t>私人记忆 · 公共知识 · 链上可验证</a:t>
            </a:r>
            <a:endParaRPr lang="zh-CN" sz="1400"/>
          </a:p>
        </p:txBody>
      </p:sp>
      <p:sp>
        <p:nvSpPr>
          <p:cNvPr id="54" name="TextBox 54"/>
          <p:cNvSpPr txBox="1"/>
          <p:nvPr/>
        </p:nvSpPr>
        <p:spPr>
          <a:xfrm>
            <a:off x="539737" y="2952762"/>
            <a:ext cx="3746406" cy="22224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>Pocket Earth 把两种完全不同的知识放进</a:t>
            </a:r>
            <a:endParaRPr lang="zh-CN" sz="1250"/>
          </a:p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>同一颗地球：私人地图承载只属于你的空间</a:t>
            </a:r>
            <a:endParaRPr lang="zh-CN" sz="1250"/>
          </a:p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>记忆；公共地球由领域 Agent 持续筛选、</a:t>
            </a:r>
            <a:endParaRPr lang="zh-CN" sz="1250"/>
          </a:p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>交叉验证并发布知识版次。</a:t>
            </a:r>
            <a:endParaRPr lang="zh-CN" sz="1250"/>
          </a:p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/>
            </a:r>
            <a:endParaRPr lang="zh-CN" sz="1250"/>
          </a:p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>原始内容留在链下，身份与每日版次根锚定</a:t>
            </a:r>
            <a:endParaRPr lang="zh-CN" sz="1250"/>
          </a:p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>Injective。用户看到的不只是新闻列表，</a:t>
            </a:r>
            <a:endParaRPr lang="zh-CN" sz="1250"/>
          </a:p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>而是一张可以定位、展开并独立验真的</a:t>
            </a:r>
            <a:endParaRPr lang="zh-CN" sz="1250"/>
          </a:p>
          <a:p>
            <a:pPr algn="left"/>
            <a:r>
              <a:rPr lang="zh-CN" sz="1250">
                <a:solidFill>
                  <a:srgbClr val="5C6264"/>
                </a:solidFill>
                <a:latin typeface="PingFang SC"/>
                <a:ea typeface="PingFang SC"/>
                <a:cs typeface="PingFang SC"/>
              </a:rPr>
              <a:t>公共知识地图。</a:t>
            </a:r>
            <a:endParaRPr lang="zh-CN" sz="1250"/>
          </a:p>
        </p:txBody>
      </p:sp>
      <p:sp>
        <p:nvSpPr>
          <p:cNvPr id="55" name="TextBox 55"/>
          <p:cNvSpPr txBox="1"/>
          <p:nvPr/>
        </p:nvSpPr>
        <p:spPr>
          <a:xfrm>
            <a:off x="5032249" y="5810190"/>
            <a:ext cx="2476438" cy="47623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250">
                <a:solidFill>
                  <a:srgbClr val="4F5557"/>
                </a:solidFill>
                <a:latin typeface="PingFang SC"/>
                <a:ea typeface="PingFang SC"/>
                <a:cs typeface="PingFang SC"/>
              </a:rPr>
              <a:t>知识地图：8 个领域信号贴在公共地球上</a:t>
            </a:r>
            <a:endParaRPr lang="zh-CN" sz="1250"/>
          </a:p>
        </p:txBody>
      </p:sp>
      <p:sp>
        <p:nvSpPr>
          <p:cNvPr id="56" name="TextBox 56"/>
          <p:cNvSpPr txBox="1"/>
          <p:nvPr/>
        </p:nvSpPr>
        <p:spPr>
          <a:xfrm>
            <a:off x="8985025" y="5810190"/>
            <a:ext cx="2603435" cy="47623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250">
                <a:solidFill>
                  <a:srgbClr val="4F5557"/>
                </a:solidFill>
                <a:latin typeface="PingFang SC"/>
                <a:ea typeface="PingFang SC"/>
                <a:cs typeface="PingFang SC"/>
              </a:rPr>
              <a:t>身份卡牌：FROST 链上身份可携带、可验证</a:t>
            </a:r>
            <a:endParaRPr lang="zh-CN" sz="1250"/>
          </a:p>
        </p:txBody>
      </p:sp>
      <p:sp>
        <p:nvSpPr>
          <p:cNvPr id="57" name="TextBox 57"/>
          <p:cNvSpPr txBox="1"/>
          <p:nvPr/>
        </p:nvSpPr>
        <p:spPr>
          <a:xfrm>
            <a:off x="539737" y="6032435"/>
            <a:ext cx="2412940" cy="17462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9AA0A1"/>
                </a:solidFill>
                <a:latin typeface="Arial"/>
                <a:ea typeface="Arial"/>
                <a:cs typeface="Arial"/>
              </a:rPr>
              <a:t>01 / PRODUCT LOGIC</a:t>
            </a:r>
            <a:endParaRPr lang="zh-CN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