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b92d0421474811" /><Relationship Type="http://schemas.openxmlformats.org/officeDocument/2006/relationships/extended-properties" Target="/docProps/app.xml" Id="R2be444cbefd148ff" /><Relationship Type="http://schemas.openxmlformats.org/officeDocument/2006/relationships/officeDocument" Target="/ppt/presentation.xml" Id="Rfd862374212347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79ee86a2f44eff"/>
  </p:sldMasterIdLst>
  <p:notesMasterIdLst>
    <p:notesMasterId xmlns:r="http://schemas.openxmlformats.org/officeDocument/2006/relationships" r:id="R022634503509464f"/>
  </p:notesMasterIdLst>
  <p:sldIdLst>
    <p:sldId xmlns:r="http://schemas.openxmlformats.org/officeDocument/2006/relationships" id="256" r:id="Rfabb17cf9c004645"/>
    <p:sldId xmlns:r="http://schemas.openxmlformats.org/officeDocument/2006/relationships" id="257" r:id="Rcfac547b04ce4807"/>
    <p:sldId xmlns:r="http://schemas.openxmlformats.org/officeDocument/2006/relationships" id="258" r:id="R6adb04c5d8924ee0"/>
    <p:sldId xmlns:r="http://schemas.openxmlformats.org/officeDocument/2006/relationships" id="259" r:id="Re714fd8c0b544e46"/>
    <p:sldId xmlns:r="http://schemas.openxmlformats.org/officeDocument/2006/relationships" id="260" r:id="R9adee18fcafb447a"/>
    <p:sldId xmlns:r="http://schemas.openxmlformats.org/officeDocument/2006/relationships" id="261" r:id="Rb486fa46d64442d6"/>
    <p:sldId xmlns:r="http://schemas.openxmlformats.org/officeDocument/2006/relationships" id="262" r:id="R9a4c95ed14244731"/>
    <p:sldId xmlns:r="http://schemas.openxmlformats.org/officeDocument/2006/relationships" id="263" r:id="R1b84129eedda4fc2"/>
    <p:sldId xmlns:r="http://schemas.openxmlformats.org/officeDocument/2006/relationships" id="264" r:id="Re8d886efb10d4619"/>
    <p:sldId xmlns:r="http://schemas.openxmlformats.org/officeDocument/2006/relationships" id="265" r:id="R0b3a0dd0210a4e77"/>
    <p:sldId xmlns:r="http://schemas.openxmlformats.org/officeDocument/2006/relationships" id="266" r:id="Rd37bdb958dfa4bc6"/>
    <p:sldId xmlns:r="http://schemas.openxmlformats.org/officeDocument/2006/relationships" id="267" r:id="R7a2aa6ac03504a6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f6334b30e794dbe" /><Relationship Type="http://schemas.openxmlformats.org/officeDocument/2006/relationships/slideMaster" Target="/ppt/slideMasters/slideMaster1.xml" Id="R6d79ee86a2f44eff" /><Relationship Type="http://schemas.openxmlformats.org/officeDocument/2006/relationships/notesMaster" Target="/ppt/notesMasters/notesMaster1.xml" Id="R022634503509464f" /><Relationship Type="http://schemas.openxmlformats.org/officeDocument/2006/relationships/presProps" Target="/ppt/presProps.xml" Id="Raf666e27d3694472" /><Relationship Type="http://schemas.openxmlformats.org/officeDocument/2006/relationships/viewProps" Target="/ppt/viewProps.xml" Id="Rbcc05f35724a4bb3" /><Relationship Type="http://schemas.openxmlformats.org/officeDocument/2006/relationships/tableStyles" Target="/ppt/tableStyles.xml" Id="R552f2f25ffdc4150" /><Relationship Type="http://schemas.openxmlformats.org/officeDocument/2006/relationships/slide" Target="/ppt/slides/slide1.xml" Id="Rfabb17cf9c004645" /><Relationship Type="http://schemas.openxmlformats.org/officeDocument/2006/relationships/slide" Target="/ppt/slides/slide2.xml" Id="Rcfac547b04ce4807" /><Relationship Type="http://schemas.openxmlformats.org/officeDocument/2006/relationships/slide" Target="/ppt/slides/slide3.xml" Id="R6adb04c5d8924ee0" /><Relationship Type="http://schemas.openxmlformats.org/officeDocument/2006/relationships/slide" Target="/ppt/slides/slide4.xml" Id="Re714fd8c0b544e46" /><Relationship Type="http://schemas.openxmlformats.org/officeDocument/2006/relationships/slide" Target="/ppt/slides/slide5.xml" Id="R9adee18fcafb447a" /><Relationship Type="http://schemas.openxmlformats.org/officeDocument/2006/relationships/slide" Target="/ppt/slides/slide6.xml" Id="Rb486fa46d64442d6" /><Relationship Type="http://schemas.openxmlformats.org/officeDocument/2006/relationships/slide" Target="/ppt/slides/slide7.xml" Id="R9a4c95ed14244731" /><Relationship Type="http://schemas.openxmlformats.org/officeDocument/2006/relationships/slide" Target="/ppt/slides/slide8.xml" Id="R1b84129eedda4fc2" /><Relationship Type="http://schemas.openxmlformats.org/officeDocument/2006/relationships/slide" Target="/ppt/slides/slide9.xml" Id="Re8d886efb10d4619" /><Relationship Type="http://schemas.openxmlformats.org/officeDocument/2006/relationships/slide" Target="/ppt/slides/slide10.xml" Id="R0b3a0dd0210a4e77" /><Relationship Type="http://schemas.openxmlformats.org/officeDocument/2006/relationships/slide" Target="/ppt/slides/slide11.xml" Id="Rd37bdb958dfa4bc6" /><Relationship Type="http://schemas.openxmlformats.org/officeDocument/2006/relationships/slide" Target="/ppt/slides/slide12.xml" Id="R7a2aa6ac03504a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af744d5ff4244e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b295663044439a" /><Relationship Type="http://schemas.openxmlformats.org/officeDocument/2006/relationships/notesMaster" Target="/ppt/notesMasters/notesMaster1.xml" Id="Rc7442e2a7f6c46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55874b2f6ae4ded" /><Relationship Type="http://schemas.openxmlformats.org/officeDocument/2006/relationships/notesMaster" Target="/ppt/notesMasters/notesMaster1.xml" Id="R01e605590a784ee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f5da98d64d4ff4" /><Relationship Type="http://schemas.openxmlformats.org/officeDocument/2006/relationships/notesMaster" Target="/ppt/notesMasters/notesMaster1.xml" Id="R4da301742d7541d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49d4198505247ed" /><Relationship Type="http://schemas.openxmlformats.org/officeDocument/2006/relationships/notesMaster" Target="/ppt/notesMasters/notesMaster1.xml" Id="R4a31d38e77b64b9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0b4cdecd90a4846" /><Relationship Type="http://schemas.openxmlformats.org/officeDocument/2006/relationships/notesMaster" Target="/ppt/notesMasters/notesMaster1.xml" Id="R97989c0727a8427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78d6d054a5644d9" /><Relationship Type="http://schemas.openxmlformats.org/officeDocument/2006/relationships/notesMaster" Target="/ppt/notesMasters/notesMaster1.xml" Id="R31b925e75677463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0b9a9119cb74d2a" /><Relationship Type="http://schemas.openxmlformats.org/officeDocument/2006/relationships/notesMaster" Target="/ppt/notesMasters/notesMaster1.xml" Id="R1a905dde568f426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8a0c61d2fb0447c" /><Relationship Type="http://schemas.openxmlformats.org/officeDocument/2006/relationships/notesMaster" Target="/ppt/notesMasters/notesMaster1.xml" Id="Ra7ab3681376b4f2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7ed41d610b44c6a" /><Relationship Type="http://schemas.openxmlformats.org/officeDocument/2006/relationships/notesMaster" Target="/ppt/notesMasters/notesMaster1.xml" Id="R04fdb645130e429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c7733d8c9fb4701" /><Relationship Type="http://schemas.openxmlformats.org/officeDocument/2006/relationships/notesMaster" Target="/ppt/notesMasters/notesMaster1.xml" Id="Re1571049ce6a4ad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946864f48134f3e" /><Relationship Type="http://schemas.openxmlformats.org/officeDocument/2006/relationships/notesMaster" Target="/ppt/notesMasters/notesMaster1.xml" Id="Rb532e396f3494e2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8411a7382ec4b33" /><Relationship Type="http://schemas.openxmlformats.org/officeDocument/2006/relationships/notesMaster" Target="/ppt/notesMasters/notesMaster1.xml" Id="R92b6cf242f2c44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28e64f0ad34267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1c5422563c4fcd" /><Relationship Type="http://schemas.openxmlformats.org/officeDocument/2006/relationships/slideLayout" Target="/ppt/slideLayouts/slideLayout1.xml" Id="R74eeb035112e454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eeb035112e4542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29cabc4ad848f4" /><Relationship Type="http://schemas.openxmlformats.org/officeDocument/2006/relationships/image" Target="/ppt/media/image.png" Id="R78df37a86b2343fb" /><Relationship Type="http://schemas.openxmlformats.org/officeDocument/2006/relationships/notesSlide" Target="/ppt/notesSlides/notesSlide1.xml" Id="R9a0f8d905b034d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700871d8ae4795" /><Relationship Type="http://schemas.openxmlformats.org/officeDocument/2006/relationships/image" Target="/ppt/media/image.png" Id="Ra6d151ddeb7e4cb6" /><Relationship Type="http://schemas.openxmlformats.org/officeDocument/2006/relationships/notesSlide" Target="/ppt/notesSlides/notesSlide2.xml" Id="R55e12c001fc14b9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f441008e76495e" /><Relationship Type="http://schemas.openxmlformats.org/officeDocument/2006/relationships/image" Target="/ppt/media/image.png" Id="Rbcaf332ff6384d85" /><Relationship Type="http://schemas.openxmlformats.org/officeDocument/2006/relationships/notesSlide" Target="/ppt/notesSlides/notesSlide3.xml" Id="R0df12543342c4ac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2f18bc9b574aab" /><Relationship Type="http://schemas.openxmlformats.org/officeDocument/2006/relationships/image" Target="/ppt/media/image.png" Id="Rd2f19a6624cf4c05" /><Relationship Type="http://schemas.openxmlformats.org/officeDocument/2006/relationships/notesSlide" Target="/ppt/notesSlides/notesSlide4.xml" Id="R0c98ebd4d9324ac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5208e0d9fd421c" /><Relationship Type="http://schemas.openxmlformats.org/officeDocument/2006/relationships/image" Target="/ppt/media/image.png" Id="R6f58f1687eeb4a18" /><Relationship Type="http://schemas.openxmlformats.org/officeDocument/2006/relationships/notesSlide" Target="/ppt/notesSlides/notesSlide5.xml" Id="Rbd227f06b96440f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c67c010f1c4da2" /><Relationship Type="http://schemas.openxmlformats.org/officeDocument/2006/relationships/image" Target="/ppt/media/image.png" Id="Rb3f4862718ca46a2" /><Relationship Type="http://schemas.openxmlformats.org/officeDocument/2006/relationships/image" Target="/ppt/media/image.jpeg" Id="R0e313fdf917d4adc" /><Relationship Type="http://schemas.openxmlformats.org/officeDocument/2006/relationships/notesSlide" Target="/ppt/notesSlides/notesSlide6.xml" Id="R9bd68219a0454d7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ad758064714b13" /><Relationship Type="http://schemas.openxmlformats.org/officeDocument/2006/relationships/image" Target="/ppt/media/image.png" Id="R670bbc330e76454d" /><Relationship Type="http://schemas.openxmlformats.org/officeDocument/2006/relationships/notesSlide" Target="/ppt/notesSlides/notesSlide7.xml" Id="R7d7556e6f15c479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7e7dd246584d51" /><Relationship Type="http://schemas.openxmlformats.org/officeDocument/2006/relationships/image" Target="/ppt/media/image.png" Id="R478e2f9c5a334cb8" /><Relationship Type="http://schemas.openxmlformats.org/officeDocument/2006/relationships/notesSlide" Target="/ppt/notesSlides/notesSlide8.xml" Id="Rc6709512db2740d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76283adbf84adc" /><Relationship Type="http://schemas.openxmlformats.org/officeDocument/2006/relationships/image" Target="/ppt/media/image.png" Id="Rca3e5f7f858a445e" /><Relationship Type="http://schemas.openxmlformats.org/officeDocument/2006/relationships/notesSlide" Target="/ppt/notesSlides/notesSlide9.xml" Id="R8dace5dee4a2497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8e365484774fe9" /><Relationship Type="http://schemas.openxmlformats.org/officeDocument/2006/relationships/image" Target="/ppt/media/image2.png" Id="Rd4007b541dc248be" /><Relationship Type="http://schemas.openxmlformats.org/officeDocument/2006/relationships/image" Target="/ppt/media/image2.jpeg" Id="Ra91c170722d049e1" /><Relationship Type="http://schemas.openxmlformats.org/officeDocument/2006/relationships/notesSlide" Target="/ppt/notesSlides/notesSlide10.xml" Id="R757c52152692471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638870924446d8" /><Relationship Type="http://schemas.openxmlformats.org/officeDocument/2006/relationships/image" Target="/ppt/media/image.png" Id="R926b32f0cad942c8" /><Relationship Type="http://schemas.openxmlformats.org/officeDocument/2006/relationships/notesSlide" Target="/ppt/notesSlides/notesSlide11.xml" Id="R280bc407fa97476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205890aaf54a97" /><Relationship Type="http://schemas.openxmlformats.org/officeDocument/2006/relationships/image" Target="/ppt/media/image.png" Id="R112343ead3bf43fd" /><Relationship Type="http://schemas.openxmlformats.org/officeDocument/2006/relationships/notesSlide" Target="/ppt/notesSlides/notesSlide12.xml" Id="Rd743bbb0442e4652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8df37a86b2343fb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95F6329-8BE5-4636-AD82-DB0D2727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852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3F39A83-73E8-441C-9D39-506AAF94C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74320"/>
            <a:ext cx="10972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E8852E"/>
                </a:solidFill>
                <a:latin typeface="Calibri"/>
                <a:ea typeface="Calibri"/>
                <a:cs typeface="Calibri"/>
              </a:rPr>
              <a:t>SPATIAL AGENT PLATFORM · PUBLIC EARTH · BUILT ON INJECTIVE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8C2EB6A-53BB-4FC6-9DA5-8A54065FB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554480"/>
            <a:ext cx="1005840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2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POCKET EARTH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0F8C87E-D7F0-42D6-95A9-9A42B60FF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834640"/>
            <a:ext cx="73152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口袋地球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AA17963-6D94-4C50-972F-1AB7E8208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94760"/>
            <a:ext cx="1051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4ECE3"/>
                </a:solidFill>
                <a:latin typeface="Calibri"/>
                <a:ea typeface="Calibri"/>
                <a:cs typeface="Calibri"/>
              </a:rPr>
              <a:t>私人记忆钉在自己的地球；公共分身与知识版次，由 Injective 公开见证。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DAE5271-DF78-41B4-8AED-F2AAB358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24528"/>
            <a:ext cx="10515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4AA63"/>
                </a:solidFill>
                <a:latin typeface="Calibri"/>
                <a:ea typeface="Calibri"/>
                <a:cs typeface="Calibri"/>
              </a:rPr>
              <a:t>口袋地球装记忆 · 公共地球住分身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F4D3D56-B9B1-4F33-A3F8-2C05C79E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A6743F"/>
                </a:solidFill>
                <a:latin typeface="Calibri"/>
                <a:ea typeface="Calibri"/>
                <a:cs typeface="Calibri"/>
              </a:rPr>
              <a:t>POCKET EARTH ON INJECTIVE · 口袋地球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36F193F-ECB2-43D3-9931-7A8ED056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8655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A6743F"/>
                </a:solidFill>
                <a:latin typeface="Calibri"/>
                <a:ea typeface="Calibri"/>
                <a:cs typeface="Calibri"/>
              </a:rPr>
              <a:t>1 / 12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644BCEDC-B74D-44A4-AC69-5D7BA5CD1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828032"/>
            <a:ext cx="10607040" cy="1444752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8C5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74320" tIns="73152" rIns="274320" bIns="73152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1350" b="1">
                <a:solidFill>
                  <a:srgbClr val="1A0C00"/>
                </a:solidFill>
                <a:latin typeface="Calibri"/>
                <a:ea typeface="Calibri"/>
                <a:cs typeface="Calibri"/>
              </a:rPr>
              <a:t>真实链上  ERC-8004 #43–47 · PublicEarthRegistry 0xac7c…ee1b · Chronicle revision 2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1350" b="1">
                <a:solidFill>
                  <a:srgbClr val="1A0C00"/>
                </a:solidFill>
                <a:latin typeface="Calibri"/>
                <a:ea typeface="Calibri"/>
                <a:cs typeface="Calibri"/>
              </a:rPr>
              <a:t>GitHub  github.com/narratorzhang0307/Pocket-Earth-Injective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1350" b="1">
                <a:solidFill>
                  <a:srgbClr val="1A0C00"/>
                </a:solidFill>
                <a:latin typeface="Calibri"/>
                <a:ea typeface="Calibri"/>
                <a:cs typeface="Calibri"/>
              </a:rPr>
              <a:t>Live Demo  </a:t>
            </a:r>
            <a:r>
              <a:rPr sz="1350" b="1">
                <a:solidFill>
                  <a:srgbClr val="1A0C00"/>
                </a:solidFill>
                <a:latin typeface="Calibri"/>
                <a:ea typeface="Calibri"/>
                <a:cs typeface="Calibri"/>
              </a:rPr>
              <a:t>pocketearth-injective.throughtheglass.art/?demo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1350" b="1">
                <a:solidFill>
                  <a:srgbClr val="1A0C00"/>
                </a:solidFill>
                <a:latin typeface="Calibri"/>
                <a:ea typeface="Calibri"/>
                <a:cs typeface="Calibri"/>
              </a:rPr>
              <a:t>公开核验  Injective testnet Blockscout · chainId 1439</a:t>
            </a:r>
          </a:p>
        </p:txBody>
      </p:sp>
    </p:spTree>
    <p:extLst>
      <p:ext uri="{BB962C8B-B14F-4D97-AF65-F5344CB8AC3E}">
        <p14:creationId xmlns:p14="http://schemas.microsoft.com/office/powerpoint/2010/main" val="1104486687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6d151ddeb7e4cb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F022417-086B-48FB-8073-561CFD25C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852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5A1278E-3B1F-4CCD-A0D3-AC65A1535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74320"/>
            <a:ext cx="10972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E8852E"/>
                </a:solidFill>
                <a:latin typeface="Calibri"/>
                <a:ea typeface="Calibri"/>
                <a:cs typeface="Calibri"/>
              </a:rPr>
              <a:t>PAIN POINTS</a:t>
            </a:r>
            <a:r>
              <a:rPr sz="1200" b="1">
                <a:solidFill>
                  <a:srgbClr val="CDBFB0"/>
                </a:solidFill>
                <a:latin typeface="Calibri"/>
                <a:ea typeface="Calibri"/>
                <a:cs typeface="Calibri"/>
              </a:rPr>
              <a:t>   ·   用户痛点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3A67F6D-E548-4BF7-983B-D51489BF8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03504"/>
            <a:ext cx="1115568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碎片散落十几个 App，记了等于忘了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7286050-7DB9-4BD7-997B-BDFFE6D77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35024"/>
            <a:ext cx="11064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F4AA63"/>
                </a:solidFill>
                <a:latin typeface="Calibri"/>
                <a:ea typeface="Calibri"/>
                <a:cs typeface="Calibri"/>
              </a:rPr>
              <a:t>个人记忆缺一根「轴」——能串起来、记得住、还护隐私。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685D4DC-C551-4473-BC7E-436DED936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883664"/>
            <a:ext cx="3551834" cy="1847088"/>
          </a:xfrm>
          <a:prstGeom xmlns:a="http://schemas.openxmlformats.org/drawingml/2006/main" prst="roundRect">
            <a:avLst>
              <a:gd name="adj" fmla="val 4950"/>
            </a:avLst>
          </a:prstGeom>
          <a:solidFill xmlns:a="http://schemas.openxmlformats.org/drawingml/2006/main">
            <a:srgbClr val="140F0A">
              <a:alpha val="86000"/>
            </a:srgbClr>
          </a:solidFill>
          <a:ln xmlns:a="http://schemas.openxmlformats.org/drawingml/2006/main" w="15875">
            <a:solidFill>
              <a:srgbClr val="E8852E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8C113E8-97A4-449C-91A3-1B78FA75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103120"/>
            <a:ext cx="309463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350" b="1">
                <a:solidFill>
                  <a:srgbClr val="F4AA63"/>
                </a:solidFill>
                <a:latin typeface="Calibri"/>
                <a:ea typeface="Calibri"/>
                <a:cs typeface="Calibri"/>
              </a:rPr>
              <a:t>① 散落各处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7426936-AA91-4E9B-8FA1-DB692BB1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615184"/>
            <a:ext cx="3094634" cy="987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050" b="1">
                <a:solidFill>
                  <a:srgbClr val="CDBFB0"/>
                </a:solidFill>
                <a:latin typeface="Calibri"/>
                <a:ea typeface="Calibri"/>
                <a:cs typeface="Calibri"/>
              </a:rPr>
              <a:t>书在豆瓣、影在别处、照片在相册、行程在备忘——没有一处能把它们合起来看。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E15FAC85-C147-4780-8E3D-6637FCD8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930" y="1883664"/>
            <a:ext cx="3551834" cy="1847088"/>
          </a:xfrm>
          <a:prstGeom xmlns:a="http://schemas.openxmlformats.org/drawingml/2006/main" prst="roundRect">
            <a:avLst>
              <a:gd name="adj" fmla="val 4950"/>
            </a:avLst>
          </a:prstGeom>
          <a:solidFill xmlns:a="http://schemas.openxmlformats.org/drawingml/2006/main">
            <a:srgbClr val="140F0A">
              <a:alpha val="86000"/>
            </a:srgbClr>
          </a:solidFill>
          <a:ln xmlns:a="http://schemas.openxmlformats.org/drawingml/2006/main" w="15875">
            <a:solidFill>
              <a:srgbClr val="E8852E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A75A5D8-EFE2-4828-A981-25459EC77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7674" y="2103120"/>
            <a:ext cx="309463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350" b="1">
                <a:solidFill>
                  <a:srgbClr val="F4AA63"/>
                </a:solidFill>
                <a:latin typeface="Calibri"/>
                <a:ea typeface="Calibri"/>
                <a:cs typeface="Calibri"/>
              </a:rPr>
              <a:t>② 按时间记不牢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7FDD1DF-CC94-4780-89B0-59AE51BEE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7674" y="2615184"/>
            <a:ext cx="3094634" cy="987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050" b="1">
                <a:solidFill>
                  <a:srgbClr val="CDBFB0"/>
                </a:solidFill>
                <a:latin typeface="Calibri"/>
                <a:ea typeface="Calibri"/>
                <a:cs typeface="Calibri"/>
              </a:rPr>
              <a:t>想找一段记忆，记不清是哪天、叫什么名字，只隐约记得「在哪」。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D2922C4E-00BB-4517-8CB0-73800CB66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2933" y="1883664"/>
            <a:ext cx="3551834" cy="1847088"/>
          </a:xfrm>
          <a:prstGeom xmlns:a="http://schemas.openxmlformats.org/drawingml/2006/main" prst="roundRect">
            <a:avLst>
              <a:gd name="adj" fmla="val 4950"/>
            </a:avLst>
          </a:prstGeom>
          <a:solidFill xmlns:a="http://schemas.openxmlformats.org/drawingml/2006/main">
            <a:srgbClr val="140F0A">
              <a:alpha val="86000"/>
            </a:srgbClr>
          </a:solidFill>
          <a:ln xmlns:a="http://schemas.openxmlformats.org/drawingml/2006/main" w="15875">
            <a:solidFill>
              <a:srgbClr val="E8852E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567E2BF-1C9D-4B92-B08E-565101AD9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0677" y="2103120"/>
            <a:ext cx="309463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350" b="1">
                <a:solidFill>
                  <a:srgbClr val="F4AA63"/>
                </a:solidFill>
                <a:latin typeface="Calibri"/>
                <a:ea typeface="Calibri"/>
                <a:cs typeface="Calibri"/>
              </a:rPr>
              <a:t>③ 记完就沉底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420D49CA-AF3C-4C17-96C8-8FAF96C32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0677" y="2615184"/>
            <a:ext cx="3094634" cy="987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050" b="1">
                <a:solidFill>
                  <a:srgbClr val="CDBFB0"/>
                </a:solidFill>
                <a:latin typeface="Calibri"/>
                <a:ea typeface="Calibri"/>
                <a:cs typeface="Calibri"/>
              </a:rPr>
              <a:t>记录变成不再被唤起的死档，越积越懒得记，坚持不下来。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21D887A3-A058-4C6E-B94E-59425F2F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31920"/>
            <a:ext cx="3551834" cy="1847088"/>
          </a:xfrm>
          <a:prstGeom xmlns:a="http://schemas.openxmlformats.org/drawingml/2006/main" prst="roundRect">
            <a:avLst>
              <a:gd name="adj" fmla="val 4950"/>
            </a:avLst>
          </a:prstGeom>
          <a:solidFill xmlns:a="http://schemas.openxmlformats.org/drawingml/2006/main">
            <a:srgbClr val="140F0A">
              <a:alpha val="86000"/>
            </a:srgbClr>
          </a:solidFill>
          <a:ln xmlns:a="http://schemas.openxmlformats.org/drawingml/2006/main" w="15875">
            <a:solidFill>
              <a:srgbClr val="E8852E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25046DF3-991A-4AE1-B234-8ED9F3E8E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151376"/>
            <a:ext cx="309463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350" b="1">
                <a:solidFill>
                  <a:srgbClr val="F4AA63"/>
                </a:solidFill>
                <a:latin typeface="Calibri"/>
                <a:ea typeface="Calibri"/>
                <a:cs typeface="Calibri"/>
              </a:rPr>
              <a:t>④ 工具不懂你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276B0E8-7833-4D8E-8C0B-0277A33A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663440"/>
            <a:ext cx="3094634" cy="987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050" b="1">
                <a:solidFill>
                  <a:srgbClr val="CDBFB0"/>
                </a:solidFill>
                <a:latin typeface="Calibri"/>
                <a:ea typeface="Calibri"/>
                <a:cs typeface="Calibri"/>
              </a:rPr>
              <a:t>推荐总推你已经看过的，说不中「读得少却极爱」的那种真口味。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04F2C5DB-08B7-4921-8E5D-B34AF783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930" y="3931920"/>
            <a:ext cx="3551834" cy="1847088"/>
          </a:xfrm>
          <a:prstGeom xmlns:a="http://schemas.openxmlformats.org/drawingml/2006/main" prst="roundRect">
            <a:avLst>
              <a:gd name="adj" fmla="val 4950"/>
            </a:avLst>
          </a:prstGeom>
          <a:solidFill xmlns:a="http://schemas.openxmlformats.org/drawingml/2006/main">
            <a:srgbClr val="140F0A">
              <a:alpha val="86000"/>
            </a:srgbClr>
          </a:solidFill>
          <a:ln xmlns:a="http://schemas.openxmlformats.org/drawingml/2006/main" w="15875">
            <a:solidFill>
              <a:srgbClr val="E8852E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7C72D8C-AE0C-4932-90DC-CEF8610F8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7674" y="4151376"/>
            <a:ext cx="309463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350" b="1">
                <a:solidFill>
                  <a:srgbClr val="F4AA63"/>
                </a:solidFill>
                <a:latin typeface="Calibri"/>
                <a:ea typeface="Calibri"/>
                <a:cs typeface="Calibri"/>
              </a:rPr>
              <a:t>⑤ 隐私不敢交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EE2A63A7-30CE-4627-9615-82E425307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7674" y="4663440"/>
            <a:ext cx="3094634" cy="987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050" b="1">
                <a:solidFill>
                  <a:srgbClr val="CDBFB0"/>
                </a:solidFill>
                <a:latin typeface="Calibri"/>
                <a:ea typeface="Calibri"/>
                <a:cs typeface="Calibri"/>
              </a:rPr>
              <a:t>照片票据含人脸 / 证件 / 定位，不敢把整张原图交给云端。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86340B03-B857-4AEA-87F5-3A19FF0D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2933" y="3931920"/>
            <a:ext cx="3551834" cy="1847088"/>
          </a:xfrm>
          <a:prstGeom xmlns:a="http://schemas.openxmlformats.org/drawingml/2006/main" prst="roundRect">
            <a:avLst>
              <a:gd name="adj" fmla="val 4950"/>
            </a:avLst>
          </a:prstGeom>
          <a:solidFill xmlns:a="http://schemas.openxmlformats.org/drawingml/2006/main">
            <a:srgbClr val="140F0A">
              <a:alpha val="86000"/>
            </a:srgbClr>
          </a:solidFill>
          <a:ln xmlns:a="http://schemas.openxmlformats.org/drawingml/2006/main" w="15875">
            <a:solidFill>
              <a:srgbClr val="E8852E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1A026D65-BB20-41C3-8BBB-86413D5C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0677" y="4151376"/>
            <a:ext cx="309463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350" b="1">
                <a:solidFill>
                  <a:srgbClr val="F4AA63"/>
                </a:solidFill>
                <a:latin typeface="Calibri"/>
                <a:ea typeface="Calibri"/>
                <a:cs typeface="Calibri"/>
              </a:rPr>
              <a:t>⑥ 整理太费劲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25929042-6897-4D78-B712-E32454309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0677" y="4663440"/>
            <a:ext cx="3094634" cy="987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050" b="1">
                <a:solidFill>
                  <a:srgbClr val="CDBFB0"/>
                </a:solidFill>
                <a:latin typeface="Calibri"/>
                <a:ea typeface="Calibri"/>
                <a:cs typeface="Calibri"/>
              </a:rPr>
              <a:t>手动分类归档成本高，碎片越多越无从下手。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E7B72D83-8B9E-4611-8DCF-90847F5CE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07024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100" b="1" i="1">
                <a:solidFill>
                  <a:srgbClr val="E8852E"/>
                </a:solidFill>
                <a:latin typeface="Calibri"/>
                <a:ea typeface="Calibri"/>
                <a:cs typeface="Calibri"/>
              </a:rPr>
              <a:t>个人记忆缺一根能把一切串起来、又记得住、还护隐私的「轴」。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D4C52C71-66CC-4899-8940-CDA26069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A6743F"/>
                </a:solidFill>
                <a:latin typeface="Calibri"/>
                <a:ea typeface="Calibri"/>
                <a:cs typeface="Calibri"/>
              </a:rPr>
              <a:t>POCKET EARTH ON INJECTIVE · 口袋地球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3BDE9DF1-D7DC-4E0E-979E-72DF323D2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8655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A6743F"/>
                </a:solidFill>
                <a:latin typeface="Calibri"/>
                <a:ea typeface="Calibri"/>
                <a:cs typeface="Calibri"/>
              </a:rPr>
              <a:t>2 / 12</a:t>
            </a:r>
          </a:p>
        </p:txBody>
      </p:sp>
    </p:spTree>
    <p:extLst>
      <p:ext uri="{BB962C8B-B14F-4D97-AF65-F5344CB8AC3E}">
        <p14:creationId xmlns:p14="http://schemas.microsoft.com/office/powerpoint/2010/main" val="672001321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caf332ff6384d85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6FC4043-079A-44FC-9B0A-923D20A0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852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246B7C0-6CDC-4799-9C44-5554E19B5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74320"/>
            <a:ext cx="10972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E8852E"/>
                </a:solidFill>
                <a:latin typeface="Calibri"/>
                <a:ea typeface="Calibri"/>
                <a:cs typeface="Calibri"/>
              </a:rPr>
              <a:t>THE METHOD</a:t>
            </a:r>
            <a:r>
              <a:rPr sz="1200" b="1">
                <a:solidFill>
                  <a:srgbClr val="CDBFB0"/>
                </a:solidFill>
                <a:latin typeface="Calibri"/>
                <a:ea typeface="Calibri"/>
                <a:cs typeface="Calibri"/>
              </a:rPr>
              <a:t>   ·   把地球作为方法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BFC6AD1-7CE6-41CE-85BF-46DB4DD7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03504"/>
            <a:ext cx="1115568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换一根轴：用地理坐标，当记忆的索引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E8227C9-632B-4580-9CCC-7003AF5B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35024"/>
            <a:ext cx="11064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F4AA63"/>
                </a:solidFill>
                <a:latin typeface="Calibri"/>
                <a:ea typeface="Calibri"/>
                <a:cs typeface="Calibri"/>
              </a:rPr>
              <a:t>你想不起那本书叫什么，却记得是在京都的旅馆，读完最后一页——人脑记「在哪」，本就比记「哪天 / 叫什么」更牢。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3B95E12-3D5C-41FB-AB75-9D959420A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920240"/>
            <a:ext cx="5346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4AA63"/>
                </a:solidFill>
                <a:latin typeface="Calibri"/>
                <a:ea typeface="Calibri"/>
                <a:cs typeface="Calibri"/>
              </a:rPr>
              <a:t>别人的轴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4186666-1B25-460C-AA30-8DD75F455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67712"/>
            <a:ext cx="5346040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150" b="1">
                <a:solidFill>
                  <a:srgbClr val="CDBFB0"/>
                </a:solidFill>
                <a:latin typeface="Calibri"/>
                <a:ea typeface="Calibri"/>
                <a:cs typeface="Calibri"/>
              </a:rPr>
              <a:t>Obsidian 靠双向链接、Notion 靠数据库来组织信息——都在「关系」与「字段」里整理碎片。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61C0A8E-5FFF-42BC-8925-DA34E6793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18688"/>
            <a:ext cx="5346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4AA63"/>
                </a:solidFill>
                <a:latin typeface="Calibri"/>
                <a:ea typeface="Calibri"/>
                <a:cs typeface="Calibri"/>
              </a:rPr>
              <a:t>我换的轴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49F00C1-4207-4A0F-9948-134CFB8B0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66160"/>
            <a:ext cx="5346040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150" b="1">
                <a:solidFill>
                  <a:srgbClr val="CDBFB0"/>
                </a:solidFill>
                <a:latin typeface="Calibri"/>
                <a:ea typeface="Calibri"/>
                <a:cs typeface="Calibri"/>
              </a:rPr>
              <a:t>地理坐标。每条个人记录都被钉回它在地球上真正属于的那个点；人脑对「在哪」的记忆，本就比「哪天 / 叫什么」更牢。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CC46C26-7D9C-4EAC-9251-94C6F89B0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17136"/>
            <a:ext cx="5346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4AA63"/>
                </a:solidFill>
                <a:latin typeface="Calibri"/>
                <a:ea typeface="Calibri"/>
                <a:cs typeface="Calibri"/>
              </a:rPr>
              <a:t>六类映射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6BC77AD-A9C3-4DA1-9999-C688678E9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864608"/>
            <a:ext cx="5346040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150" b="1">
                <a:solidFill>
                  <a:srgbClr val="CDBFB0"/>
                </a:solidFill>
                <a:latin typeface="Calibri"/>
                <a:ea typeface="Calibri"/>
                <a:cs typeface="Calibri"/>
              </a:rPr>
              <a:t>书→故事地 / 作者地，电影→取景地 / 国别，音乐→歌手出身城 / 歌中城，照片→自带经纬度，行程→私人足迹，心情→端侧 qwen 判地名落点。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D1A3021-ADA6-463A-A110-DAC3BB97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728" y="1920240"/>
            <a:ext cx="5346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4AA63"/>
                </a:solidFill>
                <a:latin typeface="Calibri"/>
                <a:ea typeface="Calibri"/>
                <a:cs typeface="Calibri"/>
              </a:rPr>
              <a:t>收敛成一种点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81A2C64-DCE8-4965-B455-A9DFD22F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728" y="2267712"/>
            <a:ext cx="5346040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150" b="1">
                <a:solidFill>
                  <a:srgbClr val="CDBFB0"/>
                </a:solidFill>
                <a:latin typeface="Calibri"/>
                <a:ea typeface="Calibri"/>
                <a:cs typeface="Calibri"/>
              </a:rPr>
              <a:t>形状各异的碎片，最终都收敛成同一种「带坐标的点」，地球成为统一索引——2124 部影 · 1055 本书 · 619 位艺人 · 536 张照片，都钉在了它该在的位置。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62864E2-8D74-4340-9B48-B2A3E9CB2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728" y="3218688"/>
            <a:ext cx="5346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4AA63"/>
                </a:solidFill>
                <a:latin typeface="Calibri"/>
                <a:ea typeface="Calibri"/>
                <a:cs typeface="Calibri"/>
              </a:rPr>
              <a:t>坐标是锚，不是底图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61707096-B9E0-482E-A0BE-B3DD17F8C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728" y="3566160"/>
            <a:ext cx="5346040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150" b="1">
                <a:solidFill>
                  <a:srgbClr val="CDBFB0"/>
                </a:solidFill>
                <a:latin typeface="Calibri"/>
                <a:ea typeface="Calibri"/>
                <a:cs typeface="Calibri"/>
              </a:rPr>
              <a:t>缩放、平移、标记都不跟屏幕跑——地理坐标是真实世界的「锚」,而非一张当背景的地图。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EBC18F0-3EBF-4EE0-AC8E-7AF69C54B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07024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100" b="1" i="1">
                <a:solidFill>
                  <a:srgbClr val="E8852E"/>
                </a:solidFill>
                <a:latin typeface="Calibri"/>
                <a:ea typeface="Calibri"/>
                <a:cs typeface="Calibri"/>
              </a:rPr>
              <a:t>一颗地球，长成只属于你的知识地图。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E6FA9C8-60D5-407C-A669-999BD2510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A6743F"/>
                </a:solidFill>
                <a:latin typeface="Calibri"/>
                <a:ea typeface="Calibri"/>
                <a:cs typeface="Calibri"/>
              </a:rPr>
              <a:t>POCKET EARTH ON INJECTIVE · 口袋地球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DB62FF3F-1512-46F0-9133-A8F2CE3CA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8655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A6743F"/>
                </a:solidFill>
                <a:latin typeface="Calibri"/>
                <a:ea typeface="Calibri"/>
                <a:cs typeface="Calibri"/>
              </a:rPr>
              <a:t>3 / 12</a:t>
            </a:r>
          </a:p>
        </p:txBody>
      </p:sp>
    </p:spTree>
    <p:extLst>
      <p:ext uri="{BB962C8B-B14F-4D97-AF65-F5344CB8AC3E}">
        <p14:creationId xmlns:p14="http://schemas.microsoft.com/office/powerpoint/2010/main" val="1234752056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2f19a6624cf4c05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A9DD1A7-56C7-4073-83AC-6D33256D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D49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7985427-4DBF-4BCE-9877-6E9AEF36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74320"/>
            <a:ext cx="10972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2BD49A"/>
                </a:solidFill>
                <a:latin typeface="Calibri"/>
                <a:ea typeface="Calibri"/>
                <a:cs typeface="Calibri"/>
              </a:rPr>
              <a:t>FROST-AGENT HARNESS</a:t>
            </a:r>
            <a:r>
              <a:rPr sz="1200" b="1">
                <a:solidFill>
                  <a:srgbClr val="CDBFB0"/>
                </a:solidFill>
                <a:latin typeface="Calibri"/>
                <a:ea typeface="Calibri"/>
                <a:cs typeface="Calibri"/>
              </a:rPr>
              <a:t>   ·   内核 · CEO 委派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2840496-7258-4FD4-86CF-BB802B765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03504"/>
            <a:ext cx="1115568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不是聊天框，是一套自带降级的 harness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107DFCB-3DB7-46F4-8761-E85A8521B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35024"/>
            <a:ext cx="11064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7CF0BE"/>
                </a:solidFill>
                <a:latin typeface="Calibri"/>
                <a:ea typeface="Calibri"/>
                <a:cs typeface="Calibri"/>
              </a:rPr>
              <a:t>主 frost-agent 当 CEO，把对象委派给专门子 agent，只回流结论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8A3840DA-7967-4826-9832-1B17720F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883664"/>
            <a:ext cx="3551834" cy="1847088"/>
          </a:xfrm>
          <a:prstGeom xmlns:a="http://schemas.openxmlformats.org/drawingml/2006/main" prst="roundRect">
            <a:avLst>
              <a:gd name="adj" fmla="val 4950"/>
            </a:avLst>
          </a:prstGeom>
          <a:solidFill xmlns:a="http://schemas.openxmlformats.org/drawingml/2006/main">
            <a:srgbClr val="140F0A">
              <a:alpha val="86000"/>
            </a:srgbClr>
          </a:solidFill>
          <a:ln xmlns:a="http://schemas.openxmlformats.org/drawingml/2006/main" w="15875">
            <a:solidFill>
              <a:srgbClr val="2BD49A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A66DF69-F5A1-46AB-BA91-01E33B519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103120"/>
            <a:ext cx="309463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350" b="1">
                <a:solidFill>
                  <a:srgbClr val="7CF0BE"/>
                </a:solidFill>
                <a:latin typeface="Calibri"/>
                <a:ea typeface="Calibri"/>
                <a:cs typeface="Calibri"/>
              </a:rPr>
              <a:t>CEO 委派模型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A1C7C60-0484-4972-AC81-608EDA64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615184"/>
            <a:ext cx="3094634" cy="987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050" b="1">
                <a:solidFill>
                  <a:srgbClr val="CDBFB0"/>
                </a:solidFill>
                <a:latin typeface="Calibri"/>
                <a:ea typeface="Calibri"/>
                <a:cs typeface="Calibri"/>
              </a:rPr>
              <a:t>主 frost-agent 不亲自吞原始数据，把不同对象派给专门子 agent，每个在独立上下文「整理 → 定位 → 产出落点」，只把结论交回主对话。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5FE905DF-766C-438B-B2E6-6A549EB65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930" y="1883664"/>
            <a:ext cx="3551834" cy="1847088"/>
          </a:xfrm>
          <a:prstGeom xmlns:a="http://schemas.openxmlformats.org/drawingml/2006/main" prst="roundRect">
            <a:avLst>
              <a:gd name="adj" fmla="val 4950"/>
            </a:avLst>
          </a:prstGeom>
          <a:solidFill xmlns:a="http://schemas.openxmlformats.org/drawingml/2006/main">
            <a:srgbClr val="140F0A">
              <a:alpha val="86000"/>
            </a:srgbClr>
          </a:solidFill>
          <a:ln xmlns:a="http://schemas.openxmlformats.org/drawingml/2006/main" w="15875">
            <a:solidFill>
              <a:srgbClr val="2BD49A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060B17A-902E-4B3D-A796-F0149EFCD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7674" y="2103120"/>
            <a:ext cx="309463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350" b="1">
                <a:solidFill>
                  <a:srgbClr val="7CF0BE"/>
                </a:solidFill>
                <a:latin typeface="Calibri"/>
                <a:ea typeface="Calibri"/>
                <a:cs typeface="Calibri"/>
              </a:rPr>
              <a:t>① 隔离 ISOLATION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F107C1F-BF76-42D3-8FC1-768E89FB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7674" y="2615184"/>
            <a:ext cx="3094634" cy="987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050" b="1">
                <a:solidFill>
                  <a:srgbClr val="CDBFB0"/>
                </a:solidFill>
                <a:latin typeface="Calibri"/>
                <a:ea typeface="Calibri"/>
                <a:cs typeface="Calibri"/>
              </a:rPr>
              <a:t>噪声封锁在子 agent 内部，主对话只收结论——舱壁模式，一处出错不污染全局，整理的噪声不回灌主流程。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36D4645B-0FF4-411C-AB57-10ACBFB8C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2933" y="1883664"/>
            <a:ext cx="3551834" cy="1847088"/>
          </a:xfrm>
          <a:prstGeom xmlns:a="http://schemas.openxmlformats.org/drawingml/2006/main" prst="roundRect">
            <a:avLst>
              <a:gd name="adj" fmla="val 4950"/>
            </a:avLst>
          </a:prstGeom>
          <a:solidFill xmlns:a="http://schemas.openxmlformats.org/drawingml/2006/main">
            <a:srgbClr val="140F0A">
              <a:alpha val="86000"/>
            </a:srgbClr>
          </a:solidFill>
          <a:ln xmlns:a="http://schemas.openxmlformats.org/drawingml/2006/main" w="15875">
            <a:solidFill>
              <a:srgbClr val="2BD49A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26311B8-0DCC-4F7B-9E17-79DBEE8EC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0677" y="2103120"/>
            <a:ext cx="309463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350" b="1">
                <a:solidFill>
                  <a:srgbClr val="7CF0BE"/>
                </a:solidFill>
                <a:latin typeface="Calibri"/>
                <a:ea typeface="Calibri"/>
                <a:cs typeface="Calibri"/>
              </a:rPr>
              <a:t>② 约束 CONSTRAINT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B8A2D29-F0A6-435A-8F69-EA21B7FE8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0677" y="2615184"/>
            <a:ext cx="3094634" cy="987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050" b="1">
                <a:solidFill>
                  <a:srgbClr val="CDBFB0"/>
                </a:solidFill>
                <a:latin typeface="Calibri"/>
                <a:ea typeface="Calibri"/>
                <a:cs typeface="Calibri"/>
              </a:rPr>
              <a:t>校验器注册表化：registerActionValidator(type,fn) 注册、validateActions 逐条 dispatch；未注册动作一律默认拒绝，switch_city 回查 slug、set_playlist 则拒收空歌单。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81A54325-C5BF-4C7F-A6D1-9E74CD50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31920"/>
            <a:ext cx="3551834" cy="1847088"/>
          </a:xfrm>
          <a:prstGeom xmlns:a="http://schemas.openxmlformats.org/drawingml/2006/main" prst="roundRect">
            <a:avLst>
              <a:gd name="adj" fmla="val 4950"/>
            </a:avLst>
          </a:prstGeom>
          <a:solidFill xmlns:a="http://schemas.openxmlformats.org/drawingml/2006/main">
            <a:srgbClr val="140F0A">
              <a:alpha val="86000"/>
            </a:srgbClr>
          </a:solidFill>
          <a:ln xmlns:a="http://schemas.openxmlformats.org/drawingml/2006/main" w="15875">
            <a:solidFill>
              <a:srgbClr val="2BD49A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6FDC24BF-E45B-4E07-B73A-004A4153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151376"/>
            <a:ext cx="309463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350" b="1">
                <a:solidFill>
                  <a:srgbClr val="7CF0BE"/>
                </a:solidFill>
                <a:latin typeface="Calibri"/>
                <a:ea typeface="Calibri"/>
                <a:cs typeface="Calibri"/>
              </a:rPr>
              <a:t>③ 可组合 COMPOSABLE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44EDDA9-8688-4FDA-BEEE-552749AA6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663440"/>
            <a:ext cx="3094634" cy="987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050" b="1">
                <a:solidFill>
                  <a:srgbClr val="CDBFB0"/>
                </a:solidFill>
                <a:latin typeface="Calibri"/>
                <a:ea typeface="Calibri"/>
                <a:cs typeface="Calibri"/>
              </a:rPr>
              <a:t>子 agent 统一回 AgentResult 契约，只产 radioActions 建议、不直接执行；意图与动作靠 registerIntent / registerActionValidator 注册表化，新增一类只注册一行，内核 dispatch 零改动。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CCB942D8-BE1A-4531-8B34-A89738DD7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930" y="3931920"/>
            <a:ext cx="3551834" cy="1847088"/>
          </a:xfrm>
          <a:prstGeom xmlns:a="http://schemas.openxmlformats.org/drawingml/2006/main" prst="roundRect">
            <a:avLst>
              <a:gd name="adj" fmla="val 4950"/>
            </a:avLst>
          </a:prstGeom>
          <a:solidFill xmlns:a="http://schemas.openxmlformats.org/drawingml/2006/main">
            <a:srgbClr val="140F0A">
              <a:alpha val="86000"/>
            </a:srgbClr>
          </a:solidFill>
          <a:ln xmlns:a="http://schemas.openxmlformats.org/drawingml/2006/main" w="15875">
            <a:solidFill>
              <a:srgbClr val="2BD49A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F66F99F-F871-468B-900D-F3026338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7674" y="4151376"/>
            <a:ext cx="309463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350" b="1">
                <a:solidFill>
                  <a:srgbClr val="7CF0BE"/>
                </a:solidFill>
                <a:latin typeface="Calibri"/>
                <a:ea typeface="Calibri"/>
                <a:cs typeface="Calibri"/>
              </a:rPr>
              <a:t>六个部件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3D5DC340-F519-48F6-82DF-753F3AB2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7674" y="4663440"/>
            <a:ext cx="3094634" cy="987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050" b="1">
                <a:solidFill>
                  <a:srgbClr val="CDBFB0"/>
                </a:solidFill>
                <a:latin typeface="Calibri"/>
                <a:ea typeface="Calibri"/>
                <a:cs typeface="Calibri"/>
              </a:rPr>
              <a:t>SHELL 壳·人格 / BRAIN 脑（FrostBrain.complete，stubBrain 返回空串 → 调用方走规则兜底）/ ROUTER 路由 / MEMORY 记忆 / BOUNDARY 界 / SUB-AGENTS 子 agent。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B42A3B41-C6A9-4C4F-AC21-A966F284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2933" y="3931920"/>
            <a:ext cx="3551834" cy="1847088"/>
          </a:xfrm>
          <a:prstGeom xmlns:a="http://schemas.openxmlformats.org/drawingml/2006/main" prst="roundRect">
            <a:avLst>
              <a:gd name="adj" fmla="val 4950"/>
            </a:avLst>
          </a:prstGeom>
          <a:solidFill xmlns:a="http://schemas.openxmlformats.org/drawingml/2006/main">
            <a:srgbClr val="140F0A">
              <a:alpha val="86000"/>
            </a:srgbClr>
          </a:solidFill>
          <a:ln xmlns:a="http://schemas.openxmlformats.org/drawingml/2006/main" w="15875">
            <a:solidFill>
              <a:srgbClr val="2BD49A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DE17C38B-B68B-4D1E-B622-4785A7EE9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0677" y="4151376"/>
            <a:ext cx="309463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350" b="1">
                <a:solidFill>
                  <a:srgbClr val="7CF0BE"/>
                </a:solidFill>
                <a:latin typeface="Calibri"/>
                <a:ea typeface="Calibri"/>
                <a:cs typeface="Calibri"/>
              </a:rPr>
              <a:t>优雅降级摆第一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FC2F43B2-78B6-43DF-8AFC-AC166992F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0677" y="4663440"/>
            <a:ext cx="3094634" cy="987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050" b="1">
                <a:solidFill>
                  <a:srgbClr val="CDBFB0"/>
                </a:solidFill>
                <a:latin typeface="Calibri"/>
                <a:ea typeface="Calibri"/>
                <a:cs typeface="Calibri"/>
              </a:rPr>
              <a:t>edgeSafe 给端侧 6 能力各套类型化兜底（chat→空串 / rank→[] / embed→[][]），异常即返默认、按步记 health；无 LLM / 端侧 / 网络都能跑，降级看得见、断网不白屏。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6186697-7C3F-4891-A603-D8C8A480D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07024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100" b="1" i="1">
                <a:solidFill>
                  <a:srgbClr val="2BD49A"/>
                </a:solidFill>
                <a:latin typeface="Calibri"/>
                <a:ea typeface="Calibri"/>
                <a:cs typeface="Calibri"/>
              </a:rPr>
              <a:t>CEO 委派模型——主 agent 只搬结论，不吞数据。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ECCFEFD9-4921-4471-8364-0782C517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A6743F"/>
                </a:solidFill>
                <a:latin typeface="Calibri"/>
                <a:ea typeface="Calibri"/>
                <a:cs typeface="Calibri"/>
              </a:rPr>
              <a:t>POCKET EARTH ON INJECTIVE · 口袋地球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BABED69D-A449-4334-A03B-80FF17D21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8655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A6743F"/>
                </a:solidFill>
                <a:latin typeface="Calibri"/>
                <a:ea typeface="Calibri"/>
                <a:cs typeface="Calibri"/>
              </a:rPr>
              <a:t>4 / 12</a:t>
            </a:r>
          </a:p>
        </p:txBody>
      </p:sp>
    </p:spTree>
    <p:extLst>
      <p:ext uri="{BB962C8B-B14F-4D97-AF65-F5344CB8AC3E}">
        <p14:creationId xmlns:p14="http://schemas.microsoft.com/office/powerpoint/2010/main" val="1267012502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6f58f1687eeb4a18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347118C-666A-433B-AA1C-C257C2B80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6CF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7E116BF-1D9D-4A84-BF98-29E626AAA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74320"/>
            <a:ext cx="10972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7C6CF5"/>
                </a:solidFill>
                <a:latin typeface="Calibri"/>
                <a:ea typeface="Calibri"/>
                <a:cs typeface="Calibri"/>
              </a:rPr>
              <a:t>AGENT PLATFORM · 创建 · 发布 · 安装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4AC2830-DC03-4FAF-A106-5427B2D7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03504"/>
            <a:ext cx="1115568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每个人都能造 Agent，但只有空间原生的 Agent 才进入广场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C3CE3D7-89C4-481D-9486-77D287B14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35024"/>
            <a:ext cx="11064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B7AAFF"/>
                </a:solidFill>
                <a:latin typeface="Calibri"/>
                <a:ea typeface="Calibri"/>
                <a:cs typeface="Calibri"/>
              </a:rPr>
              <a:t>Agent Forge 负责创建，Agent Plaza 负责审核与安装，Public Plaza 负责发现真实链上分身。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FBBB661-A80C-49D7-8444-5C58BE79D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883664"/>
            <a:ext cx="5428336" cy="1847088"/>
          </a:xfrm>
          <a:prstGeom xmlns:a="http://schemas.openxmlformats.org/drawingml/2006/main" prst="roundRect">
            <a:avLst>
              <a:gd name="adj" fmla="val 4950"/>
            </a:avLst>
          </a:prstGeom>
          <a:solidFill xmlns:a="http://schemas.openxmlformats.org/drawingml/2006/main">
            <a:srgbClr val="140F0A">
              <a:alpha val="86000"/>
            </a:srgbClr>
          </a:solidFill>
          <a:ln xmlns:a="http://schemas.openxmlformats.org/drawingml/2006/main" w="15875">
            <a:solidFill>
              <a:srgbClr val="7C6CF5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EF3260C-B4BB-48A3-A787-84165B659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103120"/>
            <a:ext cx="4971136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500" b="1">
                <a:solidFill>
                  <a:srgbClr val="B7AAFF"/>
                </a:solidFill>
                <a:latin typeface="Calibri"/>
                <a:ea typeface="Calibri"/>
                <a:cs typeface="Calibri"/>
              </a:rPr>
              <a:t>① Agent Forge · 一句话创建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2F5EABC-BFC0-45DD-8E44-184DA84F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670048"/>
            <a:ext cx="4971136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150" b="1">
                <a:solidFill>
                  <a:srgbClr val="CDBFB0"/>
                </a:solidFill>
                <a:latin typeface="Calibri"/>
                <a:ea typeface="Calibri"/>
                <a:cs typeface="Calibri"/>
              </a:rPr>
              <a:t>自然语言需求编译为声明式 manifest：空间对象、工具、权限与端 / 云运行位置都显式可查。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B35DB8D4-AE32-4DF4-8699-12B6716F0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6432" y="1883664"/>
            <a:ext cx="5428336" cy="1847088"/>
          </a:xfrm>
          <a:prstGeom xmlns:a="http://schemas.openxmlformats.org/drawingml/2006/main" prst="roundRect">
            <a:avLst>
              <a:gd name="adj" fmla="val 4950"/>
            </a:avLst>
          </a:prstGeom>
          <a:solidFill xmlns:a="http://schemas.openxmlformats.org/drawingml/2006/main">
            <a:srgbClr val="140F0A">
              <a:alpha val="86000"/>
            </a:srgbClr>
          </a:solidFill>
          <a:ln xmlns:a="http://schemas.openxmlformats.org/drawingml/2006/main" w="15875">
            <a:solidFill>
              <a:srgbClr val="7C6CF5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CA6009D-7FFA-4D62-B945-65A33C30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4176" y="2103120"/>
            <a:ext cx="4971136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500" b="1">
                <a:solidFill>
                  <a:srgbClr val="B7AAFF"/>
                </a:solidFill>
                <a:latin typeface="Calibri"/>
                <a:ea typeface="Calibri"/>
                <a:cs typeface="Calibri"/>
              </a:rPr>
              <a:t>② Agent Plaza · 发布与审核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FCF836F-34FE-4D67-8C4C-EB9AD3B54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4176" y="2670048"/>
            <a:ext cx="4971136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150" b="1">
                <a:solidFill>
                  <a:srgbClr val="CDBFB0"/>
                </a:solidFill>
                <a:latin typeface="Calibri"/>
                <a:ea typeface="Calibri"/>
                <a:cs typeface="Calibri"/>
              </a:rPr>
              <a:t>reviewManifest 默认拒绝未知动作；平台只接收知识管理、内容创作与空间体验相关 Agent。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AB4D1833-0847-4F0B-B05B-5CD113AF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31920"/>
            <a:ext cx="5428336" cy="1847088"/>
          </a:xfrm>
          <a:prstGeom xmlns:a="http://schemas.openxmlformats.org/drawingml/2006/main" prst="roundRect">
            <a:avLst>
              <a:gd name="adj" fmla="val 4950"/>
            </a:avLst>
          </a:prstGeom>
          <a:solidFill xmlns:a="http://schemas.openxmlformats.org/drawingml/2006/main">
            <a:srgbClr val="140F0A">
              <a:alpha val="86000"/>
            </a:srgbClr>
          </a:solidFill>
          <a:ln xmlns:a="http://schemas.openxmlformats.org/drawingml/2006/main" w="15875">
            <a:solidFill>
              <a:srgbClr val="7C6CF5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53796E3-7B03-479D-8ADE-AD84C074A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151376"/>
            <a:ext cx="4971136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500" b="1">
                <a:solidFill>
                  <a:srgbClr val="B7AAFF"/>
                </a:solidFill>
                <a:latin typeface="Calibri"/>
                <a:ea typeface="Calibri"/>
                <a:cs typeface="Calibri"/>
              </a:rPr>
              <a:t>③ Public Plaza · 发现分身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A620EF2-3496-4EEB-924F-037461D12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718304"/>
            <a:ext cx="4971136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150" b="1">
                <a:solidFill>
                  <a:srgbClr val="CDBFB0"/>
                </a:solidFill>
                <a:latin typeface="Calibri"/>
                <a:ea typeface="Calibri"/>
                <a:cs typeface="Calibri"/>
              </a:rPr>
              <a:t>按 builderCode 从 Injective 读取真实身份，FROST 带脱敏标签相遇、握手，夜里把链上见闻带回来。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D449483E-59E3-4BF1-A589-902EFA022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6432" y="3931920"/>
            <a:ext cx="5428336" cy="1847088"/>
          </a:xfrm>
          <a:prstGeom xmlns:a="http://schemas.openxmlformats.org/drawingml/2006/main" prst="roundRect">
            <a:avLst>
              <a:gd name="adj" fmla="val 4950"/>
            </a:avLst>
          </a:prstGeom>
          <a:solidFill xmlns:a="http://schemas.openxmlformats.org/drawingml/2006/main">
            <a:srgbClr val="140F0A">
              <a:alpha val="86000"/>
            </a:srgbClr>
          </a:solidFill>
          <a:ln xmlns:a="http://schemas.openxmlformats.org/drawingml/2006/main" w="15875">
            <a:solidFill>
              <a:srgbClr val="7C6CF5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E48D066E-BBA3-47FF-A66D-457D9385A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4176" y="4151376"/>
            <a:ext cx="4971136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500" b="1">
                <a:solidFill>
                  <a:srgbClr val="B7AAFF"/>
                </a:solidFill>
                <a:latin typeface="Calibri"/>
                <a:ea typeface="Calibri"/>
                <a:cs typeface="Calibri"/>
              </a:rPr>
              <a:t>④ INSTALL → MY AGENTS → RUN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1EE8D00-58F3-4631-9F3F-456F9CB7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4176" y="4718304"/>
            <a:ext cx="4971136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150" b="1">
                <a:solidFill>
                  <a:srgbClr val="CDBFB0"/>
                </a:solidFill>
                <a:latin typeface="Calibri"/>
                <a:ea typeface="Calibri"/>
                <a:cs typeface="Calibri"/>
              </a:rPr>
              <a:t>安装后保留原 manifest 与最小权限；运行仍走同一套 harness、Boundary 与 trace，创建到运行形成闭环。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562B9C8B-544B-42F4-9974-7CAB98266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07024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100" b="1" i="1">
                <a:solidFill>
                  <a:srgbClr val="7C6CF5"/>
                </a:solidFill>
                <a:latin typeface="Calibri"/>
                <a:ea typeface="Calibri"/>
                <a:cs typeface="Calibri"/>
              </a:rPr>
              <a:t>不是泛 AI 工具箱：空间逻辑是准入条件，私人数据始终由用户掌控。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0D7575EA-A70A-4B97-9709-C21B79E97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A6743F"/>
                </a:solidFill>
                <a:latin typeface="Calibri"/>
                <a:ea typeface="Calibri"/>
                <a:cs typeface="Calibri"/>
              </a:rPr>
              <a:t>POCKET EARTH ON INJECTIVE · 口袋地球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287CD43B-A0D2-4551-8BDC-83504E8A5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8655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A6743F"/>
                </a:solidFill>
                <a:latin typeface="Calibri"/>
                <a:ea typeface="Calibri"/>
                <a:cs typeface="Calibri"/>
              </a:rPr>
              <a:t>5 / 12</a:t>
            </a:r>
          </a:p>
        </p:txBody>
      </p:sp>
    </p:spTree>
    <p:extLst>
      <p:ext uri="{BB962C8B-B14F-4D97-AF65-F5344CB8AC3E}">
        <p14:creationId xmlns:p14="http://schemas.microsoft.com/office/powerpoint/2010/main" val="539626598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3f4862718ca46a2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890F25A-366F-44B3-8588-B7C427DC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852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81E9453-2EC1-43C3-81AC-55A07FF3F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74320"/>
            <a:ext cx="10972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E8852E"/>
                </a:solidFill>
                <a:latin typeface="Calibri"/>
                <a:ea typeface="Calibri"/>
                <a:cs typeface="Calibri"/>
              </a:rPr>
              <a:t>PUBLIC EARTH · 链上分身的空间社会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A4F2463-D4B0-47C9-8708-44901F27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03504"/>
            <a:ext cx="109728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口袋地球装记忆，公共地球住分身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85265AC-8CF8-4AD9-8C64-81692A3FC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54480"/>
            <a:ext cx="3108960" cy="45720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140F0A">
              <a:alpha val="86000"/>
            </a:srgbClr>
          </a:solidFill>
          <a:ln xmlns:a="http://schemas.openxmlformats.org/drawingml/2006/main" w="15875">
            <a:solidFill>
              <a:srgbClr val="E8852E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313fdf917d4adc"/>
          <a:srcRect xmlns:a="http://schemas.openxmlformats.org/drawingml/2006/main" l="0" t="12000" r="0" b="22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822960" y="1810512"/>
            <a:ext cx="2596896" cy="3154680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C73525B7-7BE8-4D18-8E1B-3453552ED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74920"/>
            <a:ext cx="31089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PUBLIC EARTH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33BA360F-3239-40ED-A578-5F237E2E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0"/>
            <a:ext cx="3108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4AA63"/>
                </a:solidFill>
                <a:latin typeface="Calibri"/>
                <a:ea typeface="Calibri"/>
                <a:cs typeface="Calibri"/>
              </a:rPr>
              <a:t>agentId 43–47</a:t>
            </a:r>
          </a:p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4AA63"/>
                </a:solidFill>
                <a:latin typeface="Calibri"/>
                <a:ea typeface="Calibri"/>
                <a:cs typeface="Calibri"/>
              </a:rPr>
              <a:t>五个真实链上门牌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0574A38-0720-454A-802E-492020DB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779008"/>
            <a:ext cx="3108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CDBFB0"/>
                </a:solidFill>
                <a:latin typeface="Calibri"/>
                <a:ea typeface="Calibri"/>
                <a:cs typeface="Calibri"/>
              </a:rPr>
              <a:t>0xac7c…ee1b · Injective testnet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D7B439F2-3F0A-49A7-8E3E-CF87072C7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1664207"/>
            <a:ext cx="118872" cy="1188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852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C8C8B7C8-F923-478C-ACD4-3F98DD84D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1554480"/>
            <a:ext cx="730879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4AA63"/>
                </a:solidFill>
                <a:latin typeface="Calibri"/>
                <a:ea typeface="Calibri"/>
                <a:cs typeface="Calibri"/>
              </a:rPr>
              <a:t>① 头像回答「我是谁」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7F45FE64-33F3-4697-BAAA-02A921837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1883664"/>
            <a:ext cx="7308799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200" b="1">
                <a:solidFill>
                  <a:srgbClr val="CDBFB0"/>
                </a:solidFill>
                <a:latin typeface="Calibri"/>
                <a:ea typeface="Calibri"/>
                <a:cs typeface="Calibri"/>
              </a:rPr>
              <a:t>ERC-8004 agentId 是公开身份；data URI 名片与 cardHash 可以独立核对。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F43004FB-83D8-4865-86E1-756D74DD8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3218688"/>
            <a:ext cx="118872" cy="1188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852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7D057405-9424-4FE3-A19B-BF27191D5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3108960"/>
            <a:ext cx="730879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4AA63"/>
                </a:solidFill>
                <a:latin typeface="Calibri"/>
                <a:ea typeface="Calibri"/>
                <a:cs typeface="Calibri"/>
              </a:rPr>
              <a:t>③ 地球看关系 · 卡片看身份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F185E87E-DB7D-443E-BB5C-DE68A8A65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3438144"/>
            <a:ext cx="7308799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200" b="1">
                <a:solidFill>
                  <a:srgbClr val="CDBFB0"/>
                </a:solidFill>
                <a:latin typeface="Calibri"/>
                <a:ea typeface="Calibri"/>
                <a:cs typeface="Calibri"/>
              </a:rPr>
              <a:t>EARTH / CARD 双视图已接真实链读；五张身份卡逐一匹配公开名片。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586D7B0C-97D7-4C26-B341-6783CA44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3995928"/>
            <a:ext cx="118872" cy="1188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852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97DE0AF0-1513-4007-BE76-01817059E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3886200"/>
            <a:ext cx="730879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4AA63"/>
                </a:solidFill>
                <a:latin typeface="Calibri"/>
                <a:ea typeface="Calibri"/>
                <a:cs typeface="Calibri"/>
              </a:rPr>
              <a:t>④ 不是虚拟土地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6F20CFFB-427B-4794-8C43-3392B08E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4215384"/>
            <a:ext cx="7308799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200" b="1">
                <a:solidFill>
                  <a:srgbClr val="CDBFB0"/>
                </a:solidFill>
                <a:latin typeface="Calibri"/>
                <a:ea typeface="Calibri"/>
                <a:cs typeface="Calibri"/>
              </a:rPr>
              <a:t>门牌不对应现实地址、精确坐标、稀缺地块或所有权。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B9C58BB-EA30-4747-89D0-385916BF6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4773168"/>
            <a:ext cx="118872" cy="1188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852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E7F74B0B-5B07-44FB-8C6C-215D93ADA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4663440"/>
            <a:ext cx="730879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4AA63"/>
                </a:solidFill>
                <a:latin typeface="Calibri"/>
                <a:ea typeface="Calibri"/>
                <a:cs typeface="Calibri"/>
              </a:rPr>
              <a:t>⑤ 借卡的形，不借卡的经济学</a:t>
            </a:r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FF343AEC-03DF-43DE-9B34-5818BF437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4992624"/>
            <a:ext cx="7308799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200" b="1">
                <a:solidFill>
                  <a:srgbClr val="CDBFB0"/>
                </a:solidFill>
                <a:latin typeface="Calibri"/>
                <a:ea typeface="Calibri"/>
                <a:cs typeface="Calibri"/>
              </a:rPr>
              <a:t>不设稀有度、卡包与对战；每张卡记录真实发生的链上事实。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B031D6AD-CC0F-4A5A-BBA6-DD1539F2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5596128"/>
            <a:ext cx="7583119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1100" b="1" i="1">
                <a:solidFill>
                  <a:srgbClr val="E8852E"/>
                </a:solidFill>
                <a:latin typeface="Calibri"/>
                <a:ea typeface="Calibri"/>
                <a:cs typeface="Calibri"/>
              </a:rPr>
              <a:t>地球是空间关系层，身份卡是可验证对象层。</a:t>
            </a:r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273C4C4D-A28F-4E8B-A7AC-7B205B07A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A6743F"/>
                </a:solidFill>
                <a:latin typeface="Calibri"/>
                <a:ea typeface="Calibri"/>
                <a:cs typeface="Calibri"/>
              </a:rPr>
              <a:t>POCKET EARTH ON INJECTIVE · 口袋地球</a:t>
            </a:r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6EA3E7ED-9111-4ED5-84AB-D7900856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8655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A6743F"/>
                </a:solidFill>
                <a:latin typeface="Calibri"/>
                <a:ea typeface="Calibri"/>
                <a:cs typeface="Calibri"/>
              </a:rPr>
              <a:t>6 / 12</a:t>
            </a:r>
          </a:p>
        </p:txBody>
      </p:sp>
      <p:sp>
        <p:nvSpPr>
          <p:cNvPr id="26" name="Shape 7">
            <a:extLst xmlns:a="http://schemas.openxmlformats.org/drawingml/2006/main">
              <a:ext uri="{FF2B5EF4-FFF2-40B4-BE49-F238E27FC236}">
                <a16:creationId xmlns:a16="http://schemas.microsoft.com/office/drawing/2014/main" id="{73819FA0-07CE-4740-B734-A2BFE7FB6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2441448"/>
            <a:ext cx="118872" cy="1188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852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8">
            <a:extLst xmlns:a="http://schemas.openxmlformats.org/drawingml/2006/main">
              <a:ext uri="{FF2B5EF4-FFF2-40B4-BE49-F238E27FC236}">
                <a16:creationId xmlns:a16="http://schemas.microsoft.com/office/drawing/2014/main" id="{75DC2C51-F19D-4E61-851E-5A55E9B3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2331720"/>
            <a:ext cx="730879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4AA63"/>
                </a:solidFill>
                <a:latin typeface="Calibri"/>
                <a:ea typeface="Calibri"/>
                <a:cs typeface="Calibri"/>
              </a:rPr>
              <a:t>② 门牌回答「我在哪」</a:t>
            </a:r>
          </a:p>
        </p:txBody>
      </p:sp>
      <p:sp>
        <p:nvSpPr>
          <p:cNvPr id="28" name="Text 9">
            <a:extLst xmlns:a="http://schemas.openxmlformats.org/drawingml/2006/main">
              <a:ext uri="{FF2B5EF4-FFF2-40B4-BE49-F238E27FC236}">
                <a16:creationId xmlns:a16="http://schemas.microsoft.com/office/drawing/2014/main" id="{604B9CF7-C09C-4515-9716-A97A5716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2660903"/>
            <a:ext cx="7308799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200" b="1">
                <a:solidFill>
                  <a:srgbClr val="CDBFB0"/>
                </a:solidFill>
                <a:latin typeface="Calibri"/>
                <a:ea typeface="Calibri"/>
                <a:cs typeface="Calibri"/>
              </a:rPr>
              <a:t>PublicEarthRegistry 保存象征性分区、门牌、版本与卡面承诺。</a:t>
            </a:r>
          </a:p>
        </p:txBody>
      </p:sp>
    </p:spTree>
    <p:extLst>
      <p:ext uri="{BB962C8B-B14F-4D97-AF65-F5344CB8AC3E}">
        <p14:creationId xmlns:p14="http://schemas.microsoft.com/office/powerpoint/2010/main" val="339108193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670bbc330e76454d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345F367-DD8D-42EF-9AAB-501D64F58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C8E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25FFFB7-248F-42B5-9294-F6CA1DE96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74320"/>
            <a:ext cx="10972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46C8E6"/>
                </a:solidFill>
                <a:latin typeface="Calibri"/>
                <a:ea typeface="Calibri"/>
                <a:cs typeface="Calibri"/>
              </a:rPr>
              <a:t>PUBLIC KNOWLEDGE · 每日可验证版次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2CA1E23-80A6-4AD6-B2C0-7935725F0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03504"/>
            <a:ext cx="1115568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AI 时代，真正稀缺的是可信知识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49046FA-DBBF-4B59-B138-A8F7FA0F1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35024"/>
            <a:ext cx="11064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93E2F2"/>
                </a:solidFill>
                <a:latin typeface="Calibri"/>
                <a:ea typeface="Calibri"/>
                <a:cs typeface="Calibri"/>
              </a:rPr>
              <a:t>渲染在端上，内容在包里，指纹在链上。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77FDD981-CA99-4506-A301-9F1606FE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883664"/>
            <a:ext cx="5428336" cy="1847088"/>
          </a:xfrm>
          <a:prstGeom xmlns:a="http://schemas.openxmlformats.org/drawingml/2006/main" prst="roundRect">
            <a:avLst>
              <a:gd name="adj" fmla="val 4950"/>
            </a:avLst>
          </a:prstGeom>
          <a:solidFill xmlns:a="http://schemas.openxmlformats.org/drawingml/2006/main">
            <a:srgbClr val="140F0A">
              <a:alpha val="86000"/>
            </a:srgbClr>
          </a:solidFill>
          <a:ln xmlns:a="http://schemas.openxmlformats.org/drawingml/2006/main" w="15875">
            <a:solidFill>
              <a:srgbClr val="46C8E6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672731B-8740-4926-8653-9DA4E7504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103120"/>
            <a:ext cx="4971136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500" b="1">
                <a:solidFill>
                  <a:srgbClr val="93E2F2"/>
                </a:solidFill>
                <a:latin typeface="Calibri"/>
                <a:ea typeface="Calibri"/>
                <a:cs typeface="Calibri"/>
              </a:rPr>
              <a:t>① 当天版次 · REVISION 2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FB7BE59-3FF8-451A-A0D5-76932ADCF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670048"/>
            <a:ext cx="4971136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150" b="1">
                <a:solidFill>
                  <a:srgbClr val="CDBFB0"/>
                </a:solidFill>
                <a:latin typeface="Calibri"/>
                <a:ea typeface="Calibri"/>
                <a:cs typeface="Calibri"/>
              </a:rPr>
              <a:t>2026-07-17 · 2 facts；editionRoot 已写入 DailyKnowledgeChronicle。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7A5310BD-1FF1-44AA-9850-111B880CB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6432" y="1883664"/>
            <a:ext cx="5428336" cy="1847088"/>
          </a:xfrm>
          <a:prstGeom xmlns:a="http://schemas.openxmlformats.org/drawingml/2006/main" prst="roundRect">
            <a:avLst>
              <a:gd name="adj" fmla="val 4950"/>
            </a:avLst>
          </a:prstGeom>
          <a:solidFill xmlns:a="http://schemas.openxmlformats.org/drawingml/2006/main">
            <a:srgbClr val="140F0A">
              <a:alpha val="86000"/>
            </a:srgbClr>
          </a:solidFill>
          <a:ln xmlns:a="http://schemas.openxmlformats.org/drawingml/2006/main" w="15875">
            <a:solidFill>
              <a:srgbClr val="46C8E6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93FAD0A-ADC1-4C76-AAB1-2958FA16F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4176" y="2103120"/>
            <a:ext cx="4971136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500" b="1">
                <a:solidFill>
                  <a:srgbClr val="93E2F2"/>
                </a:solidFill>
                <a:latin typeface="Calibri"/>
                <a:ea typeface="Calibri"/>
                <a:cs typeface="Calibri"/>
              </a:rPr>
              <a:t>② 离线验真 · MERKLE PROOF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02F1F1FF-9539-4BD4-9ABB-5459F29F1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4176" y="2670048"/>
            <a:ext cx="4971136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150" b="1">
                <a:solidFill>
                  <a:srgbClr val="CDBFB0"/>
                </a:solidFill>
                <a:latin typeface="Calibri"/>
                <a:ea typeface="Calibri"/>
                <a:cs typeface="Calibri"/>
              </a:rPr>
              <a:t>下载包后重算 recordHash 与 inclusion proof，再核对链上 editionRoot。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E08229A5-E2AE-4748-A20F-17651709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31920"/>
            <a:ext cx="5428336" cy="1847088"/>
          </a:xfrm>
          <a:prstGeom xmlns:a="http://schemas.openxmlformats.org/drawingml/2006/main" prst="roundRect">
            <a:avLst>
              <a:gd name="adj" fmla="val 4950"/>
            </a:avLst>
          </a:prstGeom>
          <a:solidFill xmlns:a="http://schemas.openxmlformats.org/drawingml/2006/main">
            <a:srgbClr val="140F0A">
              <a:alpha val="86000"/>
            </a:srgbClr>
          </a:solidFill>
          <a:ln xmlns:a="http://schemas.openxmlformats.org/drawingml/2006/main" w="15875">
            <a:solidFill>
              <a:srgbClr val="46C8E6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DE524D70-FAE2-454C-A56B-3CCB6583B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151376"/>
            <a:ext cx="4971136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500" b="1">
                <a:solidFill>
                  <a:srgbClr val="93E2F2"/>
                </a:solidFill>
                <a:latin typeface="Calibri"/>
                <a:ea typeface="Calibri"/>
                <a:cs typeface="Calibri"/>
              </a:rPr>
              <a:t>③ 本地导入 · PUBLIC ONLY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43DCF9C3-3470-4F9A-BEB4-8F8D85C86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718304"/>
            <a:ext cx="4971136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150" b="1">
                <a:solidFill>
                  <a:srgbClr val="CDBFB0"/>
                </a:solidFill>
                <a:latin typeface="Calibri"/>
                <a:ea typeface="Calibri"/>
                <a:cs typeface="Calibri"/>
              </a:rPr>
              <a:t>资源包只含公共知识与来源，不导出、不覆盖，也不混入私人记忆。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3521B1EF-F2DE-460D-8EFB-C8C588253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6432" y="3931920"/>
            <a:ext cx="5428336" cy="1847088"/>
          </a:xfrm>
          <a:prstGeom xmlns:a="http://schemas.openxmlformats.org/drawingml/2006/main" prst="roundRect">
            <a:avLst>
              <a:gd name="adj" fmla="val 4950"/>
            </a:avLst>
          </a:prstGeom>
          <a:solidFill xmlns:a="http://schemas.openxmlformats.org/drawingml/2006/main">
            <a:srgbClr val="140F0A">
              <a:alpha val="86000"/>
            </a:srgbClr>
          </a:solidFill>
          <a:ln xmlns:a="http://schemas.openxmlformats.org/drawingml/2006/main" w="15875">
            <a:solidFill>
              <a:srgbClr val="46C8E6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EF7D7F23-27D8-49FE-8688-5903891E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4176" y="4151376"/>
            <a:ext cx="4971136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500" b="1">
                <a:solidFill>
                  <a:srgbClr val="93E2F2"/>
                </a:solidFill>
                <a:latin typeface="Calibri"/>
                <a:ea typeface="Calibri"/>
                <a:cs typeface="Calibri"/>
              </a:rPr>
              <a:t>④ 五领域日更 · 失败隔离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5E53C1AE-184E-4901-94F6-9404D7849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4176" y="4718304"/>
            <a:ext cx="4971136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150" b="1">
                <a:solidFill>
                  <a:srgbClr val="CDBFB0"/>
                </a:solidFill>
                <a:latin typeface="Calibri"/>
                <a:ea typeface="Calibri"/>
                <a:cs typeface="Calibri"/>
              </a:rPr>
              <a:t>AI / 金融 / 科学 / 气候 / 文化独立抓取；worker 不持签名密钥，审阅后显式提交。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56EBF3FA-BAF2-4A4B-B537-57EB812FD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07024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100" b="1" i="1">
                <a:solidFill>
                  <a:srgbClr val="46C8E6"/>
                </a:solidFill>
                <a:latin typeface="Calibri"/>
                <a:ea typeface="Calibri"/>
                <a:cs typeface="Calibri"/>
              </a:rPr>
              <a:t>公共知识能被下载、缓存与复验；私人记忆始终留在 Pocket Earth 本地。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0911586A-D992-4700-8BDD-973FC632F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A6743F"/>
                </a:solidFill>
                <a:latin typeface="Calibri"/>
                <a:ea typeface="Calibri"/>
                <a:cs typeface="Calibri"/>
              </a:rPr>
              <a:t>POCKET EARTH ON INJECTIVE · 口袋地球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0190CD54-2617-4CB9-87F1-5ADE244E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8655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A6743F"/>
                </a:solidFill>
                <a:latin typeface="Calibri"/>
                <a:ea typeface="Calibri"/>
                <a:cs typeface="Calibri"/>
              </a:rPr>
              <a:t>7 / 12</a:t>
            </a:r>
          </a:p>
        </p:txBody>
      </p:sp>
    </p:spTree>
    <p:extLst>
      <p:ext uri="{BB962C8B-B14F-4D97-AF65-F5344CB8AC3E}">
        <p14:creationId xmlns:p14="http://schemas.microsoft.com/office/powerpoint/2010/main" val="1379405170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78e2f9c5a334cb8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D8CD436-C850-4E7C-8110-17CCCC6A2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6CF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B6CB8AB-C1D6-43A9-9AC3-67A5E8AE1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74320"/>
            <a:ext cx="10972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7C6CF5"/>
                </a:solidFill>
                <a:latin typeface="Calibri"/>
                <a:ea typeface="Calibri"/>
                <a:cs typeface="Calibri"/>
              </a:rPr>
              <a:t>INJECTIVE PROOF LAYER · 身份 · 门牌 · 版次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BBE086C-7922-40CD-A691-901833D6C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03504"/>
            <a:ext cx="1115568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链下 Agent 是概率程序；Injective 给它确定性的公开锚点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B57E07B-4548-4EA6-B85E-969705517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35024"/>
            <a:ext cx="11064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B7AAFF"/>
                </a:solidFill>
                <a:latin typeface="Calibri"/>
                <a:ea typeface="Calibri"/>
                <a:cs typeface="Calibri"/>
              </a:rPr>
              <a:t>身份、门牌、版次与握手都能由评委独立核对；模型输出与私人数据仍留在链下。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E7C865F-B68D-4BED-94B5-A7AE86EE1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2029968"/>
            <a:ext cx="118872" cy="1188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6CF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B052704-64F4-47D5-B75F-8B7F5062B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901952"/>
            <a:ext cx="3657600" cy="8823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B7AAFF"/>
                </a:solidFill>
                <a:latin typeface="Calibri"/>
                <a:ea typeface="Calibri"/>
                <a:cs typeface="Calibri"/>
              </a:rPr>
              <a:t>① ERC-8004 · 公开身份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5220B83-752D-4B0F-ADD7-815AD68D4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1901952"/>
            <a:ext cx="6549847" cy="8823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250" b="1">
                <a:solidFill>
                  <a:srgbClr val="CDBFB0"/>
                </a:solidFill>
                <a:latin typeface="Calibri"/>
                <a:ea typeface="Calibri"/>
                <a:cs typeface="Calibri"/>
              </a:rPr>
              <a:t>agentId 43–47 来自 Injective testnet IdentityRegistry；所有者、mint 事件与 data URI 名片都可公开核对。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2A9843C2-842B-4DFE-886B-2743ADE2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3003804"/>
            <a:ext cx="118872" cy="1188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6CF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FE6E0FD-94B1-4966-A591-CCB9400F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875788"/>
            <a:ext cx="3657600" cy="8823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B7AAFF"/>
                </a:solidFill>
                <a:latin typeface="Calibri"/>
                <a:ea typeface="Calibri"/>
                <a:cs typeface="Calibri"/>
              </a:rPr>
              <a:t>② Public Earth · 空间门牌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61A2079-D9BC-4F6C-9E1D-876AEDBF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2875788"/>
            <a:ext cx="6549847" cy="8823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250" b="1">
                <a:solidFill>
                  <a:srgbClr val="CDBFB0"/>
                </a:solidFill>
                <a:latin typeface="Calibri"/>
                <a:ea typeface="Calibri"/>
                <a:cs typeface="Calibri"/>
              </a:rPr>
              <a:t>PublicEarthRegistry 保存象征性分区、门牌、cardHash 与 revision；五个门牌已有真实交易。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1A36BEF-B00B-4813-A13E-4175834D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3977640"/>
            <a:ext cx="118872" cy="1188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6CF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7BB64C1-ABAD-4D94-8D49-F0DFCF367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3849624"/>
            <a:ext cx="3657600" cy="8823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B7AAFF"/>
                </a:solidFill>
                <a:latin typeface="Calibri"/>
                <a:ea typeface="Calibri"/>
                <a:cs typeface="Calibri"/>
              </a:rPr>
              <a:t>③ Daily Chronicle · 知识版次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5565A79-E514-479A-855D-EA9DE2296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3849624"/>
            <a:ext cx="6549847" cy="8823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250" b="1">
                <a:solidFill>
                  <a:srgbClr val="CDBFB0"/>
                </a:solidFill>
                <a:latin typeface="Calibri"/>
                <a:ea typeface="Calibri"/>
                <a:cs typeface="Calibri"/>
              </a:rPr>
              <a:t>DailyKnowledgeChronicle 保存 editionRoot、previousEditionRoot 与 revision；当天版次已更新到 R2。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ED5A1042-EC96-49BC-AA94-9F1C3B0B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4951476"/>
            <a:ext cx="118872" cy="1188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6CF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C1DC119E-FD13-44BE-A032-EB251D370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4823460"/>
            <a:ext cx="3657600" cy="8823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B7AAFF"/>
                </a:solidFill>
                <a:latin typeface="Calibri"/>
                <a:ea typeface="Calibri"/>
                <a:cs typeface="Calibri"/>
              </a:rPr>
              <a:t>④ 公开 API + Blockscout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538F46C7-61FA-402D-A4E2-7352C3AB9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4823460"/>
            <a:ext cx="6549847" cy="8823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250" b="1">
                <a:solidFill>
                  <a:srgbClr val="CDBFB0"/>
                </a:solidFill>
                <a:latin typeface="Calibri"/>
                <a:ea typeface="Calibri"/>
                <a:cs typeface="Calibri"/>
              </a:rPr>
              <a:t>get-chain-evidence / get-public-earth / knowledge pack + Blockscout；全部只读复验，不需要任何密钥。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1FB1744-FB56-4119-A6F0-682E1EF8C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07024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100" b="1" i="1">
                <a:solidFill>
                  <a:srgbClr val="7C6CF5"/>
                </a:solidFill>
                <a:latin typeface="Calibri"/>
                <a:ea typeface="Calibri"/>
                <a:cs typeface="Calibri"/>
              </a:rPr>
              <a:t>Injective 让身份、门牌、版次、时间线与握手成为任何人都能核对的公开事实。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2E4FA039-B32B-4E87-AADF-A016D7B5A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A6743F"/>
                </a:solidFill>
                <a:latin typeface="Calibri"/>
                <a:ea typeface="Calibri"/>
                <a:cs typeface="Calibri"/>
              </a:rPr>
              <a:t>POCKET EARTH ON INJECTIVE · 口袋地球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E0943FA6-E85C-44C6-A4FE-1D8C9409E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8655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A6743F"/>
                </a:solidFill>
                <a:latin typeface="Calibri"/>
                <a:ea typeface="Calibri"/>
                <a:cs typeface="Calibri"/>
              </a:rPr>
              <a:t>8 / 12</a:t>
            </a:r>
          </a:p>
        </p:txBody>
      </p:sp>
    </p:spTree>
    <p:extLst>
      <p:ext uri="{BB962C8B-B14F-4D97-AF65-F5344CB8AC3E}">
        <p14:creationId xmlns:p14="http://schemas.microsoft.com/office/powerpoint/2010/main" val="1372296456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ca3e5f7f858a445e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6958B29-651B-4D08-B2B0-59453006E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6CF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7B3080A-D40B-4392-8EDF-7EA8CFC5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74320"/>
            <a:ext cx="10972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7C6CF5"/>
                </a:solidFill>
                <a:latin typeface="Calibri"/>
                <a:ea typeface="Calibri"/>
                <a:cs typeface="Calibri"/>
              </a:rPr>
              <a:t>PRIVACY BOUNDARY</a:t>
            </a:r>
            <a:r>
              <a:rPr sz="1200" b="1">
                <a:solidFill>
                  <a:srgbClr val="CDBFB0"/>
                </a:solidFill>
                <a:latin typeface="Calibri"/>
                <a:ea typeface="Calibri"/>
                <a:cs typeface="Calibri"/>
              </a:rPr>
              <a:t>   ·   隐私边界 · 最硬差异点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9B25A76-1F3A-4108-A5C3-5129669FF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03504"/>
            <a:ext cx="1115568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把「可验证」交给链，把「隐私」留在端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295C345-FFB3-42A8-89A7-3EC286CF8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35024"/>
            <a:ext cx="11064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B7AAFF"/>
                </a:solidFill>
                <a:latin typeface="Calibri"/>
                <a:ea typeface="Calibri"/>
                <a:cs typeface="Calibri"/>
              </a:rPr>
              <a:t>链上放公开身份与知识版次，端侧留私人生活——这条边界，是最硬的差异点。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BD9BAA6-ED23-4F16-B587-C2A759D06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920240"/>
            <a:ext cx="5346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B7AAFF"/>
                </a:solidFill>
                <a:latin typeface="Calibri"/>
                <a:ea typeface="Calibri"/>
                <a:cs typeface="Calibri"/>
              </a:rPr>
              <a:t>链上只放 · ON-CHAIN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A063716-FA49-4D2F-A540-2E7040E53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67712"/>
            <a:ext cx="5346040" cy="1490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150" b="1">
                <a:solidFill>
                  <a:srgbClr val="CDBFB0"/>
                </a:solidFill>
                <a:latin typeface="Calibri"/>
                <a:ea typeface="Calibri"/>
                <a:cs typeface="Calibri"/>
              </a:rPr>
              <a:t>链上只存 agentId、象征性门牌、cardHash、每日 editionRoot 与握手证明；它们能公开互认，却不包含私人原文。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AC51A62-A092-4FE3-8FD3-7F5E98B58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67912"/>
            <a:ext cx="5346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B7AAFF"/>
                </a:solidFill>
                <a:latin typeface="Calibri"/>
                <a:ea typeface="Calibri"/>
                <a:cs typeface="Calibri"/>
              </a:rPr>
              <a:t>端侧只留 · ON-DEVICE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FA38D1C-03BA-4399-8FF8-8F0CCE81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15384"/>
            <a:ext cx="5346040" cy="1490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150" b="1">
                <a:solidFill>
                  <a:srgbClr val="CDBFB0"/>
                </a:solidFill>
                <a:latin typeface="Calibri"/>
                <a:ea typeface="Calibri"/>
                <a:cs typeface="Calibri"/>
              </a:rPr>
              <a:t>原始数据与原图永不上链：照片 / 票据 / 证件 / 人脸 / 定位 / 原文，从不离开你的设备。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9507C48-EDFE-4422-9B5D-6A12DC313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728" y="1920240"/>
            <a:ext cx="5346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B7AAFF"/>
                </a:solidFill>
                <a:latin typeface="Calibri"/>
                <a:ea typeface="Calibri"/>
                <a:cs typeface="Calibri"/>
              </a:rPr>
              <a:t>三重隐私底座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3CBF9CC-4952-44D7-AF0D-24E1DAEB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728" y="2267712"/>
            <a:ext cx="5346040" cy="1490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150" b="1">
                <a:solidFill>
                  <a:srgbClr val="CDBFB0"/>
                </a:solidFill>
                <a:latin typeface="Calibri"/>
                <a:ea typeface="Calibri"/>
                <a:cs typeface="Calibri"/>
              </a:rPr>
              <a:t>公开名片只导出少量脱敏标签；公共知识包只含公开来源；硬件只消费服务端模板化的公开事件。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5798BB8-3C67-45CA-8207-5C6C3E98D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728" y="3867912"/>
            <a:ext cx="5346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B7AAFF"/>
                </a:solidFill>
                <a:latin typeface="Calibri"/>
                <a:ea typeface="Calibri"/>
                <a:cs typeface="Calibri"/>
              </a:rPr>
              <a:t>安全立场 · TESTNET ONLY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BDF9657-3721-4CDA-B162-90437885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728" y="4215384"/>
            <a:ext cx="5346040" cy="1490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150" b="1">
                <a:solidFill>
                  <a:srgbClr val="CDBFB0"/>
                </a:solidFill>
                <a:latin typeface="Calibri"/>
                <a:ea typeface="Calibri"/>
                <a:cs typeface="Calibri"/>
              </a:rPr>
              <a:t>仅 Injective testnet；私钥只在服务端环境变量，前端与硬件不持密钥。所有公开动作都能在 Blockscout 复验。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F1BA824-7CC6-46AB-91EE-E4E475F51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07024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100" b="1" i="1">
                <a:solidFill>
                  <a:srgbClr val="7C6CF5"/>
                </a:solidFill>
                <a:latin typeface="Calibri"/>
                <a:ea typeface="Calibri"/>
                <a:cs typeface="Calibri"/>
              </a:rPr>
              <a:t>可验证与隐私并不矛盾：链上验证公共事实，端侧保护你的生活。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9969B44-7A27-4627-9173-0D049BBBF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A6743F"/>
                </a:solidFill>
                <a:latin typeface="Calibri"/>
                <a:ea typeface="Calibri"/>
                <a:cs typeface="Calibri"/>
              </a:rPr>
              <a:t>POCKET EARTH ON INJECTIVE · 口袋地球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444E53A-C62B-4620-94A7-6C0C0328E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8655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A6743F"/>
                </a:solidFill>
                <a:latin typeface="Calibri"/>
                <a:ea typeface="Calibri"/>
                <a:cs typeface="Calibri"/>
              </a:rPr>
              <a:t>9 / 12</a:t>
            </a:r>
          </a:p>
        </p:txBody>
      </p:sp>
    </p:spTree>
    <p:extLst>
      <p:ext uri="{BB962C8B-B14F-4D97-AF65-F5344CB8AC3E}">
        <p14:creationId xmlns:p14="http://schemas.microsoft.com/office/powerpoint/2010/main" val="4884235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0D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E0674C8-D135-4AFC-AFA9-84399AD29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315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6A2C"/>
          </a:solidFill>
          <a:ln xmlns:a="http://schemas.openxmlformats.org/drawingml/2006/main" w="12700">
            <a:solidFill>
              <a:srgbClr val="E66A2C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4235C82-F50B-4BFA-AF17-945C4599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329184"/>
            <a:ext cx="7132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CFC4BA"/>
                </a:solidFill>
                <a:latin typeface="Calibri"/>
                <a:ea typeface="Calibri"/>
                <a:cs typeface="Calibri"/>
              </a:rPr>
              <a:t>10 / 12</a:t>
            </a:r>
          </a:p>
        </p:txBody>
      </p:sp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007b541dc248be">
            <a:alphaModFix amt="70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5AE47DB3-E85B-407A-86A4-C9D623D23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12">
              <a:alpha val="94000"/>
            </a:srgbClr>
          </a:solidFill>
          <a:ln xmlns:a="http://schemas.openxmlformats.org/drawingml/2006/main" w="12700">
            <a:solidFill>
              <a:srgbClr val="0B0D12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01D4B329-07C9-4227-8C9D-A6925DECD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7132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 b="1">
                <a:solidFill>
                  <a:srgbClr val="D58B61"/>
                </a:solidFill>
                <a:latin typeface="Calibri"/>
                <a:ea typeface="Calibri"/>
                <a:cs typeface="Calibri"/>
              </a:rPr>
              <a:t>PHYSICAL AGENT · FROST EDGE NODE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FB31AF43-2349-4ABD-B5A3-966544F75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859536"/>
            <a:ext cx="86868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6EEE6"/>
                </a:solidFill>
                <a:latin typeface="Georgia"/>
                <a:ea typeface="Georgia"/>
                <a:cs typeface="Georgia"/>
              </a:rPr>
              <a:t>让链上分身在房间里拥有身体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64C73437-F213-4333-9D46-FB98C5A1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444752"/>
            <a:ext cx="78638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CFC4BA"/>
                </a:solidFill>
                <a:latin typeface="Calibri"/>
                <a:ea typeface="Calibri"/>
                <a:cs typeface="Calibri"/>
              </a:rPr>
              <a:t>Raspberry Pi + Whisplay HAT：屏幕、LED 与 TTS 消费同一条公开事件 feed。</a:t>
            </a:r>
          </a:p>
        </p:txBody>
      </p:sp>
      <p:pic>
        <p:nvPicPr>
          <p:cNvPr id="3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1c170722d049e1"/>
          <a:srcRect xmlns:a="http://schemas.openxmlformats.org/drawingml/2006/main" l="15000" t="10000" r="8105" b="25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3232" y="2057400"/>
            <a:ext cx="3310128" cy="3730752"/>
          </a:xfrm>
          <a:prstGeom xmlns:a="http://schemas.openxmlformats.org/drawingml/2006/main" prst="rect">
            <a:avLst/>
          </a:prstGeom>
        </p:spPr>
      </p:pic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41EFC636-66BC-4154-B04F-B3836029C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44" y="2048256"/>
            <a:ext cx="3401568" cy="1078992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11820">
              <a:alpha val="98000"/>
            </a:srgbClr>
          </a:solidFill>
          <a:ln xmlns:a="http://schemas.openxmlformats.org/drawingml/2006/main" w="12700">
            <a:solidFill>
              <a:srgbClr val="5C958E">
                <a:alpha val="82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E7B22ADD-8955-4430-8958-88D3BF7E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2267712"/>
            <a:ext cx="28346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60" b="1">
                <a:solidFill>
                  <a:srgbClr val="F6EEE6"/>
                </a:solidFill>
                <a:latin typeface="Calibri"/>
                <a:ea typeface="Calibri"/>
                <a:cs typeface="Calibri"/>
              </a:rPr>
              <a:t>软件 · Pocket Earth</a:t>
            </a:r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6BB62195-42CF-44DB-85B6-0DDEA4DA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2578608"/>
            <a:ext cx="276148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 b="1">
                <a:solidFill>
                  <a:srgbClr val="CFC4BA"/>
                </a:solidFill>
                <a:latin typeface="Calibri"/>
                <a:ea typeface="Calibri"/>
                <a:cs typeface="Calibri"/>
              </a:rPr>
              <a:t>发出模板化 JSONL 事件，不把私密正文交给设备。</a:t>
            </a:r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6C69E5E7-FB97-4957-BA69-A87F1D49D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44" y="3456432"/>
            <a:ext cx="3401568" cy="1078992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C120D">
              <a:alpha val="98000"/>
            </a:srgbClr>
          </a:solidFill>
          <a:ln xmlns:a="http://schemas.openxmlformats.org/drawingml/2006/main" w="12700">
            <a:solidFill>
              <a:srgbClr val="E66A2C">
                <a:alpha val="9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5025DB4E-5BB3-45CB-8E21-9216FD49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3675888"/>
            <a:ext cx="28346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60" b="1">
                <a:solidFill>
                  <a:srgbClr val="F6EEE6"/>
                </a:solidFill>
                <a:latin typeface="Calibri"/>
                <a:ea typeface="Calibri"/>
                <a:cs typeface="Calibri"/>
              </a:rPr>
              <a:t>Injective · 见闻来源</a:t>
            </a:r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3ED80C7F-9A7A-40FC-AB71-7FAB3FEF7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3986784"/>
            <a:ext cx="277977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 b="1">
                <a:solidFill>
                  <a:srgbClr val="CFC4BA"/>
                </a:solidFill>
                <a:latin typeface="Calibri"/>
                <a:ea typeface="Calibri"/>
                <a:cs typeface="Calibri"/>
              </a:rPr>
              <a:t>实时读取 Frost fleet、门牌与知识版次公开证据。</a:t>
            </a:r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42BEDB0D-7883-4C65-9ECF-D63DAACA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44" y="4864608"/>
            <a:ext cx="3401568" cy="1078992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11820">
              <a:alpha val="98000"/>
            </a:srgbClr>
          </a:solidFill>
          <a:ln xmlns:a="http://schemas.openxmlformats.org/drawingml/2006/main" w="12700">
            <a:solidFill>
              <a:srgbClr val="7C6EE6">
                <a:alpha val="82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9BF9129-6DDC-44FF-8CA9-4597B4EE8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5084064"/>
            <a:ext cx="28346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60" b="1">
                <a:solidFill>
                  <a:srgbClr val="F6EEE6"/>
                </a:solidFill>
                <a:latin typeface="Calibri"/>
                <a:ea typeface="Calibri"/>
                <a:cs typeface="Calibri"/>
              </a:rPr>
              <a:t>硬件 · Frost Edge Node</a:t>
            </a:r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1CEAE738-3E10-48C8-B9FE-C1C8B13D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5394960"/>
            <a:ext cx="277977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8825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 b="1">
                <a:solidFill>
                  <a:srgbClr val="CFC4BA"/>
                </a:solidFill>
                <a:latin typeface="Calibri"/>
                <a:ea typeface="Calibri"/>
                <a:cs typeface="Calibri"/>
              </a:rPr>
              <a:t>state / tts / display 三类动作映射到小屏、灯光与声音。</a:t>
            </a:r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5F50CB31-E081-4DDE-BE66-931A8DEB0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2267712"/>
            <a:ext cx="2907792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88384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20" b="1">
                <a:solidFill>
                  <a:srgbClr val="F2A16C"/>
                </a:solidFill>
                <a:latin typeface="Calibri"/>
                <a:ea typeface="Calibri"/>
                <a:cs typeface="Calibri"/>
              </a:rPr>
              <a:t>解耦设计：Pi sidecar 只消费事件；主 App 不绑定屏幕、LED 或 TTS 驱动。</a:t>
            </a:r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05233800-6B0F-482D-A4F7-B23D8C38D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3054096"/>
            <a:ext cx="2962656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6EEE6"/>
                </a:solidFill>
                <a:latin typeface="Calibri"/>
                <a:ea typeface="Calibri"/>
                <a:cs typeface="Calibri"/>
              </a:rPr>
              <a:t>同一个 Frost 在 App、公共地球、身份卡与实体设备中保持可识别。</a:t>
            </a:r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F0B86FB0-4CB2-45AB-9607-6E1670490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4169664"/>
            <a:ext cx="2926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40" b="1">
                <a:solidFill>
                  <a:srgbClr val="E66A2C"/>
                </a:solidFill>
                <a:latin typeface="Calibri"/>
                <a:ea typeface="Calibri"/>
                <a:cs typeface="Calibri"/>
              </a:rPr>
              <a:t>FROST 不是吉祥物，是产品本身。
未来：每个人的记忆生成个体差异。</a:t>
            </a:r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DE84F541-A25B-42B3-B4E6-F70BD35BA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19672"/>
            <a:ext cx="10927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6F4B36">
                <a:alpha val="72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4A81C9BB-B14F-4235-8588-DC225C0FE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6611112"/>
            <a:ext cx="352044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20" b="1">
                <a:solidFill>
                  <a:srgbClr val="D58B61"/>
                </a:solidFill>
                <a:latin typeface="Calibri"/>
                <a:ea typeface="Calibri"/>
                <a:cs typeface="Calibri"/>
              </a:rPr>
              <a:t>POCKET EARTH ON INJECTIVE · 口袋地球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8E9A5E88-B28A-429D-A3DF-DB5E8E7D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6601968"/>
            <a:ext cx="685800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670" b="1">
                <a:solidFill>
                  <a:srgbClr val="9E9188"/>
                </a:solidFill>
                <a:latin typeface="Calibri"/>
                <a:ea typeface="Calibri"/>
                <a:cs typeface="Calibri"/>
              </a:rPr>
              <a:t>Current contract: authenticated JSONL feed · opaque cursor · device token · public-only payload</a:t>
            </a:r>
          </a:p>
        </p:txBody>
      </p:sp>
    </p:spTree>
    <p:extLst>
      <p:ext uri="{BB962C8B-B14F-4D97-AF65-F5344CB8AC3E}">
        <p14:creationId xmlns:p14="http://schemas.microsoft.com/office/powerpoint/2010/main" val="1284789590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926b32f0cad942c8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DA04F74-0B72-46D8-964F-F47A3B77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C8E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C51BB56-1F0E-4215-9581-8FA9B43D6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74320"/>
            <a:ext cx="10972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46C8E6"/>
                </a:solidFill>
                <a:latin typeface="Calibri"/>
                <a:ea typeface="Calibri"/>
                <a:cs typeface="Calibri"/>
              </a:rPr>
              <a:t>MODEL ROUTING · MICROSOFT FOUNDRY · 端云双脑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FFAA212-0FF9-41C3-ADBF-148726372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03504"/>
            <a:ext cx="1115568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模型路由不改 Agent：一个 Provider 层选择合适的脑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2A833CE-9ECF-42DF-A089-F3320FE3D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35024"/>
            <a:ext cx="11064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93E2F2"/>
                </a:solidFill>
                <a:latin typeface="Calibri"/>
                <a:ea typeface="Calibri"/>
                <a:cs typeface="Calibri"/>
              </a:rPr>
              <a:t>轻任务留在端侧，叙事任务进入云端；底层模型切换不改变 Agent manifest。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0A2A19D-9142-4D0E-8293-2011540F3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920240"/>
            <a:ext cx="5346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93E2F2"/>
                </a:solidFill>
                <a:latin typeface="Calibri"/>
                <a:ea typeface="Calibri"/>
                <a:cs typeface="Calibri"/>
              </a:rPr>
              <a:t>端侧 Selector · 挑和找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3781FC6-BE92-44BC-BE94-68B237F5A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67712"/>
            <a:ext cx="5346040" cy="1490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150" b="1">
                <a:solidFill>
                  <a:srgbClr val="CDBFB0"/>
                </a:solidFill>
                <a:latin typeface="Calibri"/>
                <a:ea typeface="Calibri"/>
                <a:cs typeface="Calibri"/>
              </a:rPr>
              <a:t>classify / rank / 视觉优先端侧与 /api/edge：MNN、Ollama、浏览器 WebLLM 都可插拔；失败回规则兜底。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8B27085-DBA7-4417-8386-6DAC43CC2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67912"/>
            <a:ext cx="5346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93E2F2"/>
                </a:solidFill>
                <a:latin typeface="Calibri"/>
                <a:ea typeface="Calibri"/>
                <a:cs typeface="Calibri"/>
              </a:rPr>
              <a:t>云端 Brain · Microsoft Foundry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7FC8914-27BD-4A90-A040-0F9753FB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15384"/>
            <a:ext cx="5346040" cy="1490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150" b="1">
                <a:solidFill>
                  <a:srgbClr val="CDBFB0"/>
                </a:solidFill>
                <a:latin typeface="Calibri"/>
                <a:ea typeface="Calibri"/>
                <a:cs typeface="Calibri"/>
              </a:rPr>
              <a:t>统一 adapter 已支持 Foundry Model Router 主路由与 Qwen fallback；真实账号请求通过后，才展示真实响应。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7C953D5-1C8C-4EF3-AF41-4079252B8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728" y="1920240"/>
            <a:ext cx="5346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93E2F2"/>
                </a:solidFill>
                <a:latin typeface="Calibri"/>
                <a:ea typeface="Calibri"/>
                <a:cs typeface="Calibri"/>
              </a:rPr>
              <a:t>统一 provider 契约 · 透明切换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06D7498-B222-429E-9321-6D472695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728" y="2267712"/>
            <a:ext cx="5346040" cy="1490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150" b="1">
                <a:solidFill>
                  <a:srgbClr val="CDBFB0"/>
                </a:solidFill>
                <a:latin typeface="Calibri"/>
                <a:ea typeface="Calibri"/>
                <a:cs typeface="Calibri"/>
              </a:rPr>
              <a:t>buildLlmRequest 在一处构造请求，provider trace 记录模型、耗时与 fallback；新增模型不改 Agent 业务代码。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7AC3C01-62CC-4010-80CF-DD88998DE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728" y="3867912"/>
            <a:ext cx="5346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93E2F2"/>
                </a:solidFill>
                <a:latin typeface="Calibri"/>
                <a:ea typeface="Calibri"/>
                <a:cs typeface="Calibri"/>
              </a:rPr>
              <a:t>验收边界 · 不把适配器说成调用成功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B773C99-1C9D-4C83-9B28-56380106C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728" y="4215384"/>
            <a:ext cx="5346040" cy="1490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150" b="1">
                <a:solidFill>
                  <a:srgbClr val="CDBFB0"/>
                </a:solidFill>
                <a:latin typeface="Calibri"/>
                <a:ea typeface="Calibri"/>
                <a:cs typeface="Calibri"/>
              </a:rPr>
              <a:t>当前完成适配器与离线验证骨架；凭据注入后运行 verify:foundry-provider，只有真实 2xx 响应才升级口径。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476B98D-E28D-4F2B-BEFD-43DF638E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07024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100" b="1" i="1">
                <a:solidFill>
                  <a:srgbClr val="46C8E6"/>
                </a:solidFill>
                <a:latin typeface="Calibri"/>
                <a:ea typeface="Calibri"/>
                <a:cs typeface="Calibri"/>
              </a:rPr>
              <a:t>Microsoft 提供可替换的 AI 基础设施；Injective 始终是公开信任层。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4998243-2677-4D6D-A83F-65A830F7C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A6743F"/>
                </a:solidFill>
                <a:latin typeface="Calibri"/>
                <a:ea typeface="Calibri"/>
                <a:cs typeface="Calibri"/>
              </a:rPr>
              <a:t>POCKET EARTH ON INJECTIVE · 口袋地球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E33C207-4D01-4721-86BD-A72CBEC43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8655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A6743F"/>
                </a:solidFill>
                <a:latin typeface="Calibri"/>
                <a:ea typeface="Calibri"/>
                <a:cs typeface="Calibri"/>
              </a:rPr>
              <a:t>11 / 12</a:t>
            </a:r>
          </a:p>
        </p:txBody>
      </p:sp>
    </p:spTree>
    <p:extLst>
      <p:ext uri="{BB962C8B-B14F-4D97-AF65-F5344CB8AC3E}">
        <p14:creationId xmlns:p14="http://schemas.microsoft.com/office/powerpoint/2010/main" val="1203688416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12343ead3bf43fd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8289C96-AC78-4ED9-9F46-ADF38C38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71600"/>
            <a:ext cx="10362895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趁生命气息逗留，把世界钉回它该在的地方。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405E9FF-A7AD-454F-BBD7-3A870126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395728"/>
            <a:ext cx="963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4AA63"/>
                </a:solidFill>
                <a:latin typeface="Calibri"/>
                <a:ea typeface="Calibri"/>
                <a:cs typeface="Calibri"/>
              </a:rPr>
              <a:t>一套已上线、能核对身份、门牌与知识版次的空间 Agent 平台——现在就能打开。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9B15F6E-498C-4EC3-9161-D8C41BE68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926080"/>
            <a:ext cx="5391760" cy="265176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140F0A">
              <a:alpha val="86000"/>
            </a:srgbClr>
          </a:solidFill>
          <a:ln xmlns:a="http://schemas.openxmlformats.org/drawingml/2006/main" w="15875">
            <a:solidFill>
              <a:srgbClr val="7C6CF5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4A6DC8C-9250-45D0-A00D-E90B0C912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145536"/>
            <a:ext cx="4843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B7AAFF"/>
                </a:solidFill>
                <a:latin typeface="Calibri"/>
                <a:ea typeface="Calibri"/>
                <a:cs typeface="Calibri"/>
              </a:rPr>
              <a:t>① 现在就能打开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6DC6FB3-DABB-4360-B19E-11535CB3D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675888"/>
            <a:ext cx="484312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35000"/>
              </a:lnSpc>
              <a:buNone/>
            </a:pPr>
            <a:r>
              <a:rPr sz="1100" b="1">
                <a:solidFill>
                  <a:srgbClr val="F4ECE3"/>
                </a:solidFill>
                <a:latin typeface="Calibri"/>
                <a:ea typeface="Calibri"/>
                <a:cs typeface="Calibri"/>
              </a:rPr>
              <a:t>pocketearth-injective.throughtheglass.art/?demo</a:t>
            </a:r>
            <a:r>
              <a:rPr sz="1100" b="1">
                <a:solidFill>
                  <a:srgbClr val="F4ECE3"/>
                </a:solidFill>
                <a:latin typeface="Calibri"/>
                <a:ea typeface="Calibri"/>
                <a:cs typeface="Calibri"/>
              </a:rPr>
              <a:t> ｜ 私人地球、Agent Forge / Plaza、Public Earth 与 Daily Knowledge 同一产品内运行。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FC25FD65-B5A2-465D-B483-A5FEDEF63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008" y="2926080"/>
            <a:ext cx="5391760" cy="265176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140F0A">
              <a:alpha val="86000"/>
            </a:srgbClr>
          </a:solidFill>
          <a:ln xmlns:a="http://schemas.openxmlformats.org/drawingml/2006/main" w="15875">
            <a:solidFill>
              <a:srgbClr val="E8852E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124C281-8FB1-4790-88F2-A49CCEBA0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7328" y="3145536"/>
            <a:ext cx="4843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4AA63"/>
                </a:solidFill>
                <a:latin typeface="Calibri"/>
                <a:ea typeface="Calibri"/>
                <a:cs typeface="Calibri"/>
              </a:rPr>
              <a:t>② 三条可独立核对的证据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55ADFCC-C1CF-4672-A110-E82E0F41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7328" y="3675888"/>
            <a:ext cx="484312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35000"/>
              </a:lnSpc>
              <a:buNone/>
            </a:pPr>
            <a:r>
              <a:rPr sz="1250" b="1">
                <a:solidFill>
                  <a:srgbClr val="F4ECE3"/>
                </a:solidFill>
                <a:latin typeface="Calibri"/>
                <a:ea typeface="Calibri"/>
                <a:cs typeface="Calibri"/>
              </a:rPr>
              <a:t>ERC-8004 agentId 43–47 · PublicEarthRegistry 0xac7c…ee1b · DailyKnowledgeChronicle revision 2</a:t>
            </a:r>
          </a:p>
          <a:p xmlns:a="http://schemas.openxmlformats.org/drawingml/2006/main">
            <a:pPr marL="0" indent="0">
              <a:lnSpc>
                <a:spcPct val="135000"/>
              </a:lnSpc>
              <a:buNone/>
            </a:pPr>
            <a:r>
              <a:rPr sz="1250" b="1">
                <a:solidFill>
                  <a:srgbClr val="F4ECE3"/>
                </a:solidFill>
                <a:latin typeface="Calibri"/>
                <a:ea typeface="Calibri"/>
                <a:cs typeface="Calibri"/>
              </a:rPr>
              <a:t>GitHub: narratorzhang0307/Pocket-Earth-Injective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33A84E0-FA60-473F-A614-D241FD189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43600"/>
            <a:ext cx="12191695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CDBFB0"/>
                </a:solidFill>
                <a:latin typeface="Calibri"/>
                <a:ea typeface="Calibri"/>
                <a:cs typeface="Calibri"/>
              </a:rPr>
              <a:t>narratorzhang.com   ·   章程   ·   Built on Injective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F530DD3-4EBF-452B-AFFB-3B962B040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A6743F"/>
                </a:solidFill>
                <a:latin typeface="Calibri"/>
                <a:ea typeface="Calibri"/>
                <a:cs typeface="Calibri"/>
              </a:rPr>
              <a:t>POCKET EARTH ON INJECTIVE · 口袋地球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B485BF1-84BB-4A79-AE26-5D5A88F6E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8655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A6743F"/>
                </a:solidFill>
                <a:latin typeface="Calibri"/>
                <a:ea typeface="Calibri"/>
                <a:cs typeface="Calibri"/>
              </a:rPr>
              <a:t>12 / 12</a:t>
            </a:r>
          </a:p>
        </p:txBody>
      </p:sp>
    </p:spTree>
    <p:extLst>
      <p:ext uri="{BB962C8B-B14F-4D97-AF65-F5344CB8AC3E}">
        <p14:creationId xmlns:p14="http://schemas.microsoft.com/office/powerpoint/2010/main" val="165044189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2026-07-17T16:34:27.9620000Z</dcterms:created>
  <dcterms:modified xsi:type="dcterms:W3CDTF">2026-07-17T16:34:27.9620000Z</dcterms:modified>
</coreProperties>
</file>